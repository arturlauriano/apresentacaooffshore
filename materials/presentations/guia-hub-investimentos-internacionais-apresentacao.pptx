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594360"/>
            <a:ext cx="4023360" cy="4023360"/>
          </a:xfrm>
          <a:prstGeom prst="ellipse">
            <a:avLst/>
          </a:prstGeom>
          <a:solidFill>
            <a:srgbClr val="C4963C">
              <a:alpha val="22000"/>
            </a:srgbClr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32520" y="2926080"/>
            <a:ext cx="3291840" cy="3291840"/>
          </a:xfrm>
          <a:prstGeom prst="ellipse">
            <a:avLst/>
          </a:prstGeom>
          <a:solidFill>
            <a:srgbClr val="2E6F9D">
              <a:alpha val="18000"/>
            </a:srgbClr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932688"/>
            <a:ext cx="3977640" cy="4645152"/>
          </a:xfrm>
          <a:prstGeom prst="roundRect">
            <a:avLst>
              <a:gd name="adj" fmla="val 2069"/>
            </a:avLst>
          </a:prstGeom>
          <a:solidFill>
            <a:srgbClr val="FFFFFF">
              <a:alpha val="96000"/>
            </a:srgbClr>
          </a:solidFill>
          <a:ln w="15240">
            <a:solidFill>
              <a:srgbClr val="C4963C">
                <a:alpha val="8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658368"/>
            <a:ext cx="18745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55559" y="768096"/>
            <a:ext cx="453875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146304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3BE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ALTA VISTA INVESTIMENTOS | GUIA PRATICO PARA ASSESSOR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178308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95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Guia HUB Investimentos Internacionais</a:t>
            </a:r>
            <a:endParaRPr lang="en-US" sz="2995" dirty="0"/>
          </a:p>
        </p:txBody>
      </p:sp>
      <p:sp>
        <p:nvSpPr>
          <p:cNvPr id="9" name="Text 6"/>
          <p:cNvSpPr/>
          <p:nvPr/>
        </p:nvSpPr>
        <p:spPr>
          <a:xfrm>
            <a:off x="786384" y="2926080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5" dirty="0">
                <a:solidFill>
                  <a:srgbClr val="F4F1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Apresentacao em PowerPoint para transformar a navegacao do HUB, o fluxo de cambio e o uso da conta global em um roteiro visual e editavel.</a:t>
            </a:r>
            <a:endParaRPr lang="en-US" sz="1495" dirty="0"/>
          </a:p>
        </p:txBody>
      </p:sp>
      <p:sp>
        <p:nvSpPr>
          <p:cNvPr id="10" name="Shape 7"/>
          <p:cNvSpPr/>
          <p:nvPr/>
        </p:nvSpPr>
        <p:spPr>
          <a:xfrm>
            <a:off x="768096" y="4297680"/>
            <a:ext cx="1783080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442569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Navegacao do HUB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670048" y="4297680"/>
            <a:ext cx="1783080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61488" y="442569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Cambio D0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572000" y="4297680"/>
            <a:ext cx="1783080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63440" y="442569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 global e TOD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772400" y="12252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Frentes cobertas</a:t>
            </a:r>
            <a:endParaRPr lang="en-US" sz="1795" dirty="0"/>
          </a:p>
        </p:txBody>
      </p:sp>
      <p:sp>
        <p:nvSpPr>
          <p:cNvPr id="17" name="Shape 14"/>
          <p:cNvSpPr/>
          <p:nvPr/>
        </p:nvSpPr>
        <p:spPr>
          <a:xfrm>
            <a:off x="7772400" y="1856232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00416" y="1755648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 no ambiente internacional e leitura da regua de navegacao.</a:t>
            </a:r>
            <a:endParaRPr lang="en-US" sz="1260" dirty="0"/>
          </a:p>
        </p:txBody>
      </p:sp>
      <p:sp>
        <p:nvSpPr>
          <p:cNvPr id="19" name="Shape 16"/>
          <p:cNvSpPr/>
          <p:nvPr/>
        </p:nvSpPr>
        <p:spPr>
          <a:xfrm>
            <a:off x="7772400" y="2361895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00416" y="2261311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Tela do cliente, conta global, W8, suitability e TOD.</a:t>
            </a:r>
            <a:endParaRPr lang="en-US" sz="1260" dirty="0"/>
          </a:p>
        </p:txBody>
      </p:sp>
      <p:sp>
        <p:nvSpPr>
          <p:cNvPr id="21" name="Shape 18"/>
          <p:cNvSpPr/>
          <p:nvPr/>
        </p:nvSpPr>
        <p:spPr>
          <a:xfrm>
            <a:off x="7772400" y="286755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00416" y="276697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Passo a passo do TOD no aplicativo.</a:t>
            </a:r>
            <a:endParaRPr lang="en-US" sz="1260" dirty="0"/>
          </a:p>
        </p:txBody>
      </p:sp>
      <p:sp>
        <p:nvSpPr>
          <p:cNvPr id="23" name="Shape 20"/>
          <p:cNvSpPr/>
          <p:nvPr/>
        </p:nvSpPr>
        <p:spPr>
          <a:xfrm>
            <a:off x="7772400" y="32333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900416" y="3132734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Boleta de cambio, prateleira de produtos e central de operacoes.</a:t>
            </a:r>
            <a:endParaRPr lang="en-US" sz="1260" dirty="0"/>
          </a:p>
        </p:txBody>
      </p:sp>
      <p:sp>
        <p:nvSpPr>
          <p:cNvPr id="25" name="Text 22"/>
          <p:cNvSpPr/>
          <p:nvPr/>
        </p:nvSpPr>
        <p:spPr>
          <a:xfrm>
            <a:off x="786384" y="635508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D2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Alta Vista Investimentos | Material de apoio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JORNADA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Guia HUB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operacao no HUB funciona melhor quando o assessor pensa em quatro frentes conectadas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jornada internacional do assessor pode ser organizada como um fluxo continuo: entrar no ambiente certo, ler a situacao do cliente, transformar saldo local em funding internacional e acompanhar a alocacao ate a conclusao.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796796" y="2151583"/>
            <a:ext cx="402336" cy="402336"/>
          </a:xfrm>
          <a:prstGeom prst="ellipse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88236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877824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Entrada no ambiente</a:t>
            </a:r>
            <a:endParaRPr lang="en-US" sz="1616" dirty="0"/>
          </a:p>
        </p:txBody>
      </p:sp>
      <p:sp>
        <p:nvSpPr>
          <p:cNvPr id="15" name="Shape 12"/>
          <p:cNvSpPr/>
          <p:nvPr/>
        </p:nvSpPr>
        <p:spPr>
          <a:xfrm>
            <a:off x="896112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193999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lateral e regua superior direcionam o assessor.</a:t>
            </a:r>
            <a:endParaRPr lang="en-US" sz="1280" dirty="0"/>
          </a:p>
        </p:txBody>
      </p:sp>
      <p:sp>
        <p:nvSpPr>
          <p:cNvPr id="17" name="Shape 14"/>
          <p:cNvSpPr/>
          <p:nvPr/>
        </p:nvSpPr>
        <p:spPr>
          <a:xfrm>
            <a:off x="896112" y="39889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24128" y="3888334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objetivo e chegar rapido a frente correta.</a:t>
            </a:r>
            <a:endParaRPr lang="en-US" sz="1280" dirty="0"/>
          </a:p>
        </p:txBody>
      </p:sp>
      <p:sp>
        <p:nvSpPr>
          <p:cNvPr id="19" name="Shape 16"/>
          <p:cNvSpPr/>
          <p:nvPr/>
        </p:nvSpPr>
        <p:spPr>
          <a:xfrm>
            <a:off x="3447288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530852" y="2151583"/>
            <a:ext cx="402336" cy="402336"/>
          </a:xfrm>
          <a:prstGeom prst="ellipse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22292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3611880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 do cliente</a:t>
            </a:r>
            <a:endParaRPr lang="en-US" sz="1616" dirty="0"/>
          </a:p>
        </p:txBody>
      </p:sp>
      <p:sp>
        <p:nvSpPr>
          <p:cNvPr id="23" name="Shape 20"/>
          <p:cNvSpPr/>
          <p:nvPr/>
        </p:nvSpPr>
        <p:spPr>
          <a:xfrm>
            <a:off x="3630168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758184" y="3193999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 global, push de abertura, W8, suitability e TOD.</a:t>
            </a:r>
            <a:endParaRPr lang="en-US" sz="1280" dirty="0"/>
          </a:p>
        </p:txBody>
      </p:sp>
      <p:sp>
        <p:nvSpPr>
          <p:cNvPr id="25" name="Shape 22"/>
          <p:cNvSpPr/>
          <p:nvPr/>
        </p:nvSpPr>
        <p:spPr>
          <a:xfrm>
            <a:off x="3630168" y="39889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758184" y="3888334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tela concentra o contexto antes da proxima acao.</a:t>
            </a:r>
            <a:endParaRPr lang="en-US" sz="1280" dirty="0"/>
          </a:p>
        </p:txBody>
      </p:sp>
      <p:sp>
        <p:nvSpPr>
          <p:cNvPr id="27" name="Shape 24"/>
          <p:cNvSpPr/>
          <p:nvPr/>
        </p:nvSpPr>
        <p:spPr>
          <a:xfrm>
            <a:off x="6181344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264908" y="2151583"/>
            <a:ext cx="402336" cy="402336"/>
          </a:xfrm>
          <a:prstGeom prst="ellipse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56348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80" dirty="0"/>
          </a:p>
        </p:txBody>
      </p:sp>
      <p:sp>
        <p:nvSpPr>
          <p:cNvPr id="30" name="Text 27"/>
          <p:cNvSpPr/>
          <p:nvPr/>
        </p:nvSpPr>
        <p:spPr>
          <a:xfrm>
            <a:off x="6345936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Cambio e funding</a:t>
            </a:r>
            <a:endParaRPr lang="en-US" sz="1616" dirty="0"/>
          </a:p>
        </p:txBody>
      </p:sp>
      <p:sp>
        <p:nvSpPr>
          <p:cNvPr id="31" name="Shape 28"/>
          <p:cNvSpPr/>
          <p:nvPr/>
        </p:nvSpPr>
        <p:spPr>
          <a:xfrm>
            <a:off x="6364224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92240" y="3193999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Boleta D0, origem dos recursos, spread e valor a receber.</a:t>
            </a:r>
            <a:endParaRPr lang="en-US" sz="1280" dirty="0"/>
          </a:p>
        </p:txBody>
      </p:sp>
      <p:sp>
        <p:nvSpPr>
          <p:cNvPr id="33" name="Shape 30"/>
          <p:cNvSpPr/>
          <p:nvPr/>
        </p:nvSpPr>
        <p:spPr>
          <a:xfrm>
            <a:off x="6364224" y="39889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92240" y="3888334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 o elo entre saldo local e conta global.</a:t>
            </a:r>
            <a:endParaRPr lang="en-US" sz="1280" dirty="0"/>
          </a:p>
        </p:txBody>
      </p:sp>
      <p:sp>
        <p:nvSpPr>
          <p:cNvPr id="35" name="Shape 32"/>
          <p:cNvSpPr/>
          <p:nvPr/>
        </p:nvSpPr>
        <p:spPr>
          <a:xfrm>
            <a:off x="8915400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998964" y="2151583"/>
            <a:ext cx="402336" cy="402336"/>
          </a:xfrm>
          <a:prstGeom prst="ellipse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090404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80" dirty="0"/>
          </a:p>
        </p:txBody>
      </p:sp>
      <p:sp>
        <p:nvSpPr>
          <p:cNvPr id="38" name="Text 35"/>
          <p:cNvSpPr/>
          <p:nvPr/>
        </p:nvSpPr>
        <p:spPr>
          <a:xfrm>
            <a:off x="9079992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3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Produtos e monitoramento</a:t>
            </a:r>
            <a:endParaRPr lang="en-US" sz="1453" dirty="0"/>
          </a:p>
        </p:txBody>
      </p:sp>
      <p:sp>
        <p:nvSpPr>
          <p:cNvPr id="39" name="Shape 36"/>
          <p:cNvSpPr/>
          <p:nvPr/>
        </p:nvSpPr>
        <p:spPr>
          <a:xfrm>
            <a:off x="9098280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226296" y="3193999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Prateleira internacional, push ao cliente e central de operacoes.</a:t>
            </a:r>
            <a:endParaRPr lang="en-US" sz="1280" dirty="0"/>
          </a:p>
        </p:txBody>
      </p:sp>
      <p:sp>
        <p:nvSpPr>
          <p:cNvPr id="41" name="Shape 38"/>
          <p:cNvSpPr/>
          <p:nvPr/>
        </p:nvSpPr>
        <p:spPr>
          <a:xfrm>
            <a:off x="9098280" y="39889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226296" y="3888334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Acompanhamento fecha o ciclo operacional.</a:t>
            </a:r>
            <a:endParaRPr lang="en-US" sz="1280" dirty="0"/>
          </a:p>
        </p:txBody>
      </p:sp>
      <p:sp>
        <p:nvSpPr>
          <p:cNvPr id="43" name="Shape 40"/>
          <p:cNvSpPr/>
          <p:nvPr/>
        </p:nvSpPr>
        <p:spPr>
          <a:xfrm>
            <a:off x="713232" y="4773168"/>
            <a:ext cx="10771632" cy="1188720"/>
          </a:xfrm>
          <a:prstGeom prst="roundRect">
            <a:avLst>
              <a:gd name="adj" fmla="val 6154"/>
            </a:avLst>
          </a:prstGeom>
          <a:solidFill>
            <a:srgbClr val="F5ECDF"/>
          </a:solidFill>
          <a:ln w="13970">
            <a:solidFill>
              <a:srgbClr val="C4963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2688" y="50109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Mensagem do guia</a:t>
            </a:r>
            <a:endParaRPr lang="en-US" sz="1575" dirty="0"/>
          </a:p>
        </p:txBody>
      </p:sp>
      <p:sp>
        <p:nvSpPr>
          <p:cNvPr id="45" name="Shape 42"/>
          <p:cNvSpPr/>
          <p:nvPr/>
        </p:nvSpPr>
        <p:spPr>
          <a:xfrm>
            <a:off x="932688" y="545896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060704" y="5358384"/>
            <a:ext cx="9939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ganho operacional vem de encadear essas etapas sem perder contexto da conta e da posicao do cliente.</a:t>
            </a:r>
            <a:endParaRPr lang="en-US" sz="12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NAVEGACAO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Guia HUB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Navegacao no HUB: reconhecer os dois niveis economiza tempo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orientacao inicial do assessor depende de duas leituras simultaneas: o caminho lateral para entrar no modulo correto e a regua superior para mudar de assunto sem perder o cliente de vista.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5294376" cy="1600200"/>
          </a:xfrm>
          <a:prstGeom prst="roundRect">
            <a:avLst>
              <a:gd name="adj" fmla="val 4571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Menu lateral</a:t>
            </a:r>
            <a:endParaRPr lang="en-US" sz="1496" dirty="0"/>
          </a:p>
        </p:txBody>
      </p:sp>
      <p:sp>
        <p:nvSpPr>
          <p:cNvPr id="14" name="Shape 11"/>
          <p:cNvSpPr/>
          <p:nvPr/>
        </p:nvSpPr>
        <p:spPr>
          <a:xfrm>
            <a:off x="932688" y="311170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011119"/>
            <a:ext cx="4727448" cy="366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Caminho operacional: Investimento &gt; Internacional &gt; Investimento Global.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32688" y="3523691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423107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Essa e a porta de entrada para abertura, cambio e produtos.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90488" y="2297887"/>
            <a:ext cx="5294376" cy="1600200"/>
          </a:xfrm>
          <a:prstGeom prst="roundRect">
            <a:avLst>
              <a:gd name="adj" fmla="val 4571"/>
            </a:avLst>
          </a:prstGeom>
          <a:solidFill>
            <a:srgbClr val="EAF5FD"/>
          </a:solidFill>
          <a:ln w="15875">
            <a:solidFill>
              <a:srgbClr val="2E6F9D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91656" y="2919679"/>
            <a:ext cx="713232" cy="36576"/>
          </a:xfrm>
          <a:prstGeom prst="rect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91656" y="2462479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Regua superior</a:t>
            </a:r>
            <a:endParaRPr lang="en-US" sz="1496" dirty="0"/>
          </a:p>
        </p:txBody>
      </p:sp>
      <p:sp>
        <p:nvSpPr>
          <p:cNvPr id="21" name="Shape 18"/>
          <p:cNvSpPr/>
          <p:nvPr/>
        </p:nvSpPr>
        <p:spPr>
          <a:xfrm>
            <a:off x="6409944" y="3111703"/>
            <a:ext cx="73152" cy="73152"/>
          </a:xfrm>
          <a:prstGeom prst="ellipse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37960" y="301111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 dashboard, produtos, clientes, cambio, operacoes e apoio.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9944" y="3431743"/>
            <a:ext cx="73152" cy="73152"/>
          </a:xfrm>
          <a:prstGeom prst="ellipse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333115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Reconhecer os dois niveis acelera a jornada do assessor.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13232" y="4181551"/>
            <a:ext cx="5285232" cy="1810512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26" name="Image 1" descr="C:\Users\artur\OneDrive - André Albo\Documentos\Playground\ApresentacaoOffshore\assets\hub\Hu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298" y="4291279"/>
            <a:ext cx="2223100" cy="1298448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841248" y="5717743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 pela lateral do HUB ate a trilha de Investimento Global.</a:t>
            </a:r>
            <a:endParaRPr lang="en-US" sz="920" dirty="0"/>
          </a:p>
        </p:txBody>
      </p:sp>
      <p:sp>
        <p:nvSpPr>
          <p:cNvPr id="28" name="Shape 24"/>
          <p:cNvSpPr/>
          <p:nvPr/>
        </p:nvSpPr>
        <p:spPr>
          <a:xfrm>
            <a:off x="6199632" y="4181551"/>
            <a:ext cx="5285232" cy="1810512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29" name="Image 2" descr="C:\Users\artur\OneDrive - André Albo\Documentos\Playground\ApresentacaoOffshore\assets\hub\HUB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0746" y="4291279"/>
            <a:ext cx="2463003" cy="129844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327648" y="5717743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Regua superior com os modulos do ambiente internacional.</a:t>
            </a:r>
            <a:endParaRPr lang="en-US" sz="9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Guia HUB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tela do cliente concentra o contexto que destrava a proxima acao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 operacao, a consulta do cliente e o centro de gravidade: e ali que o assessor identifica se a conta existe, se o onboarding terminou e qual e a situacao patrimonial antes de falar de cambio ou produto.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3468624" cy="1600200"/>
          </a:xfrm>
          <a:prstGeom prst="roundRect">
            <a:avLst>
              <a:gd name="adj" fmla="val 4571"/>
            </a:avLst>
          </a:prstGeom>
          <a:solidFill>
            <a:srgbClr val="FDECEB"/>
          </a:solidFill>
          <a:ln w="15875">
            <a:solidFill>
              <a:srgbClr val="B75449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306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1: sem conta global</a:t>
            </a:r>
            <a:endParaRPr lang="en-US" sz="1496" dirty="0"/>
          </a:p>
        </p:txBody>
      </p:sp>
      <p:sp>
        <p:nvSpPr>
          <p:cNvPr id="14" name="Shape 11"/>
          <p:cNvSpPr/>
          <p:nvPr/>
        </p:nvSpPr>
        <p:spPr>
          <a:xfrm>
            <a:off x="932688" y="3111703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011119"/>
            <a:ext cx="2901696" cy="366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Enviar push de abertura pelo HUB ou orientar abertura pelo app.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32688" y="3523691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423107"/>
            <a:ext cx="2901696" cy="366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Acompanhar o progresso ate a conta ficar disponivel.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364736" y="2297887"/>
            <a:ext cx="3468624" cy="1600200"/>
          </a:xfrm>
          <a:prstGeom prst="roundRect">
            <a:avLst>
              <a:gd name="adj" fmla="val 4571"/>
            </a:avLst>
          </a:prstGeom>
          <a:solidFill>
            <a:srgbClr val="EAF5FD"/>
          </a:solidFill>
          <a:ln w="15875">
            <a:solidFill>
              <a:srgbClr val="2E6F9D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65904" y="2919679"/>
            <a:ext cx="713232" cy="36576"/>
          </a:xfrm>
          <a:prstGeom prst="rect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65904" y="2462479"/>
            <a:ext cx="306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2: conta ativa</a:t>
            </a:r>
            <a:endParaRPr lang="en-US" sz="1496" dirty="0"/>
          </a:p>
        </p:txBody>
      </p:sp>
      <p:sp>
        <p:nvSpPr>
          <p:cNvPr id="21" name="Shape 18"/>
          <p:cNvSpPr/>
          <p:nvPr/>
        </p:nvSpPr>
        <p:spPr>
          <a:xfrm>
            <a:off x="4584192" y="3111703"/>
            <a:ext cx="73152" cy="73152"/>
          </a:xfrm>
          <a:prstGeom prst="ellipse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12208" y="3011119"/>
            <a:ext cx="2901696" cy="366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Ler status da conta, dados cadastrais, W8, suitability e TOD.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84192" y="3523691"/>
            <a:ext cx="73152" cy="73152"/>
          </a:xfrm>
          <a:prstGeom prst="ellipse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12208" y="3423107"/>
            <a:ext cx="2901696" cy="366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Conferir a conta XP International antes de avancar.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6240" y="2297887"/>
            <a:ext cx="3468624" cy="1600200"/>
          </a:xfrm>
          <a:prstGeom prst="roundRect">
            <a:avLst>
              <a:gd name="adj" fmla="val 4571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217408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17408" y="2462479"/>
            <a:ext cx="306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 operacional</a:t>
            </a:r>
            <a:endParaRPr lang="en-US" sz="1496" dirty="0"/>
          </a:p>
        </p:txBody>
      </p:sp>
      <p:sp>
        <p:nvSpPr>
          <p:cNvPr id="28" name="Shape 25"/>
          <p:cNvSpPr/>
          <p:nvPr/>
        </p:nvSpPr>
        <p:spPr>
          <a:xfrm>
            <a:off x="8235696" y="311170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63712" y="3011119"/>
            <a:ext cx="2901696" cy="366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tela mostra saldos e posicoes local e offshore.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235696" y="3523691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63712" y="3423107"/>
            <a:ext cx="2901696" cy="366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Ela reduz retrabalho e evita navegar sem contexto do cliente.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713232" y="4181551"/>
            <a:ext cx="3456432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33" name="Image 1" descr="C:\Users\artur\OneDrive - André Albo\Documentos\Playground\ApresentacaoOffshore\assets\hub\abertura de con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986" y="4291279"/>
            <a:ext cx="1566924" cy="1170432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841248" y="5589727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Fluxo de abertura da conta internacional e envio de push.</a:t>
            </a:r>
            <a:endParaRPr lang="en-US" sz="920" dirty="0"/>
          </a:p>
        </p:txBody>
      </p:sp>
      <p:sp>
        <p:nvSpPr>
          <p:cNvPr id="35" name="Shape 31"/>
          <p:cNvSpPr/>
          <p:nvPr/>
        </p:nvSpPr>
        <p:spPr>
          <a:xfrm>
            <a:off x="4370832" y="4181551"/>
            <a:ext cx="3456432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36" name="Image 2" descr="C:\Users\artur\OneDrive - André Albo\Documentos\Playground\ApresentacaoOffshore\assets\hub\cliente dad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5134" y="4291279"/>
            <a:ext cx="2047828" cy="1170432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4498848" y="5589727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Painel com status da conta, TOD e demais dados de apoio.</a:t>
            </a:r>
            <a:endParaRPr lang="en-US" sz="920" dirty="0"/>
          </a:p>
        </p:txBody>
      </p:sp>
      <p:sp>
        <p:nvSpPr>
          <p:cNvPr id="38" name="Shape 33"/>
          <p:cNvSpPr/>
          <p:nvPr/>
        </p:nvSpPr>
        <p:spPr>
          <a:xfrm>
            <a:off x="8028432" y="4181551"/>
            <a:ext cx="3456432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39" name="Image 3" descr="C:\Users\artur\OneDrive - André Albo\Documentos\Playground\ApresentacaoOffshore\assets\hub\HUB carteir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6280" y="4291279"/>
            <a:ext cx="2840736" cy="1170432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8156448" y="5589727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Visao consolidada das carteiras local e offshore.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 NO APP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Guia HUB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 pelo aplicativo: a orientacao do assessor vira roteiro simples para o cliente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cadastro de beneficiarios pode ser apresentado como um passo a passo objetivo. Depois de validar a conta global no HUB, o cliente pode concluir essa frente pelo proprio app da XP.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5294376" cy="1600200"/>
          </a:xfrm>
          <a:prstGeom prst="roundRect">
            <a:avLst>
              <a:gd name="adj" fmla="val 4571"/>
            </a:avLst>
          </a:prstGeom>
          <a:solidFill>
            <a:srgbClr val="EEF7F1"/>
          </a:solidFill>
          <a:ln w="15875">
            <a:solidFill>
              <a:srgbClr val="31875A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Passo a passo do cliente</a:t>
            </a:r>
            <a:endParaRPr lang="en-US" sz="1496" dirty="0"/>
          </a:p>
        </p:txBody>
      </p:sp>
      <p:sp>
        <p:nvSpPr>
          <p:cNvPr id="14" name="Shape 11"/>
          <p:cNvSpPr/>
          <p:nvPr/>
        </p:nvSpPr>
        <p:spPr>
          <a:xfrm>
            <a:off x="932688" y="3111703"/>
            <a:ext cx="73152" cy="73152"/>
          </a:xfrm>
          <a:prstGeom prst="ellipse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01111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Entrar pela Conta Global no app.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32688" y="3431743"/>
            <a:ext cx="73152" cy="73152"/>
          </a:xfrm>
          <a:prstGeom prst="ellipse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33115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 ate Sucessao Patrimonial.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32688" y="3751783"/>
            <a:ext cx="73152" cy="73152"/>
          </a:xfrm>
          <a:prstGeom prst="ellipse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365119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Cadastrar o beneficiario no TOD.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90488" y="2297887"/>
            <a:ext cx="5294376" cy="1600200"/>
          </a:xfrm>
          <a:prstGeom prst="roundRect">
            <a:avLst>
              <a:gd name="adj" fmla="val 4571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391656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91656" y="2462479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Papel do assessor</a:t>
            </a:r>
            <a:endParaRPr lang="en-US" sz="1496" dirty="0"/>
          </a:p>
        </p:txBody>
      </p:sp>
      <p:sp>
        <p:nvSpPr>
          <p:cNvPr id="23" name="Shape 20"/>
          <p:cNvSpPr/>
          <p:nvPr/>
        </p:nvSpPr>
        <p:spPr>
          <a:xfrm>
            <a:off x="6409944" y="311170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301111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 no HUB que a conta existe e esta apta.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9944" y="343174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37960" y="333115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Orientar a jornada pelo app quando isso fizer mais sentido que o push.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09944" y="37517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37960" y="365119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Usar o mesmo caminho quando a conta ainda estiver em abertura.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713232" y="4181551"/>
            <a:ext cx="3456432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30" name="Image 1" descr="C:\Users\artur\OneDrive - André Albo\Documentos\Playground\ApresentacaoOffshore\assets\hub\conta internacional H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8649" y="4291279"/>
            <a:ext cx="565597" cy="1170432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841248" y="5589727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 da Conta Global pelo simbolo do globo no app.</a:t>
            </a:r>
            <a:endParaRPr lang="en-US" sz="920" dirty="0"/>
          </a:p>
        </p:txBody>
      </p:sp>
      <p:sp>
        <p:nvSpPr>
          <p:cNvPr id="32" name="Shape 28"/>
          <p:cNvSpPr/>
          <p:nvPr/>
        </p:nvSpPr>
        <p:spPr>
          <a:xfrm>
            <a:off x="4370832" y="4181551"/>
            <a:ext cx="3456432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33" name="Image 2" descr="C:\Users\artur\OneDrive - André Albo\Documentos\Playground\ApresentacaoOffshore\assets\hub\Caminho to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5268" y="4291279"/>
            <a:ext cx="627560" cy="1170432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4498848" y="5589727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Acesso ao menu de Sucessao Patrimonial na Conta Global.</a:t>
            </a:r>
            <a:endParaRPr lang="en-US" sz="920" dirty="0"/>
          </a:p>
        </p:txBody>
      </p:sp>
      <p:sp>
        <p:nvSpPr>
          <p:cNvPr id="35" name="Shape 30"/>
          <p:cNvSpPr/>
          <p:nvPr/>
        </p:nvSpPr>
        <p:spPr>
          <a:xfrm>
            <a:off x="8028432" y="4181551"/>
            <a:ext cx="3456432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36" name="Image 3" descr="C:\Users\artur\OneDrive - André Albo\Documentos\Playground\ApresentacaoOffshore\assets\hub\Cadastrar TO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6700" y="4291279"/>
            <a:ext cx="559896" cy="1170432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8156448" y="5589727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Tela de cadastro do beneficiario para concluir o TOD.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CAMBIO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Guia HUB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97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Fluxo de cambio: da consulta ao clique em Fazer Cambio</a:t>
            </a:r>
            <a:endParaRPr lang="en-US" sz="2397" dirty="0"/>
          </a:p>
        </p:txBody>
      </p:sp>
      <p:sp>
        <p:nvSpPr>
          <p:cNvPr id="10" name="Text 7"/>
          <p:cNvSpPr/>
          <p:nvPr/>
        </p:nvSpPr>
        <p:spPr>
          <a:xfrm>
            <a:off x="731520" y="1527048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cambio e a ponte entre o saldo em reais e o funding da conta internacional. O processo e simples, mas depende de conferencia operacional disciplinada antes do envio.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124151"/>
            <a:ext cx="5294376" cy="1600200"/>
          </a:xfrm>
          <a:prstGeom prst="roundRect">
            <a:avLst>
              <a:gd name="adj" fmla="val 4571"/>
            </a:avLst>
          </a:prstGeom>
          <a:solidFill>
            <a:srgbClr val="EAF5FD"/>
          </a:solidFill>
          <a:ln w="15875">
            <a:solidFill>
              <a:srgbClr val="2E6F9D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745943"/>
            <a:ext cx="713232" cy="36576"/>
          </a:xfrm>
          <a:prstGeom prst="rect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288743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Checklist antes do envio</a:t>
            </a:r>
            <a:endParaRPr lang="en-US" sz="1496" dirty="0"/>
          </a:p>
        </p:txBody>
      </p:sp>
      <p:sp>
        <p:nvSpPr>
          <p:cNvPr id="14" name="Shape 11"/>
          <p:cNvSpPr/>
          <p:nvPr/>
        </p:nvSpPr>
        <p:spPr>
          <a:xfrm>
            <a:off x="932688" y="2937967"/>
            <a:ext cx="73152" cy="73152"/>
          </a:xfrm>
          <a:prstGeom prst="ellipse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837383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Abrir a aba de cambio e localizar o cliente correto.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32688" y="3258007"/>
            <a:ext cx="73152" cy="73152"/>
          </a:xfrm>
          <a:prstGeom prst="ellipse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157423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Conferir conta origem, saldo disponivel, valor, spread e total estimado.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32688" y="3578047"/>
            <a:ext cx="73152" cy="73152"/>
          </a:xfrm>
          <a:prstGeom prst="ellipse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3477463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Confirmar origem dos recursos e limites antes da confirmacao.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90488" y="2124151"/>
            <a:ext cx="5294376" cy="1600200"/>
          </a:xfrm>
          <a:prstGeom prst="roundRect">
            <a:avLst>
              <a:gd name="adj" fmla="val 4571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391656" y="2745943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91656" y="2288743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 da boleta</a:t>
            </a:r>
            <a:endParaRPr lang="en-US" sz="1496" dirty="0"/>
          </a:p>
        </p:txBody>
      </p:sp>
      <p:sp>
        <p:nvSpPr>
          <p:cNvPr id="23" name="Shape 20"/>
          <p:cNvSpPr/>
          <p:nvPr/>
        </p:nvSpPr>
        <p:spPr>
          <a:xfrm>
            <a:off x="6409944" y="293796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2837383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botao Fazer Cambio leva para a boleta operacional.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9944" y="325800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37960" y="3157423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liquidacao e em D0.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09944" y="357804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37960" y="3477463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clareza da boleta reduz erro e retrabalho.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713232" y="4007815"/>
            <a:ext cx="3456432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30" name="Image 1" descr="C:\Users\artur\OneDrive - André Albo\Documentos\Playground\ApresentacaoOffshore\assets\hub\caminho para camb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91" y="4117543"/>
            <a:ext cx="2999113" cy="1170432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841248" y="5415991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 pela aba de Cambio no menu superior do HUB.</a:t>
            </a:r>
            <a:endParaRPr lang="en-US" sz="920" dirty="0"/>
          </a:p>
        </p:txBody>
      </p:sp>
      <p:sp>
        <p:nvSpPr>
          <p:cNvPr id="32" name="Shape 28"/>
          <p:cNvSpPr/>
          <p:nvPr/>
        </p:nvSpPr>
        <p:spPr>
          <a:xfrm>
            <a:off x="4370832" y="4007815"/>
            <a:ext cx="3456432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33" name="Image 2" descr="C:\Users\artur\OneDrive - André Albo\Documentos\Playground\ApresentacaoOffshore\assets\hub\camb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477" y="4117543"/>
            <a:ext cx="2165142" cy="1170432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4498848" y="5415991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Tela do cliente em cambio e acesso ao botao Fazer Cambio.</a:t>
            </a:r>
            <a:endParaRPr lang="en-US" sz="920" dirty="0"/>
          </a:p>
        </p:txBody>
      </p:sp>
      <p:sp>
        <p:nvSpPr>
          <p:cNvPr id="35" name="Shape 30"/>
          <p:cNvSpPr/>
          <p:nvPr/>
        </p:nvSpPr>
        <p:spPr>
          <a:xfrm>
            <a:off x="8028432" y="4007815"/>
            <a:ext cx="3456432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36" name="Image 3" descr="C:\Users\artur\OneDrive - André Albo\Documentos\Playground\ApresentacaoOffshore\assets\hub\boleta cambi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4648" y="4117543"/>
            <a:ext cx="1264001" cy="1170432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8156448" y="5415991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Boleta com conta origem, valor, spread e confirmacao do envio.</a:t>
            </a:r>
            <a:endParaRPr lang="en-US" sz="9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PRODUTOS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Guia HUB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do funding, o HUB vira ponto de distribuicao da carteira internacional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prateleira de produtos mostra que o processo nao termina no cambio. O assessor precisa converter a conta abastecida em uma proposta concreta de alocacao e envio ao cliente.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5294376" cy="1600200"/>
          </a:xfrm>
          <a:prstGeom prst="roundRect">
            <a:avLst>
              <a:gd name="adj" fmla="val 4571"/>
            </a:avLst>
          </a:prstGeom>
          <a:solidFill>
            <a:srgbClr val="EAF5FD"/>
          </a:solidFill>
          <a:ln w="15875">
            <a:solidFill>
              <a:srgbClr val="2E6F9D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o assessor encontra</a:t>
            </a:r>
            <a:endParaRPr lang="en-US" sz="1496" dirty="0"/>
          </a:p>
        </p:txBody>
      </p:sp>
      <p:sp>
        <p:nvSpPr>
          <p:cNvPr id="14" name="Shape 11"/>
          <p:cNvSpPr/>
          <p:nvPr/>
        </p:nvSpPr>
        <p:spPr>
          <a:xfrm>
            <a:off x="932688" y="3111703"/>
            <a:ext cx="73152" cy="73152"/>
          </a:xfrm>
          <a:prstGeom prst="ellipse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01111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Fundos, equity, bonds, tesouro, CDs e notas estruturadas.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32688" y="3431743"/>
            <a:ext cx="73152" cy="73152"/>
          </a:xfrm>
          <a:prstGeom prst="ellipse">
            <a:avLst/>
          </a:prstGeom>
          <a:solidFill>
            <a:srgbClr val="2E6F9D"/>
          </a:solidFill>
          <a:ln w="12700">
            <a:solidFill>
              <a:srgbClr val="2E6F9D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33115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prateleira organiza a distribuicao das solucoes internacionais.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90488" y="2297887"/>
            <a:ext cx="5294376" cy="1600200"/>
          </a:xfrm>
          <a:prstGeom prst="roundRect">
            <a:avLst>
              <a:gd name="adj" fmla="val 4571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91656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91656" y="2462479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 da etapa</a:t>
            </a:r>
            <a:endParaRPr lang="en-US" sz="1496" dirty="0"/>
          </a:p>
        </p:txBody>
      </p:sp>
      <p:sp>
        <p:nvSpPr>
          <p:cNvPr id="21" name="Shape 18"/>
          <p:cNvSpPr/>
          <p:nvPr/>
        </p:nvSpPr>
        <p:spPr>
          <a:xfrm>
            <a:off x="6409944" y="311170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37960" y="301111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Transformar o dinheiro convertido em carteira efetivamente alocada.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9944" y="343174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333115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Sair com o produto mapeado e com o push preparado para o cliente.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13232" y="4181551"/>
            <a:ext cx="10771632" cy="1810512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26" name="Image 1" descr="C:\Users\artur\OneDrive - André Albo\Documentos\Playground\ApresentacaoOffshore\assets\hub\produt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701" y="4291279"/>
            <a:ext cx="4120694" cy="1298448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841248" y="5717743"/>
            <a:ext cx="10515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Prateleira internacional de produtos com destaque para fundos e demais classes globais.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ACOMPANHAMENTO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Guia HUB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Central de Operacoes fecha o ciclo com monitoramento de cambio e pushs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visibilidade pos-operacao e parte da propria experiencia do assessor. O controle do status evita perder timing e reduz a necessidade de consultas dispersas.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5294376" cy="1600200"/>
          </a:xfrm>
          <a:prstGeom prst="roundRect">
            <a:avLst>
              <a:gd name="adj" fmla="val 4571"/>
            </a:avLst>
          </a:prstGeom>
          <a:solidFill>
            <a:srgbClr val="EEF7F1"/>
          </a:solidFill>
          <a:ln w="15875">
            <a:solidFill>
              <a:srgbClr val="31875A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da execucao</a:t>
            </a:r>
            <a:endParaRPr lang="en-US" sz="1496" dirty="0"/>
          </a:p>
        </p:txBody>
      </p:sp>
      <p:sp>
        <p:nvSpPr>
          <p:cNvPr id="14" name="Shape 11"/>
          <p:cNvSpPr/>
          <p:nvPr/>
        </p:nvSpPr>
        <p:spPr>
          <a:xfrm>
            <a:off x="932688" y="3111703"/>
            <a:ext cx="73152" cy="73152"/>
          </a:xfrm>
          <a:prstGeom prst="ellipse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01111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Depositos e Saques monitora as movimentacoes ligadas ao cambio.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32688" y="3431743"/>
            <a:ext cx="73152" cy="73152"/>
          </a:xfrm>
          <a:prstGeom prst="ellipse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33115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Ativos Internacionais monitora os pushs enviados ao cliente.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90488" y="2297887"/>
            <a:ext cx="5294376" cy="1600200"/>
          </a:xfrm>
          <a:prstGeom prst="roundRect">
            <a:avLst>
              <a:gd name="adj" fmla="val 4571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91656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91656" y="2462479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acompanhar</a:t>
            </a:r>
            <a:endParaRPr lang="en-US" sz="1496" dirty="0"/>
          </a:p>
        </p:txBody>
      </p:sp>
      <p:sp>
        <p:nvSpPr>
          <p:cNvPr id="21" name="Shape 18"/>
          <p:cNvSpPr/>
          <p:nvPr/>
        </p:nvSpPr>
        <p:spPr>
          <a:xfrm>
            <a:off x="6409944" y="311170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37960" y="301111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Processando, pendente de cliente ou ja aceito.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9944" y="343174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3331159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939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Leitura rapida para agir sem perder timing operacional.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13232" y="4181551"/>
            <a:ext cx="10771632" cy="1810512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26" name="Image 1" descr="C:\Users\artur\OneDrive - André Albo\Documentos\Playground\ApresentacaoOffshore\assets\hub\Acompanhament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154" y="4291279"/>
            <a:ext cx="1793789" cy="1298448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841248" y="5717743"/>
            <a:ext cx="10515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777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 de Operacoes usada para acompanhar cambio e pushs internacionais.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Alta Vista Investimentos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Guia HUB Investimentos Internacionais</dc:title>
  <dc:subject>Guia HUB Investimentos Internacionais</dc:subject>
  <dc:creator>Codex</dc:creator>
  <cp:lastModifiedBy>Codex</cp:lastModifiedBy>
  <cp:revision>1</cp:revision>
  <dcterms:created xsi:type="dcterms:W3CDTF">2026-03-29T21:17:56Z</dcterms:created>
  <dcterms:modified xsi:type="dcterms:W3CDTF">2026-03-29T21:17:56Z</dcterms:modified>
</cp:coreProperties>
</file>