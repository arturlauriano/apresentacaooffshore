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Introducao do fluxo. O assessor passa por quatro frentes: entrar no ambiente certo, ler a situacao do cliente, executar funding em cambio e transformar a conta abastecida em alocacao e acompanhamento.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o guia com a logica da jornada. Isso reduz retrabalho e ajuda o assessor a nao navegar sem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o menu lateral e porta de entrada. A regua superior organiza a execucao depois que o assessor ja esta dentro da frente internacional.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os dois cenarios: cliente ainda sem conta global e cliente com conta ja ativa. O ponto e que a tela ajuda a decidir se o assessor precisa abrir conta, revisar dados ou avancar para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slide para reforcar a leitura de saldos e posicoes local e offshore. E uma tela de contexto antes de funding e produto.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Oriente a sequencia: entrar na Conta Global pelo globo, descer ate Sucessao Patrimonial e concluir o cadastro de beneficiario. Trate TOD como parte natural da ativacao da conta.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sequencia operacional: entrar em cambio, localizar o cliente, confirmar saldo e somente depois clicar em Fazer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Fale do checklist: conta de origem, valor em reais, spread, impostos, comissao e total estimado a receber. Como a liquidacao e D0, essa revisao precisa ser disciplinada.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 a jornada nao termina no cambio. A conta precisa virar proposta de alocacao com fundos, equities, bonds, tesouro, CDs ou notas estruturadas.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operacional. Use a tela para acompanhar depositos e saques ligados ao cambio e os pushs de ativos internacionais enviados ao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2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-274320"/>
            <a:ext cx="4206240" cy="4206240"/>
          </a:xfrm>
          <a:prstGeom prst="ellipse">
            <a:avLst/>
          </a:prstGeom>
          <a:solidFill>
            <a:srgbClr val="C4963C">
              <a:alpha val="20000"/>
            </a:srgbClr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2880360"/>
            <a:ext cx="2926080" cy="2926080"/>
          </a:xfrm>
          <a:prstGeom prst="ellipse">
            <a:avLst/>
          </a:prstGeom>
          <a:solidFill>
            <a:srgbClr val="E3BE74">
              <a:alpha val="12000"/>
            </a:srgbClr>
          </a:solidFill>
          <a:ln w="12700">
            <a:solidFill>
              <a:srgbClr val="E3BE74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713232"/>
            <a:ext cx="3540557" cy="1053389"/>
          </a:xfrm>
          <a:prstGeom prst="roundRect">
            <a:avLst>
              <a:gd name="adj" fmla="val 6944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6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72111" y="903427"/>
            <a:ext cx="1037428" cy="58521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86384" y="2359152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3BE7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ALTA VISTA INVESTIMENTOS | GUIA PRATICO PARA ASSESSOR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86384" y="2688336"/>
            <a:ext cx="81381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3100" dirty="0">
                <a:solidFill>
                  <a:srgbClr val="FFFFFF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Guia HUB Investimentos Internacionais</a:t>
            </a:r>
            <a:endParaRPr lang="en-US" sz="3100" dirty="0"/>
          </a:p>
        </p:txBody>
      </p:sp>
      <p:sp>
        <p:nvSpPr>
          <p:cNvPr id="9" name="Shape 6"/>
          <p:cNvSpPr/>
          <p:nvPr/>
        </p:nvSpPr>
        <p:spPr>
          <a:xfrm>
            <a:off x="804672" y="4279392"/>
            <a:ext cx="1097280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635508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8D2C6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Alta Vista Investimentos | Material de apoio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JORNADA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68096" y="1234440"/>
            <a:ext cx="10680192" cy="4526280"/>
          </a:xfrm>
          <a:prstGeom prst="roundRect">
            <a:avLst>
              <a:gd name="adj" fmla="val 2020"/>
            </a:avLst>
          </a:prstGeom>
          <a:solidFill>
            <a:srgbClr val="FFFDFC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68096" y="1234440"/>
            <a:ext cx="146304" cy="452628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70432" y="1901952"/>
            <a:ext cx="8961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Pense o HUB como uma jornada conectada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1188720" y="3218688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29394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Entrada, leitura do cliente, funding internacional e distribuicao de produtos.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222992" y="1792224"/>
            <a:ext cx="822960" cy="822960"/>
          </a:xfrm>
          <a:prstGeom prst="ellipse">
            <a:avLst/>
          </a:prstGeom>
          <a:solidFill>
            <a:srgbClr val="C4963C">
              <a:alpha val="18000"/>
            </a:srgbClr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137392" y="2907792"/>
            <a:ext cx="310896" cy="310896"/>
          </a:xfrm>
          <a:prstGeom prst="ellipse">
            <a:avLst/>
          </a:prstGeom>
          <a:solidFill>
            <a:srgbClr val="1C3046">
              <a:alpha val="12000"/>
            </a:srgbClr>
          </a:solidFill>
          <a:ln w="12700">
            <a:solidFill>
              <a:srgbClr val="1C3046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NAVEGACAO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Menu lateral e regua superior trabalham juntos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5239512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hub\Hub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2450632"/>
            <a:ext cx="5056632" cy="295343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6112" y="5861304"/>
            <a:ext cx="4983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Entrada em Investimento Global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208776" y="1993392"/>
            <a:ext cx="5239512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4" name="Image 2" descr="C:\Users\Arthur Lauriano\OneDrive - Alta Vista\Documentos\Playground\ApresentacaoOffshore\assets\hub\HUB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2594468"/>
            <a:ext cx="5056632" cy="266575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36792" y="5861304"/>
            <a:ext cx="4983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Regua superior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CLIENTE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 tela do cliente concentra o contexto antes da proxima acao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5239512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hub\abertura de con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170" y="2084832"/>
            <a:ext cx="4933364" cy="3685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6112" y="5861304"/>
            <a:ext cx="4983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Push de abertura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208776" y="1993392"/>
            <a:ext cx="5239512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4" name="Image 2" descr="C:\Users\Arthur Lauriano\OneDrive - Alta Vista\Documentos\Playground\ApresentacaoOffshore\assets\hub\cliente dad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2482294"/>
            <a:ext cx="5056632" cy="28901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36792" y="5861304"/>
            <a:ext cx="4983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Status da conta e dados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CLIENTE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Carteira consolidada ajuda a avaliar o ponto de partida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65960"/>
            <a:ext cx="10680192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hub\HUB cartei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962" y="2057400"/>
            <a:ext cx="9010460" cy="3712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TOD NO APP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TOD pelo aplicativo em tres telas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2066544"/>
            <a:ext cx="3450336" cy="397764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hub\conta internacional HU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403" y="2157984"/>
            <a:ext cx="1727723" cy="35753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6112" y="5824728"/>
            <a:ext cx="3194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Conta Global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383024" y="2066544"/>
            <a:ext cx="3450336" cy="397764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4" name="Image 2" descr="C:\Users\Arthur Lauriano\OneDrive - Alta Vista\Documentos\Playground\ApresentacaoOffshore\assets\hub\Caminho t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9692" y="2157984"/>
            <a:ext cx="1917000" cy="35753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11040" y="5824728"/>
            <a:ext cx="3194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Sucessao Patrimonial</a:t>
            </a:r>
            <a:endParaRPr lang="en-US" sz="850" dirty="0"/>
          </a:p>
        </p:txBody>
      </p:sp>
      <p:sp>
        <p:nvSpPr>
          <p:cNvPr id="16" name="Shape 11"/>
          <p:cNvSpPr/>
          <p:nvPr/>
        </p:nvSpPr>
        <p:spPr>
          <a:xfrm>
            <a:off x="7997952" y="2066544"/>
            <a:ext cx="3450336" cy="3977640"/>
          </a:xfrm>
          <a:prstGeom prst="roundRect">
            <a:avLst>
              <a:gd name="adj" fmla="val 212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7" name="Image 3" descr="C:\Users\Arthur Lauriano\OneDrive - Alta Vista\Documentos\Playground\ApresentacaoOffshore\assets\hub\Cadastrar TO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7966" y="2157984"/>
            <a:ext cx="1710309" cy="357530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125968" y="5824728"/>
            <a:ext cx="3194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Cadastrar beneficiario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CAMBIO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Da navegacao ao clique em Fazer Cambio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93392"/>
            <a:ext cx="5239512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hub\caminho para camb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2940649"/>
            <a:ext cx="5056632" cy="197339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6112" y="5861304"/>
            <a:ext cx="4983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Entrada em cambio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208776" y="1993392"/>
            <a:ext cx="5239512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4" name="Image 2" descr="C:\Users\Arthur Lauriano\OneDrive - Alta Vista\Documentos\Playground\ApresentacaoOffshore\assets\hub\camb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2560592"/>
            <a:ext cx="5056632" cy="273351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36792" y="5861304"/>
            <a:ext cx="4983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Tela do cliente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CAMBIO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 boleta e a conferencia final antes do envio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3675888" y="1993392"/>
            <a:ext cx="4864608" cy="4315968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hub\boleta camb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940" y="2084832"/>
            <a:ext cx="4226503" cy="39136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PRODUTOS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Depois do funding, a prateleira vira ponto de distribuicao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68096" y="1965960"/>
            <a:ext cx="10680192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hub\produt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2259759"/>
            <a:ext cx="10497312" cy="330774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32235"/>
          </a:solidFill>
          <a:ln w="12700">
            <a:solidFill>
              <a:srgbClr val="132235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10896"/>
            <a:ext cx="12191695" cy="45720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802368" y="493776"/>
            <a:ext cx="2212848" cy="658368"/>
          </a:xfrm>
          <a:prstGeom prst="roundRect">
            <a:avLst>
              <a:gd name="adj" fmla="val 11111"/>
            </a:avLst>
          </a:prstGeom>
          <a:solidFill>
            <a:srgbClr val="FFFFFF">
              <a:alpha val="9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5" name="Image 0" descr="C:\Users\Arthur Lauriano\OneDrive - Alta Vista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66308" y="612648"/>
            <a:ext cx="648393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68096" y="713232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ACOMPANHAMENTO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008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640080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7778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Guia HUB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68096" y="987552"/>
            <a:ext cx="5623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32235"/>
                </a:solidFill>
                <a:latin typeface="DM Serif Display" pitchFamily="34" charset="0"/>
                <a:ea typeface="DM Serif Display" pitchFamily="34" charset="-122"/>
                <a:cs typeface="DM Serif Display" pitchFamily="34" charset="-120"/>
              </a:rPr>
              <a:t>A Central de Operacoes fecha o ciclo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2231136" y="1993392"/>
            <a:ext cx="5961888" cy="4315968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DD1BF"/>
            </a:solidFill>
            <a:prstDash val="solid"/>
          </a:ln>
          <a:effectLst>
            <a:outerShdw sx="100000" sy="100000" kx="0" ky="0" algn="bl" rotWithShape="0" blurRad="25400" dist="12700" dir="2700000">
              <a:srgbClr val="132235">
                <a:alpha val="8000"/>
              </a:srgbClr>
            </a:outerShdw>
          </a:effectLst>
        </p:spPr>
      </p:sp>
      <p:pic>
        <p:nvPicPr>
          <p:cNvPr id="11" name="Image 1" descr="C:\Users\Arthur Lauriano\OneDrive - Alta Vista\Documentos\Playground\ApresentacaoOffshore\assets\hub\Acompanhamento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765" y="2084832"/>
            <a:ext cx="5406630" cy="39136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M Serif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Alta Vista Investimentos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HUB Investimentos Internacionais</dc:title>
  <dc:subject>Guia HUB Investimentos Internacionais</dc:subject>
  <dc:creator>Codex</dc:creator>
  <cp:lastModifiedBy>Codex</cp:lastModifiedBy>
  <cp:revision>1</cp:revision>
  <dcterms:created xsi:type="dcterms:W3CDTF">2026-03-30T14:52:16Z</dcterms:created>
  <dcterms:modified xsi:type="dcterms:W3CDTF">2026-03-30T14:52:16Z</dcterms:modified>
</cp:coreProperties>
</file>