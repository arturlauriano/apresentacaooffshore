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explicando que o tema nao e decorar siglas. O ponto e entender como veiculo, jurisdicao e sucessao mudam retorno liquido e risco patrimonial.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de abertura: a conversa nao comeca no ticker. Antes do ativo, importa o envelope juridico e como a familia ficara exposta a dividendos, estate tax e sucessao.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deve soar como leitura pratica do HTML: duas lentes principais e um lembrete de organizacao tributaria. Na narrativa de pessoa fisica, o ponto principal e que a Receita trata essas perdas e rendimentos financeiros no exterior em conjunto no mesmo periodo de apuracao.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 regra-base: ganho de capital em reais, aliquota de 15 por cento e pagamento no ajuste anual. O divisor de aguas economico aparece nos dividendos e no veiculo escolhido.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existe para martelar o tema economico do HTML: nao e so uma questao de ativo, mas do envelope em que o investidor acessa a exposicao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este slide para explicar a regra-base antes de entrar nos ativos sujeitos. O objetivo e deixar claro que o problema nao e simplesmente investir fora, mas manter exposicao relevante a ativos de raiz americana acima da faixa de US$ 60 mil.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 nao e o problema. O problema e o ativo com raiz americana acima da faixa relevante. Use o slide para separar risco sucessorio do simples fato de ter conta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 progressividade e reforce que o Brasil nao possui tratado sucessorio com os Estados Unidos para ampliar a faixa de isencao do investidor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Diferencie bem o que TOD resolve e o que ele nao resolve. Ele evita probate e acelera a transferencia, mas nao elimina estate tax se a carteira continuar com raiz americana.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Reforce que PIC nao e resposta padrao. Ela e uma camada societaria para casos patrimoniais especificos, e nao um ponto de partida universal.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que a estrutura compra governanca e protecao sucessoria, mas adiciona custo recorrente. Isso ajuda a enquadrar por que o tema aparece em patrimonios maiores.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fluxo deve reproduzir o HTML: primeiro a barreira de tamanho patrimonial, depois duas perguntas independentes sobre necessidade real. A mensagem final e que PIC so entra quando custo e caso justificam.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 sequencia pratica do HTML: escolher o veiculo, organizar a sucessao basica e escalar complexidade apenas quando houver motivo patrimonial.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-274320"/>
            <a:ext cx="4206240" cy="4206240"/>
          </a:xfrm>
          <a:prstGeom prst="ellipse">
            <a:avLst/>
          </a:prstGeom>
          <a:solidFill>
            <a:srgbClr val="C4963C">
              <a:alpha val="20000"/>
            </a:srgbClr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2880360"/>
            <a:ext cx="2926080" cy="2926080"/>
          </a:xfrm>
          <a:prstGeom prst="ellipse">
            <a:avLst/>
          </a:prstGeom>
          <a:solidFill>
            <a:srgbClr val="E6C57D">
              <a:alpha val="12000"/>
            </a:srgbClr>
          </a:solidFill>
          <a:ln w="12700">
            <a:solidFill>
              <a:srgbClr val="E6C57D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713232"/>
            <a:ext cx="3540557" cy="1053389"/>
          </a:xfrm>
          <a:prstGeom prst="roundRect">
            <a:avLst>
              <a:gd name="adj" fmla="val 6944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6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72111" y="903427"/>
            <a:ext cx="1037428" cy="5852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86384" y="2359152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C57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ALTA VISTA INVESTIMENTOS | GUIA DO CLIENTE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86384" y="2688336"/>
            <a:ext cx="81381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Tributacao de Investimentos Internacionais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804672" y="4279392"/>
            <a:ext cx="1097280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635508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8D2C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Alta Vista Investimentos | Material de apoio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VISAO GERAL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Tributacao e sucessao entram na decisao desde o primeiro dolar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786384" y="187452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Veiculo, jurisdicao e estrutura sucessoria alteram retorno liquido e complexidade patrimonial.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68096" y="2615184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50976" y="3108960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15%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32688" y="3922776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Ganho de capital sobre saldo liquido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79292" y="2615184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7EFE2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662172" y="3108960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30%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643884" y="3922776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Dividendos de acoes, ETFs e REITs dos EUA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90488" y="2615184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73368" y="3108960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US$ 60 mil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355080" y="3922776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Faixa de atencao para estate tax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01684" y="2615184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7EFE2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84564" y="3108960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US$ 500 mil+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066276" y="3922776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Faixa em que PIC entra na analise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VISAO GERAL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Duas lentes praticas para montar a carteira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2011680"/>
            <a:ext cx="3425952" cy="4160520"/>
          </a:xfrm>
          <a:prstGeom prst="roundRect">
            <a:avLst>
              <a:gd name="adj" fmla="val 2135"/>
            </a:avLst>
          </a:prstGeom>
          <a:solidFill>
            <a:srgbClr val="FDF6E8"/>
          </a:solidFill>
          <a:ln w="12700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215798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Premissa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914400" y="2340864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Ponto de partida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14400" y="2761488"/>
            <a:ext cx="3133344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Para a pessoa fisica residente no Brasil, o exterior exige leitura conjunta de ativo, veiculo, tributacao corrente e sucessao.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4395216" y="2011680"/>
            <a:ext cx="3425952" cy="4160520"/>
          </a:xfrm>
          <a:prstGeom prst="roundRect">
            <a:avLst>
              <a:gd name="adj" fmla="val 2135"/>
            </a:avLst>
          </a:prstGeom>
          <a:solidFill>
            <a:srgbClr val="EAF4FB"/>
          </a:solidFill>
          <a:ln w="12700">
            <a:solidFill>
              <a:srgbClr val="1B3045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41520" y="215798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1B304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Leitura pratica</a:t>
            </a:r>
            <a:endParaRPr lang="en-US" sz="760" dirty="0"/>
          </a:p>
        </p:txBody>
      </p:sp>
      <p:sp>
        <p:nvSpPr>
          <p:cNvPr id="16" name="Text 13"/>
          <p:cNvSpPr/>
          <p:nvPr/>
        </p:nvSpPr>
        <p:spPr>
          <a:xfrm>
            <a:off x="4541520" y="2340864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O que realmente muda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41520" y="2761488"/>
            <a:ext cx="3133344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Nao basta escolher entre renda fixa, acoes ou fundos. Importa saber se o ativo distribui dividendos, se tem raiz americana e se a sucessao esta organizada.</a:t>
            </a:r>
            <a:endParaRPr lang="en-US" sz="1140" dirty="0"/>
          </a:p>
        </p:txBody>
      </p:sp>
      <p:sp>
        <p:nvSpPr>
          <p:cNvPr id="18" name="Shape 15"/>
          <p:cNvSpPr/>
          <p:nvPr/>
        </p:nvSpPr>
        <p:spPr>
          <a:xfrm>
            <a:off x="8022336" y="2011680"/>
            <a:ext cx="3425952" cy="4160520"/>
          </a:xfrm>
          <a:prstGeom prst="roundRect">
            <a:avLst>
              <a:gd name="adj" fmla="val 2135"/>
            </a:avLst>
          </a:prstGeom>
          <a:solidFill>
            <a:srgbClr val="EEF7F1"/>
          </a:solidFill>
          <a:ln w="12700">
            <a:solidFill>
              <a:srgbClr val="5B9A74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168640" y="215798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5B9A7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Atencao</a:t>
            </a:r>
            <a:endParaRPr lang="en-US" sz="760" dirty="0"/>
          </a:p>
        </p:txBody>
      </p:sp>
      <p:sp>
        <p:nvSpPr>
          <p:cNvPr id="20" name="Text 17"/>
          <p:cNvSpPr/>
          <p:nvPr/>
        </p:nvSpPr>
        <p:spPr>
          <a:xfrm>
            <a:off x="8168640" y="2340864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Gestao tributaria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168640" y="2761488"/>
            <a:ext cx="3133344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 pratica da pessoa fisica, perdas de aplicacoes financeiras no exterior podem compensar rendimentos financeiros no exterior no mesmo periodo de apuracao, sem segregacao por classe de ativo.</a:t>
            </a:r>
            <a:endParaRPr lang="en-US" sz="11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ALIQUOTAS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 diferenca pratica aparece menos no ganho de capital e mais nos dividendos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93392"/>
            <a:ext cx="10680192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68096" y="1993392"/>
            <a:ext cx="10680192" cy="40233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2121408"/>
            <a:ext cx="3340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Classe de ativo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437888" y="2121408"/>
            <a:ext cx="3340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Ganho de capital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997952" y="2121408"/>
            <a:ext cx="3340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Dividendos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77824" y="2487168"/>
            <a:ext cx="3340608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Bonds e Treasuries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28160" y="2395728"/>
            <a:ext cx="0" cy="1054608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37888" y="2487168"/>
            <a:ext cx="3340608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15% sobre o ganho. Cupons e ganho de capital entram nessa logica.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888224" y="2395728"/>
            <a:ext cx="0" cy="1054608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97952" y="2487168"/>
            <a:ext cx="3340608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0, porque nao distribuem dividendos.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68096" y="3450336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7824" y="3541776"/>
            <a:ext cx="3340608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Acoes, ETFs e REITs dos EUA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328160" y="3450336"/>
            <a:ext cx="0" cy="1054608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37888" y="3541776"/>
            <a:ext cx="3340608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15% sobre o ganho.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888224" y="3450336"/>
            <a:ext cx="0" cy="1054608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997952" y="3541776"/>
            <a:ext cx="3340608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30% retido na fonte.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768096" y="4504944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77824" y="4596384"/>
            <a:ext cx="3340608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Mutual Funds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328160" y="4504944"/>
            <a:ext cx="0" cy="1054608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7888" y="4596384"/>
            <a:ext cx="3340608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15% sobre o ganho.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7888224" y="4504944"/>
            <a:ext cx="0" cy="1054608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97952" y="4596384"/>
            <a:ext cx="3340608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 para o cotista, com reinvestimento interno.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8096" y="5650992"/>
            <a:ext cx="10680192" cy="475488"/>
          </a:xfrm>
          <a:prstGeom prst="roundRect">
            <a:avLst>
              <a:gd name="adj" fmla="val 15385"/>
            </a:avLst>
          </a:prstGeom>
          <a:solidFill>
            <a:srgbClr val="F7EFE2"/>
          </a:solidFill>
          <a:ln w="12700">
            <a:solidFill>
              <a:srgbClr val="C4963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32688" y="5797296"/>
            <a:ext cx="10332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Duas carteiras com retorno bruto parecido podem gerar resultados liquidos muito diferentes se uma delas distribui dividendos com retencao de 30% e a outra reinveste internamente.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ALIQUOTAS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Exposicao direta e mutual funds nao tem o mesmo atrito tributario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2011680"/>
            <a:ext cx="5239512" cy="4160520"/>
          </a:xfrm>
          <a:prstGeom prst="roundRect">
            <a:avLst>
              <a:gd name="adj" fmla="val 1758"/>
            </a:avLst>
          </a:prstGeom>
          <a:solidFill>
            <a:srgbClr val="FDECEB"/>
          </a:solidFill>
          <a:ln w="12700">
            <a:solidFill>
              <a:srgbClr val="B75449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2212848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Quando a exposicao e direta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14400" y="2651760"/>
            <a:ext cx="4946904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Acoes, ETFs e REITs domiciliados nos EUA carregam retencao de 30% na fonte sobre dividendos.</a:t>
            </a:r>
            <a:endParaRPr lang="en-US" sz="1140" dirty="0"/>
          </a:p>
        </p:txBody>
      </p:sp>
      <p:sp>
        <p:nvSpPr>
          <p:cNvPr id="13" name="Shape 10"/>
          <p:cNvSpPr/>
          <p:nvPr/>
        </p:nvSpPr>
        <p:spPr>
          <a:xfrm>
            <a:off x="6208776" y="2011680"/>
            <a:ext cx="5239512" cy="4160520"/>
          </a:xfrm>
          <a:prstGeom prst="roundRect">
            <a:avLst>
              <a:gd name="adj" fmla="val 1758"/>
            </a:avLst>
          </a:prstGeom>
          <a:solidFill>
            <a:srgbClr val="EEF7F1"/>
          </a:solidFill>
          <a:ln w="12700">
            <a:solidFill>
              <a:srgbClr val="5B9A74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355080" y="2212848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Como mutual funds ajudam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355080" y="2651760"/>
            <a:ext cx="4946904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 cotista nao recebe dividendos. O fundo reinveste internamente e melhora o compounding no longo prazo.</a:t>
            </a:r>
            <a:endParaRPr lang="en-US" sz="11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ESTATE TAX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Antes do ativo, vale fixar a regra-base do Estate Tax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38528"/>
            <a:ext cx="10680192" cy="4443984"/>
          </a:xfrm>
          <a:prstGeom prst="roundRect">
            <a:avLst>
              <a:gd name="adj" fmla="val 1646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1" name="Image 1" descr="C:\Users\Arthur Lauriano\OneDrive - Alta Vista\Documentos\Playground\ApresentacaoOffshore\assets\Estate t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348" y="2029968"/>
            <a:ext cx="7949688" cy="40416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ESTATE TAX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Depois da regra-base, importa saber quais ativos entram no risco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2011680"/>
            <a:ext cx="5239512" cy="4160520"/>
          </a:xfrm>
          <a:prstGeom prst="roundRect">
            <a:avLst>
              <a:gd name="adj" fmla="val 1758"/>
            </a:avLst>
          </a:prstGeom>
          <a:solidFill>
            <a:srgbClr val="FDECEB"/>
          </a:solidFill>
          <a:ln w="12700">
            <a:solidFill>
              <a:srgbClr val="B75449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215798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B7544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Sujeitos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914400" y="2340864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Entram no estate tax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14400" y="2761488"/>
            <a:ext cx="4946904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Acoes americanas, ETFs domiciliados nos EUA e REITs entram na base de calculo para nao residentes.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6208776" y="2011680"/>
            <a:ext cx="5239512" cy="4160520"/>
          </a:xfrm>
          <a:prstGeom prst="roundRect">
            <a:avLst>
              <a:gd name="adj" fmla="val 1758"/>
            </a:avLst>
          </a:prstGeom>
          <a:solidFill>
            <a:srgbClr val="EEF7F1"/>
          </a:solidFill>
          <a:ln w="12700">
            <a:solidFill>
              <a:srgbClr val="5B9A74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355080" y="215798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5B9A7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Nao sujeitos</a:t>
            </a:r>
            <a:endParaRPr lang="en-US" sz="760" dirty="0"/>
          </a:p>
        </p:txBody>
      </p:sp>
      <p:sp>
        <p:nvSpPr>
          <p:cNvPr id="16" name="Text 13"/>
          <p:cNvSpPr/>
          <p:nvPr/>
        </p:nvSpPr>
        <p:spPr>
          <a:xfrm>
            <a:off x="6355080" y="2340864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Ficam fora desse risco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355080" y="2761488"/>
            <a:ext cx="4946904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Mutual Funds Irlanda/Luxemburgo, bonds individuais, Treasuries e CDs ajudam a afastar o risco sucessorio.</a:t>
            </a:r>
            <a:endParaRPr lang="en-US" sz="11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ESTATE TAX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O imposto incide apenas sobre o excedente acima de US$ 60 mil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93392"/>
            <a:ext cx="10680192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68096" y="1993392"/>
            <a:ext cx="10680192" cy="40233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2121408"/>
            <a:ext cx="5120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Base tributavel acima de US$ 60 mil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217920" y="2121408"/>
            <a:ext cx="5120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Aliquota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77824" y="248716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Ate US$ 10 mil</a:t>
            </a:r>
            <a:endParaRPr lang="en-US" sz="1060" dirty="0"/>
          </a:p>
        </p:txBody>
      </p:sp>
      <p:sp>
        <p:nvSpPr>
          <p:cNvPr id="15" name="Shape 12"/>
          <p:cNvSpPr/>
          <p:nvPr/>
        </p:nvSpPr>
        <p:spPr>
          <a:xfrm>
            <a:off x="6108192" y="2395728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248716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18%</a:t>
            </a:r>
            <a:endParaRPr lang="en-US" sz="1060" dirty="0"/>
          </a:p>
        </p:txBody>
      </p:sp>
      <p:sp>
        <p:nvSpPr>
          <p:cNvPr id="17" name="Shape 14"/>
          <p:cNvSpPr/>
          <p:nvPr/>
        </p:nvSpPr>
        <p:spPr>
          <a:xfrm>
            <a:off x="768096" y="2659380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77824" y="275082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US$ 10 mil ate US$ 20 mil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6108192" y="2659380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0" y="275082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20%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768096" y="2923032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77824" y="3014472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US$ 20 mil ate US$ 40 mil</a:t>
            </a:r>
            <a:endParaRPr lang="en-US" sz="1060" dirty="0"/>
          </a:p>
        </p:txBody>
      </p:sp>
      <p:sp>
        <p:nvSpPr>
          <p:cNvPr id="23" name="Shape 20"/>
          <p:cNvSpPr/>
          <p:nvPr/>
        </p:nvSpPr>
        <p:spPr>
          <a:xfrm>
            <a:off x="6108192" y="2923032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17920" y="3014472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22%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68096" y="3186684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77824" y="3278124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US$ 40 mil ate US$ 60 mil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6108192" y="3186684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3278124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24%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768096" y="3450336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77824" y="3541776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US$ 60 mil ate US$ 80 mil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6108192" y="3450336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17920" y="3541776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26%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768096" y="3713988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77824" y="380542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US$ 80 mil ate US$ 100 mil</a:t>
            </a:r>
            <a:endParaRPr lang="en-US" sz="1060" dirty="0"/>
          </a:p>
        </p:txBody>
      </p:sp>
      <p:sp>
        <p:nvSpPr>
          <p:cNvPr id="35" name="Shape 32"/>
          <p:cNvSpPr/>
          <p:nvPr/>
        </p:nvSpPr>
        <p:spPr>
          <a:xfrm>
            <a:off x="6108192" y="3713988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217920" y="380542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28%</a:t>
            </a:r>
            <a:endParaRPr lang="en-US" sz="1060" dirty="0"/>
          </a:p>
        </p:txBody>
      </p:sp>
      <p:sp>
        <p:nvSpPr>
          <p:cNvPr id="37" name="Shape 34"/>
          <p:cNvSpPr/>
          <p:nvPr/>
        </p:nvSpPr>
        <p:spPr>
          <a:xfrm>
            <a:off x="768096" y="3977640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77824" y="406908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US$ 100 mil ate US$ 150 mil</a:t>
            </a:r>
            <a:endParaRPr lang="en-US" sz="1060" dirty="0"/>
          </a:p>
        </p:txBody>
      </p:sp>
      <p:sp>
        <p:nvSpPr>
          <p:cNvPr id="39" name="Shape 36"/>
          <p:cNvSpPr/>
          <p:nvPr/>
        </p:nvSpPr>
        <p:spPr>
          <a:xfrm>
            <a:off x="6108192" y="3977640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217920" y="406908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30%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768096" y="4241292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77824" y="4332732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US$ 150 mil ate US$ 250 mil</a:t>
            </a:r>
            <a:endParaRPr lang="en-US" sz="1060" dirty="0"/>
          </a:p>
        </p:txBody>
      </p:sp>
      <p:sp>
        <p:nvSpPr>
          <p:cNvPr id="43" name="Shape 40"/>
          <p:cNvSpPr/>
          <p:nvPr/>
        </p:nvSpPr>
        <p:spPr>
          <a:xfrm>
            <a:off x="6108192" y="4241292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217920" y="4332732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32%</a:t>
            </a:r>
            <a:endParaRPr lang="en-US" sz="1060" dirty="0"/>
          </a:p>
        </p:txBody>
      </p:sp>
      <p:sp>
        <p:nvSpPr>
          <p:cNvPr id="45" name="Shape 42"/>
          <p:cNvSpPr/>
          <p:nvPr/>
        </p:nvSpPr>
        <p:spPr>
          <a:xfrm>
            <a:off x="768096" y="4504944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77824" y="4596384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US$ 250 mil ate US$ 500 mil</a:t>
            </a:r>
            <a:endParaRPr lang="en-US" sz="1060" dirty="0"/>
          </a:p>
        </p:txBody>
      </p:sp>
      <p:sp>
        <p:nvSpPr>
          <p:cNvPr id="47" name="Shape 44"/>
          <p:cNvSpPr/>
          <p:nvPr/>
        </p:nvSpPr>
        <p:spPr>
          <a:xfrm>
            <a:off x="6108192" y="4504944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217920" y="4596384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34%</a:t>
            </a:r>
            <a:endParaRPr lang="en-US" sz="1060" dirty="0"/>
          </a:p>
        </p:txBody>
      </p:sp>
      <p:sp>
        <p:nvSpPr>
          <p:cNvPr id="49" name="Shape 46"/>
          <p:cNvSpPr/>
          <p:nvPr/>
        </p:nvSpPr>
        <p:spPr>
          <a:xfrm>
            <a:off x="768096" y="4768596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77824" y="4860036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US$ 500 mil ate US$ 750 mil</a:t>
            </a:r>
            <a:endParaRPr lang="en-US" sz="1060" dirty="0"/>
          </a:p>
        </p:txBody>
      </p:sp>
      <p:sp>
        <p:nvSpPr>
          <p:cNvPr id="51" name="Shape 48"/>
          <p:cNvSpPr/>
          <p:nvPr/>
        </p:nvSpPr>
        <p:spPr>
          <a:xfrm>
            <a:off x="6108192" y="4768596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217920" y="4860036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36%</a:t>
            </a:r>
            <a:endParaRPr lang="en-US" sz="1060" dirty="0"/>
          </a:p>
        </p:txBody>
      </p:sp>
      <p:sp>
        <p:nvSpPr>
          <p:cNvPr id="53" name="Shape 50"/>
          <p:cNvSpPr/>
          <p:nvPr/>
        </p:nvSpPr>
        <p:spPr>
          <a:xfrm>
            <a:off x="768096" y="5032248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77824" y="512368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 US$ 750 mil ate US$ 1 milhao</a:t>
            </a:r>
            <a:endParaRPr lang="en-US" sz="1060" dirty="0"/>
          </a:p>
        </p:txBody>
      </p:sp>
      <p:sp>
        <p:nvSpPr>
          <p:cNvPr id="55" name="Shape 52"/>
          <p:cNvSpPr/>
          <p:nvPr/>
        </p:nvSpPr>
        <p:spPr>
          <a:xfrm>
            <a:off x="6108192" y="5032248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217920" y="5123688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38%</a:t>
            </a:r>
            <a:endParaRPr lang="en-US" sz="1060" dirty="0"/>
          </a:p>
        </p:txBody>
      </p:sp>
      <p:sp>
        <p:nvSpPr>
          <p:cNvPr id="57" name="Shape 54"/>
          <p:cNvSpPr/>
          <p:nvPr/>
        </p:nvSpPr>
        <p:spPr>
          <a:xfrm>
            <a:off x="768096" y="5295900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77824" y="538734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Acima de US$ 1 milhao</a:t>
            </a:r>
            <a:endParaRPr lang="en-US" sz="1060" dirty="0"/>
          </a:p>
        </p:txBody>
      </p:sp>
      <p:sp>
        <p:nvSpPr>
          <p:cNvPr id="59" name="Shape 56"/>
          <p:cNvSpPr/>
          <p:nvPr/>
        </p:nvSpPr>
        <p:spPr>
          <a:xfrm>
            <a:off x="6108192" y="5295900"/>
            <a:ext cx="0" cy="263652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217920" y="5387340"/>
            <a:ext cx="51206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40%</a:t>
            </a:r>
            <a:endParaRPr lang="en-US" sz="1060" dirty="0"/>
          </a:p>
        </p:txBody>
      </p:sp>
      <p:sp>
        <p:nvSpPr>
          <p:cNvPr id="61" name="Shape 58"/>
          <p:cNvSpPr/>
          <p:nvPr/>
        </p:nvSpPr>
        <p:spPr>
          <a:xfrm>
            <a:off x="768096" y="5650992"/>
            <a:ext cx="10680192" cy="475488"/>
          </a:xfrm>
          <a:prstGeom prst="roundRect">
            <a:avLst>
              <a:gd name="adj" fmla="val 15385"/>
            </a:avLst>
          </a:prstGeom>
          <a:solidFill>
            <a:srgbClr val="F7EFE2"/>
          </a:solidFill>
          <a:ln w="12700">
            <a:solidFill>
              <a:srgbClr val="C4963C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32688" y="5797296"/>
            <a:ext cx="10332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Mensagem-chave: o risco nao desaparece porque a carteira e diversificada. O que reduz o problema e a combinacao entre veiculo correto, TOD preenchido e, em alguns casos, estrutura patrimonial.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TOD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TOD e a providencia basica para a conta internacional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2084832"/>
            <a:ext cx="3425952" cy="3730752"/>
          </a:xfrm>
          <a:prstGeom prst="roundRect">
            <a:avLst>
              <a:gd name="adj" fmla="val 2135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221284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2468880"/>
            <a:ext cx="3133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Designacao em vida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14400" y="3090672"/>
            <a:ext cx="313334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 cliente escolhe antecipadamente quem recebera os ativos mantidos naquela conta internacional.</a:t>
            </a:r>
            <a:endParaRPr lang="en-US" sz="1120" dirty="0"/>
          </a:p>
        </p:txBody>
      </p:sp>
      <p:sp>
        <p:nvSpPr>
          <p:cNvPr id="14" name="Shape 11"/>
          <p:cNvSpPr/>
          <p:nvPr/>
        </p:nvSpPr>
        <p:spPr>
          <a:xfrm>
            <a:off x="4395216" y="2084832"/>
            <a:ext cx="3425952" cy="3730752"/>
          </a:xfrm>
          <a:prstGeom prst="roundRect">
            <a:avLst>
              <a:gd name="adj" fmla="val 2135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41520" y="221284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41520" y="2468880"/>
            <a:ext cx="3133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Transferencia mais direta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41520" y="3090672"/>
            <a:ext cx="313334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corretora usa essa designacao para encaminhar a transferencia sem exigir o mesmo rito de inventario americano.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8022336" y="2084832"/>
            <a:ext cx="3425952" cy="3730752"/>
          </a:xfrm>
          <a:prstGeom prst="roundRect">
            <a:avLst>
              <a:gd name="adj" fmla="val 2135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168640" y="2212848"/>
            <a:ext cx="219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168640" y="2468880"/>
            <a:ext cx="3133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Menos custo e menos demora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168640" y="3090672"/>
            <a:ext cx="313334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TOD evita um processo judicial mais caro e lento, mas precisa vir junto de revisao da composicao dos ativos.</a:t>
            </a:r>
            <a:endParaRPr lang="en-US" sz="11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PIC OFFSHORE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PIC offshore entra quando a conversa deixa de ser apenas de produto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2011680"/>
            <a:ext cx="5239512" cy="4160520"/>
          </a:xfrm>
          <a:prstGeom prst="roundRect">
            <a:avLst>
              <a:gd name="adj" fmla="val 1758"/>
            </a:avLst>
          </a:prstGeom>
          <a:solidFill>
            <a:srgbClr val="FDF6E8"/>
          </a:solidFill>
          <a:ln w="12700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215798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Funcao patrimonial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914400" y="2340864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Como a PIC ajuda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14400" y="2761488"/>
            <a:ext cx="4946904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empresa concentra investimentos no exterior, organiza governanca e faz a sucessao ocorrer nas cotas da companhia.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6208776" y="2011680"/>
            <a:ext cx="5239512" cy="4160520"/>
          </a:xfrm>
          <a:prstGeom prst="roundRect">
            <a:avLst>
              <a:gd name="adj" fmla="val 1758"/>
            </a:avLst>
          </a:prstGeom>
          <a:solidFill>
            <a:srgbClr val="EAF4FB"/>
          </a:solidFill>
          <a:ln w="12700">
            <a:solidFill>
              <a:srgbClr val="1B3045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355080" y="2157984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1B304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Quando faz sentido</a:t>
            </a:r>
            <a:endParaRPr lang="en-US" sz="760" dirty="0"/>
          </a:p>
        </p:txBody>
      </p:sp>
      <p:sp>
        <p:nvSpPr>
          <p:cNvPr id="16" name="Text 13"/>
          <p:cNvSpPr/>
          <p:nvPr/>
        </p:nvSpPr>
        <p:spPr>
          <a:xfrm>
            <a:off x="6355080" y="2340864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Quando entra na conversa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355080" y="2761488"/>
            <a:ext cx="4946904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Quando o patrimonio comporta custos, ha necessidade de ativos de raiz americana ou a sucessao pede estrutura mais sofisticada.</a:t>
            </a:r>
            <a:endParaRPr lang="en-US" sz="11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PIC OFFSHORE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Custos tipicos da estrutura offshore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2331720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50976" y="2825496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US$ 3k a 5k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32688" y="3639312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Constituicao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479292" y="2331720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7EFE2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662172" y="2825496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US$ 2k a 4k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3643884" y="3639312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Manutencao anual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90488" y="2331720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373368" y="2825496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US$ 1,2k a 5k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355080" y="3639312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Contabilidade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901684" y="2331720"/>
            <a:ext cx="2546604" cy="2240280"/>
          </a:xfrm>
          <a:prstGeom prst="roundRect">
            <a:avLst>
              <a:gd name="adj" fmla="val 3265"/>
            </a:avLst>
          </a:prstGeom>
          <a:solidFill>
            <a:srgbClr val="F7EFE2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084564" y="2825496"/>
            <a:ext cx="21808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C4963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US$ 3,2k a 10k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9066276" y="3639312"/>
            <a:ext cx="22174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Custo anual total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PIC OFFSHORE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6583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Fluxo de decisao: quando a PIC faz sentido?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1609344" y="1737360"/>
            <a:ext cx="8961120" cy="384048"/>
          </a:xfrm>
          <a:prstGeom prst="roundRect">
            <a:avLst>
              <a:gd name="adj" fmla="val 47619"/>
            </a:avLst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73936" y="1865376"/>
            <a:ext cx="86410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 patrimonio offshore e superior a US$ 500.000?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68096" y="2322576"/>
            <a:ext cx="5138928" cy="1170432"/>
          </a:xfrm>
          <a:prstGeom prst="roundRect">
            <a:avLst>
              <a:gd name="adj" fmla="val 6250"/>
            </a:avLst>
          </a:prstGeom>
          <a:solidFill>
            <a:srgbClr val="F7EFE2"/>
          </a:solidFill>
          <a:ln w="12700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14400" y="2468880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Nao</a:t>
            </a:r>
            <a:endParaRPr lang="en-US" sz="760" dirty="0"/>
          </a:p>
        </p:txBody>
      </p:sp>
      <p:sp>
        <p:nvSpPr>
          <p:cNvPr id="14" name="Text 11"/>
          <p:cNvSpPr/>
          <p:nvPr/>
        </p:nvSpPr>
        <p:spPr>
          <a:xfrm>
            <a:off x="914400" y="26517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PIC nao recomendada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14400" y="30723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 geral, os custos nao se justificam nesse momento. Mutual Funds, bonds e outros veiculos mais simples tendem a resolver melhor.</a:t>
            </a:r>
            <a:endParaRPr lang="en-US" sz="1140" dirty="0"/>
          </a:p>
        </p:txBody>
      </p:sp>
      <p:sp>
        <p:nvSpPr>
          <p:cNvPr id="16" name="Shape 13"/>
          <p:cNvSpPr/>
          <p:nvPr/>
        </p:nvSpPr>
        <p:spPr>
          <a:xfrm>
            <a:off x="6309360" y="2322576"/>
            <a:ext cx="513892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55664" y="2468880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DDD1B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Sim</a:t>
            </a:r>
            <a:endParaRPr lang="en-US" sz="760" dirty="0"/>
          </a:p>
        </p:txBody>
      </p:sp>
      <p:sp>
        <p:nvSpPr>
          <p:cNvPr id="18" name="Text 15"/>
          <p:cNvSpPr/>
          <p:nvPr/>
        </p:nvSpPr>
        <p:spPr>
          <a:xfrm>
            <a:off x="6455664" y="26517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O patrimonio comporta os custos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55664" y="30723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 a barreira economica superada, a decisao passa a depender de necessidade patrimonial real, nao apenas financeira.</a:t>
            </a:r>
            <a:endParaRPr lang="en-US" sz="1140" dirty="0"/>
          </a:p>
        </p:txBody>
      </p:sp>
      <p:sp>
        <p:nvSpPr>
          <p:cNvPr id="20" name="Shape 17"/>
          <p:cNvSpPr/>
          <p:nvPr/>
        </p:nvSpPr>
        <p:spPr>
          <a:xfrm>
            <a:off x="1956816" y="3639312"/>
            <a:ext cx="8266176" cy="310896"/>
          </a:xfrm>
          <a:prstGeom prst="roundRect">
            <a:avLst>
              <a:gd name="adj" fmla="val 23529"/>
            </a:avLst>
          </a:prstGeom>
          <a:solidFill>
            <a:srgbClr val="FFF8EC"/>
          </a:solidFill>
          <a:ln w="12700">
            <a:solidFill>
              <a:srgbClr val="DDD1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084832" y="3749040"/>
            <a:ext cx="801014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3223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Avalie as duas perguntas abaixo de forma independente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768096" y="4114800"/>
            <a:ext cx="5138928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4400" y="431596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Precisa manter ativos de raiz americana?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914400" y="4754880"/>
            <a:ext cx="4846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Exemplo: ETFs dos EUA, acoes americanas ou REITs dentro da estrategia da familia.</a:t>
            </a:r>
            <a:endParaRPr lang="en-US" sz="1140" dirty="0"/>
          </a:p>
        </p:txBody>
      </p:sp>
      <p:sp>
        <p:nvSpPr>
          <p:cNvPr id="25" name="Shape 22"/>
          <p:cNvSpPr/>
          <p:nvPr/>
        </p:nvSpPr>
        <p:spPr>
          <a:xfrm>
            <a:off x="6309360" y="4114800"/>
            <a:ext cx="5138928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455664" y="431596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 sucessao e complexa?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455664" y="4754880"/>
            <a:ext cx="48463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Exemplo: multiplos herdeiros, menores de idade, patrimonio relevante ou necessidade de governanca mais sofisticada.</a:t>
            </a:r>
            <a:endParaRPr lang="en-US" sz="1140" dirty="0"/>
          </a:p>
        </p:txBody>
      </p:sp>
      <p:sp>
        <p:nvSpPr>
          <p:cNvPr id="28" name="Shape 25"/>
          <p:cNvSpPr/>
          <p:nvPr/>
        </p:nvSpPr>
        <p:spPr>
          <a:xfrm>
            <a:off x="768096" y="5193792"/>
            <a:ext cx="5138928" cy="1005840"/>
          </a:xfrm>
          <a:prstGeom prst="roundRect">
            <a:avLst>
              <a:gd name="adj" fmla="val 7273"/>
            </a:avLst>
          </a:prstGeom>
          <a:solidFill>
            <a:srgbClr val="F7EFE2"/>
          </a:solidFill>
          <a:ln w="12700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914400" y="5340096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Nao para ambas</a:t>
            </a:r>
            <a:endParaRPr lang="en-US" sz="760" dirty="0"/>
          </a:p>
        </p:txBody>
      </p:sp>
      <p:sp>
        <p:nvSpPr>
          <p:cNvPr id="30" name="Text 27"/>
          <p:cNvSpPr/>
          <p:nvPr/>
        </p:nvSpPr>
        <p:spPr>
          <a:xfrm>
            <a:off x="914400" y="552297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PIC dispensavel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914400" y="5943600"/>
            <a:ext cx="4846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Mutual Funds, bonds e TOD costumam resolver a necessidade com menos custo e menos complexidade.</a:t>
            </a:r>
            <a:endParaRPr lang="en-US" sz="1140" dirty="0"/>
          </a:p>
        </p:txBody>
      </p:sp>
      <p:sp>
        <p:nvSpPr>
          <p:cNvPr id="32" name="Shape 29"/>
          <p:cNvSpPr/>
          <p:nvPr/>
        </p:nvSpPr>
        <p:spPr>
          <a:xfrm>
            <a:off x="6309360" y="5193792"/>
            <a:ext cx="5138928" cy="1005840"/>
          </a:xfrm>
          <a:prstGeom prst="roundRect">
            <a:avLst>
              <a:gd name="adj" fmla="val 7273"/>
            </a:avLst>
          </a:prstGeom>
          <a:solidFill>
            <a:srgbClr val="EEF7F1"/>
          </a:solidFill>
          <a:ln w="12700">
            <a:solidFill>
              <a:srgbClr val="5B9A74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6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455664" y="5340096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5B9A7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Sim para qualquer uma</a:t>
            </a:r>
            <a:endParaRPr lang="en-US" sz="760" dirty="0"/>
          </a:p>
        </p:txBody>
      </p:sp>
      <p:sp>
        <p:nvSpPr>
          <p:cNvPr id="34" name="Text 31"/>
          <p:cNvSpPr/>
          <p:nvPr/>
        </p:nvSpPr>
        <p:spPr>
          <a:xfrm>
            <a:off x="6455664" y="552297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PIC recomendada para analise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6455664" y="5943600"/>
            <a:ext cx="4846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Nesse cenario, a estrutura pode afastar o estate tax e organizar a sucessao de forma corporativa, se o custo fizer sentido.</a:t>
            </a:r>
            <a:endParaRPr lang="en-US" sz="11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RESUMO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8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Tributacao Internacional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Resumo consolidado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93392"/>
            <a:ext cx="10680192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68096" y="1993392"/>
            <a:ext cx="10680192" cy="40233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2121408"/>
            <a:ext cx="3340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Tema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437888" y="2121408"/>
            <a:ext cx="3340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Ponto principal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997952" y="2121408"/>
            <a:ext cx="3340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Leitura pratica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77824" y="2487168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Ganho de capital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28160" y="2395728"/>
            <a:ext cx="0" cy="632765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37888" y="2487168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Apuracao em reais com aliquota-base de 15% sobre saldo liquido.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888224" y="2395728"/>
            <a:ext cx="0" cy="632765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97952" y="2487168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 imposto so aparece se houver venda com lucro ao longo do ano.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68096" y="3028493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7824" y="3119933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Dividendos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328160" y="3028493"/>
            <a:ext cx="0" cy="632765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37888" y="3119933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Acoes, ETFs e REITs dos EUA sofrem retencao de 30%; Mutual Funds reinvestem internamente.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888224" y="3028493"/>
            <a:ext cx="0" cy="632765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997952" y="3119933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 veiculo escolhido muda bastante a eficiencia tributaria no longo prazo.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768096" y="3661258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77824" y="3752698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Ativos de raiz americana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328160" y="3661258"/>
            <a:ext cx="0" cy="632765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7888" y="3752698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Entram no escopo do estate tax acima de US$ 60 mil.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7888224" y="3661258"/>
            <a:ext cx="0" cy="632765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97952" y="3752698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Retorno e liquidez nao bastam: e preciso olhar o risco sucessorio.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8096" y="4294022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7824" y="4385462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TOD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328160" y="4294022"/>
            <a:ext cx="0" cy="632765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37888" y="4385462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Evita o inventario americano, mas nao elimina o estate tax.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7888224" y="4294022"/>
            <a:ext cx="0" cy="632765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997952" y="4385462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Deveria ser providencia basica para quem ja tem conta internacional.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768096" y="4926787"/>
            <a:ext cx="10680192" cy="0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77824" y="5018227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PIC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328160" y="4926787"/>
            <a:ext cx="0" cy="632765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37888" y="5018227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Pode ser transparente ou opaca e funciona como estrutura patrimonial.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7888224" y="4926787"/>
            <a:ext cx="0" cy="632765"/>
          </a:xfrm>
          <a:prstGeom prst="line">
            <a:avLst/>
          </a:prstGeom>
          <a:noFill/>
          <a:ln w="12700">
            <a:solidFill>
              <a:srgbClr val="DDD1B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997952" y="5018227"/>
            <a:ext cx="3340608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Faz sentido em patrimonio maior, ativos americanos e/ou sucessao complexa.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768096" y="5650992"/>
            <a:ext cx="10680192" cy="475488"/>
          </a:xfrm>
          <a:prstGeom prst="roundRect">
            <a:avLst>
              <a:gd name="adj" fmla="val 15385"/>
            </a:avLst>
          </a:prstGeom>
          <a:solidFill>
            <a:srgbClr val="F7EFE2"/>
          </a:solidFill>
          <a:ln w="12700">
            <a:solidFill>
              <a:srgbClr val="C4963C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32688" y="5797296"/>
            <a:ext cx="10332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2B3A4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 uma frase: investir fora nao e so comprar ativos globais. E escolher a forma mais eficiente de acessar o exterior, proteger patrimonio e simplificar a sucessao.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M Serif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Alta Vista Investimentos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Tributacao de Investimentos Internacionais</dc:title>
  <dc:subject>Tributacao de Investimentos Internacionais</dc:subject>
  <dc:creator>Codex</dc:creator>
  <cp:lastModifiedBy>Codex</cp:lastModifiedBy>
  <cp:revision>1</cp:revision>
  <dcterms:created xsi:type="dcterms:W3CDTF">2026-03-30T14:52:15Z</dcterms:created>
  <dcterms:modified xsi:type="dcterms:W3CDTF">2026-03-30T14:52:15Z</dcterms:modified>
</cp:coreProperties>
</file>