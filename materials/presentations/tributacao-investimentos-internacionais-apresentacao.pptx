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594360"/>
            <a:ext cx="4023360" cy="4023360"/>
          </a:xfrm>
          <a:prstGeom prst="ellipse">
            <a:avLst/>
          </a:prstGeom>
          <a:solidFill>
            <a:srgbClr val="C4963C">
              <a:alpha val="22000"/>
            </a:srgbClr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2926080"/>
            <a:ext cx="3291840" cy="3291840"/>
          </a:xfrm>
          <a:prstGeom prst="ellipse">
            <a:avLst/>
          </a:prstGeom>
          <a:solidFill>
            <a:srgbClr val="2F6F9E">
              <a:alpha val="18000"/>
            </a:srgbClr>
          </a:solidFill>
          <a:ln w="12700">
            <a:solidFill>
              <a:srgbClr val="2F6F9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932688"/>
            <a:ext cx="3977640" cy="4645152"/>
          </a:xfrm>
          <a:prstGeom prst="roundRect">
            <a:avLst>
              <a:gd name="adj" fmla="val 2069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C4963C">
                <a:alpha val="82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658368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55559" y="768096"/>
            <a:ext cx="453875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14630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C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ALTA VISTA INVESTIMENTOS | GUIA DO CLIENTE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8096" y="178308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9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Tributacao de Investimentos Internacionais</a:t>
            </a:r>
            <a:endParaRPr lang="en-US" sz="2995" dirty="0"/>
          </a:p>
        </p:txBody>
      </p:sp>
      <p:sp>
        <p:nvSpPr>
          <p:cNvPr id="9" name="Text 6"/>
          <p:cNvSpPr/>
          <p:nvPr/>
        </p:nvSpPr>
        <p:spPr>
          <a:xfrm>
            <a:off x="786384" y="2926080"/>
            <a:ext cx="5577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95" dirty="0">
                <a:solidFill>
                  <a:srgbClr val="F4F1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Deck em PowerPoint estruturado a partir do HTML publicado para resumir aliquotas, risco sucessorio, TOD e quando a conversa evolui para uma PIC offshore.</a:t>
            </a:r>
            <a:endParaRPr lang="en-US" sz="1495" dirty="0"/>
          </a:p>
        </p:txBody>
      </p:sp>
      <p:sp>
        <p:nvSpPr>
          <p:cNvPr id="10" name="Shape 7"/>
          <p:cNvSpPr/>
          <p:nvPr/>
        </p:nvSpPr>
        <p:spPr>
          <a:xfrm>
            <a:off x="768096" y="4297680"/>
            <a:ext cx="1783080" cy="402336"/>
          </a:xfrm>
          <a:prstGeom prst="roundRect">
            <a:avLst>
              <a:gd name="adj" fmla="val 181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4425696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Ganho de capital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670048" y="4297680"/>
            <a:ext cx="1783080" cy="402336"/>
          </a:xfrm>
          <a:prstGeom prst="roundRect">
            <a:avLst>
              <a:gd name="adj" fmla="val 181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61488" y="4425696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Estate tax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0" y="4297680"/>
            <a:ext cx="1783080" cy="402336"/>
          </a:xfrm>
          <a:prstGeom prst="roundRect">
            <a:avLst>
              <a:gd name="adj" fmla="val 181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4425696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 e PIC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772400" y="12252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8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Perguntas que o deck responde</a:t>
            </a:r>
            <a:endParaRPr lang="en-US" sz="1758" dirty="0"/>
          </a:p>
        </p:txBody>
      </p:sp>
      <p:sp>
        <p:nvSpPr>
          <p:cNvPr id="17" name="Shape 14"/>
          <p:cNvSpPr/>
          <p:nvPr/>
        </p:nvSpPr>
        <p:spPr>
          <a:xfrm>
            <a:off x="7772400" y="1856232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00416" y="1755648"/>
            <a:ext cx="3081528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a pessoa fisica residente no Brasil e tributada ao investir fora.</a:t>
            </a:r>
            <a:endParaRPr lang="en-US" sz="1260" dirty="0"/>
          </a:p>
        </p:txBody>
      </p:sp>
      <p:sp>
        <p:nvSpPr>
          <p:cNvPr id="19" name="Shape 16"/>
          <p:cNvSpPr/>
          <p:nvPr/>
        </p:nvSpPr>
        <p:spPr>
          <a:xfrm>
            <a:off x="7772400" y="2361895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00416" y="2261311"/>
            <a:ext cx="3081528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Quais ativos entram no estate tax americano.</a:t>
            </a:r>
            <a:endParaRPr lang="en-US" sz="1260" dirty="0"/>
          </a:p>
        </p:txBody>
      </p:sp>
      <p:sp>
        <p:nvSpPr>
          <p:cNvPr id="21" name="Shape 18"/>
          <p:cNvSpPr/>
          <p:nvPr/>
        </p:nvSpPr>
        <p:spPr>
          <a:xfrm>
            <a:off x="7772400" y="2867558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00416" y="2766974"/>
            <a:ext cx="3081528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o TOD resolve e o que ele nao resolve.</a:t>
            </a:r>
            <a:endParaRPr lang="en-US" sz="1260" dirty="0"/>
          </a:p>
        </p:txBody>
      </p:sp>
      <p:sp>
        <p:nvSpPr>
          <p:cNvPr id="23" name="Shape 20"/>
          <p:cNvSpPr/>
          <p:nvPr/>
        </p:nvSpPr>
        <p:spPr>
          <a:xfrm>
            <a:off x="7772400" y="3373222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00416" y="3272638"/>
            <a:ext cx="3081528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Quando faz sentido discutir uma PIC offshore.</a:t>
            </a:r>
            <a:endParaRPr lang="en-US" sz="1260" dirty="0"/>
          </a:p>
        </p:txBody>
      </p:sp>
      <p:sp>
        <p:nvSpPr>
          <p:cNvPr id="25" name="Text 22"/>
          <p:cNvSpPr/>
          <p:nvPr/>
        </p:nvSpPr>
        <p:spPr>
          <a:xfrm>
            <a:off x="786384" y="635508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2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Baseado no conteudo do HTML publicado no projeto.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512064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2000"/>
              </a:srgbClr>
            </a:outerShdw>
          </a:effectLst>
        </p:spPr>
      </p:sp>
      <p:pic>
        <p:nvPicPr>
          <p:cNvPr id="5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263" y="603504"/>
            <a:ext cx="453875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612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6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PRIMEIRO DOLAR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8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Tributacao Internacional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778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868680"/>
            <a:ext cx="7863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34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eficiencia da carteira depende de tres decisoes antes do retorno</a:t>
            </a:r>
            <a:endParaRPr lang="en-US" sz="2334" dirty="0"/>
          </a:p>
        </p:txBody>
      </p:sp>
      <p:sp>
        <p:nvSpPr>
          <p:cNvPr id="10" name="Text 7"/>
          <p:cNvSpPr/>
          <p:nvPr/>
        </p:nvSpPr>
        <p:spPr>
          <a:xfrm>
            <a:off x="731520" y="1700784"/>
            <a:ext cx="955548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5" dirty="0">
                <a:solidFill>
                  <a:srgbClr val="6778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HTML insiste que a analise nao comeca no ticker. Veiculo, jurisdicao e estrutura sucessoria alteram o retorno liquido, o risco patrimonial e a complexidade para a familia.</a:t>
            </a:r>
            <a:endParaRPr lang="en-US" sz="1255" dirty="0"/>
          </a:p>
        </p:txBody>
      </p:sp>
      <p:sp>
        <p:nvSpPr>
          <p:cNvPr id="11" name="Shape 8"/>
          <p:cNvSpPr/>
          <p:nvPr/>
        </p:nvSpPr>
        <p:spPr>
          <a:xfrm>
            <a:off x="713232" y="2297887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EAF5FD"/>
          </a:solidFill>
          <a:ln w="15875">
            <a:solidFill>
              <a:srgbClr val="2F6F9E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2919679"/>
            <a:ext cx="713232" cy="36576"/>
          </a:xfrm>
          <a:prstGeom prst="rect">
            <a:avLst/>
          </a:prstGeom>
          <a:solidFill>
            <a:srgbClr val="2F6F9E"/>
          </a:solidFill>
          <a:ln w="12700">
            <a:solidFill>
              <a:srgbClr val="2F6F9E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462479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Veiculo</a:t>
            </a:r>
            <a:endParaRPr lang="en-US" sz="1745" dirty="0"/>
          </a:p>
        </p:txBody>
      </p:sp>
      <p:sp>
        <p:nvSpPr>
          <p:cNvPr id="14" name="Shape 11"/>
          <p:cNvSpPr/>
          <p:nvPr/>
        </p:nvSpPr>
        <p:spPr>
          <a:xfrm>
            <a:off x="932688" y="3203143"/>
            <a:ext cx="73152" cy="73152"/>
          </a:xfrm>
          <a:prstGeom prst="ellipse">
            <a:avLst/>
          </a:prstGeom>
          <a:solidFill>
            <a:srgbClr val="2F6F9E"/>
          </a:solidFill>
          <a:ln w="12700">
            <a:solidFill>
              <a:srgbClr val="2F6F9E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3102559"/>
            <a:ext cx="2889504" cy="639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Ativo direto, mutual fund ou renda fixa internacional mudam tributacao e compounding.</a:t>
            </a:r>
            <a:endParaRPr lang="en-US" sz="1340" dirty="0"/>
          </a:p>
        </p:txBody>
      </p:sp>
      <p:sp>
        <p:nvSpPr>
          <p:cNvPr id="16" name="Shape 13"/>
          <p:cNvSpPr/>
          <p:nvPr/>
        </p:nvSpPr>
        <p:spPr>
          <a:xfrm>
            <a:off x="932688" y="3915308"/>
            <a:ext cx="73152" cy="73152"/>
          </a:xfrm>
          <a:prstGeom prst="ellipse">
            <a:avLst/>
          </a:prstGeom>
          <a:solidFill>
            <a:srgbClr val="2F6F9E"/>
          </a:solidFill>
          <a:ln w="12700">
            <a:solidFill>
              <a:srgbClr val="2F6F9E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3814724"/>
            <a:ext cx="2889504" cy="639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classe de ativo importa, mas o envelope juridico importa tanto quanto.</a:t>
            </a:r>
            <a:endParaRPr lang="en-US" sz="1340" dirty="0"/>
          </a:p>
        </p:txBody>
      </p:sp>
      <p:sp>
        <p:nvSpPr>
          <p:cNvPr id="18" name="Shape 15"/>
          <p:cNvSpPr/>
          <p:nvPr/>
        </p:nvSpPr>
        <p:spPr>
          <a:xfrm>
            <a:off x="4370832" y="2297887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FDF6E8"/>
          </a:solidFill>
          <a:ln w="15875">
            <a:solidFill>
              <a:srgbClr val="C4963C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0" y="2919679"/>
            <a:ext cx="713232" cy="36576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0" y="2462479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Jurisidicao</a:t>
            </a:r>
            <a:endParaRPr lang="en-US" sz="1745" dirty="0"/>
          </a:p>
        </p:txBody>
      </p:sp>
      <p:sp>
        <p:nvSpPr>
          <p:cNvPr id="21" name="Shape 18"/>
          <p:cNvSpPr/>
          <p:nvPr/>
        </p:nvSpPr>
        <p:spPr>
          <a:xfrm>
            <a:off x="4590288" y="320314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18304" y="3102559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Nem todo ativo em dolar carrega o mesmo risco sucessorio.</a:t>
            </a:r>
            <a:endParaRPr lang="en-US" sz="1340" dirty="0"/>
          </a:p>
        </p:txBody>
      </p:sp>
      <p:sp>
        <p:nvSpPr>
          <p:cNvPr id="23" name="Shape 20"/>
          <p:cNvSpPr/>
          <p:nvPr/>
        </p:nvSpPr>
        <p:spPr>
          <a:xfrm>
            <a:off x="4590288" y="3714496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18304" y="3613912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Raiz americana e a variavel critica para estate tax.</a:t>
            </a:r>
            <a:endParaRPr lang="en-US" sz="1340" dirty="0"/>
          </a:p>
        </p:txBody>
      </p:sp>
      <p:sp>
        <p:nvSpPr>
          <p:cNvPr id="25" name="Shape 22"/>
          <p:cNvSpPr/>
          <p:nvPr/>
        </p:nvSpPr>
        <p:spPr>
          <a:xfrm>
            <a:off x="8028432" y="2297887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FDECEB"/>
          </a:solidFill>
          <a:ln w="15875">
            <a:solidFill>
              <a:srgbClr val="B75449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229600" y="2919679"/>
            <a:ext cx="713232" cy="36576"/>
          </a:xfrm>
          <a:prstGeom prst="rect">
            <a:avLst/>
          </a:prstGeom>
          <a:solidFill>
            <a:srgbClr val="B75449"/>
          </a:solidFill>
          <a:ln w="12700">
            <a:solidFill>
              <a:srgbClr val="B75449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29600" y="2462479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Sucessao</a:t>
            </a:r>
            <a:endParaRPr lang="en-US" sz="1745" dirty="0"/>
          </a:p>
        </p:txBody>
      </p:sp>
      <p:sp>
        <p:nvSpPr>
          <p:cNvPr id="28" name="Shape 25"/>
          <p:cNvSpPr/>
          <p:nvPr/>
        </p:nvSpPr>
        <p:spPr>
          <a:xfrm>
            <a:off x="8247888" y="3203143"/>
            <a:ext cx="73152" cy="73152"/>
          </a:xfrm>
          <a:prstGeom prst="ellipse">
            <a:avLst/>
          </a:prstGeom>
          <a:solidFill>
            <a:srgbClr val="B75449"/>
          </a:solidFill>
          <a:ln w="12700">
            <a:solidFill>
              <a:srgbClr val="B75449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75904" y="3102559"/>
            <a:ext cx="2889504" cy="639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TOD, leitura da raiz americana e eventual PIC mudam o risco da familia.</a:t>
            </a:r>
            <a:endParaRPr lang="en-US" sz="1340" dirty="0"/>
          </a:p>
        </p:txBody>
      </p:sp>
      <p:sp>
        <p:nvSpPr>
          <p:cNvPr id="30" name="Shape 27"/>
          <p:cNvSpPr/>
          <p:nvPr/>
        </p:nvSpPr>
        <p:spPr>
          <a:xfrm>
            <a:off x="8247888" y="3915308"/>
            <a:ext cx="73152" cy="73152"/>
          </a:xfrm>
          <a:prstGeom prst="ellipse">
            <a:avLst/>
          </a:prstGeom>
          <a:solidFill>
            <a:srgbClr val="B75449"/>
          </a:solidFill>
          <a:ln w="12700">
            <a:solidFill>
              <a:srgbClr val="B75449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75904" y="3814724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primeiro dolar ja deveria nascer com essa reflexao.</a:t>
            </a:r>
            <a:endParaRPr lang="en-US" sz="13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512064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2000"/>
              </a:srgbClr>
            </a:outerShdw>
          </a:effectLst>
        </p:spPr>
      </p:sp>
      <p:pic>
        <p:nvPicPr>
          <p:cNvPr id="5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263" y="603504"/>
            <a:ext cx="453875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612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6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ALIQUOTAS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8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Tributacao Internacional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778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868680"/>
            <a:ext cx="7863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34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grande diferenca esta menos no ganho de capital e mais no fluxo de dividendos</a:t>
            </a:r>
            <a:endParaRPr lang="en-US" sz="2334" dirty="0"/>
          </a:p>
        </p:txBody>
      </p:sp>
      <p:sp>
        <p:nvSpPr>
          <p:cNvPr id="10" name="Text 7"/>
          <p:cNvSpPr/>
          <p:nvPr/>
        </p:nvSpPr>
        <p:spPr>
          <a:xfrm>
            <a:off x="731520" y="1700784"/>
            <a:ext cx="955548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5" dirty="0">
                <a:solidFill>
                  <a:srgbClr val="6778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a pessoa fisica residente no Brasil, a tributacao dos investimentos internacionais e mais linear do que muitos imaginam. O ponto de atencao aparece quando o produto distribui dividendos e quando o veiculo escolhido melhora ou piora esse atrito.</a:t>
            </a:r>
            <a:endParaRPr lang="en-US" sz="1255" dirty="0"/>
          </a:p>
        </p:txBody>
      </p:sp>
      <p:sp>
        <p:nvSpPr>
          <p:cNvPr id="11" name="Shape 8"/>
          <p:cNvSpPr/>
          <p:nvPr/>
        </p:nvSpPr>
        <p:spPr>
          <a:xfrm>
            <a:off x="713232" y="2297887"/>
            <a:ext cx="256946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77824" y="2462479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95" dirty="0">
                <a:solidFill>
                  <a:srgbClr val="C4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2195" dirty="0"/>
          </a:p>
        </p:txBody>
      </p:sp>
      <p:sp>
        <p:nvSpPr>
          <p:cNvPr id="13" name="Text 10"/>
          <p:cNvSpPr/>
          <p:nvPr/>
        </p:nvSpPr>
        <p:spPr>
          <a:xfrm>
            <a:off x="877824" y="3011119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8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Ganho de capital em reais</a:t>
            </a:r>
            <a:endParaRPr lang="en-US" sz="1078" dirty="0"/>
          </a:p>
        </p:txBody>
      </p:sp>
      <p:sp>
        <p:nvSpPr>
          <p:cNvPr id="14" name="Shape 11"/>
          <p:cNvSpPr/>
          <p:nvPr/>
        </p:nvSpPr>
        <p:spPr>
          <a:xfrm>
            <a:off x="3447288" y="2297887"/>
            <a:ext cx="2569464" cy="1078992"/>
          </a:xfrm>
          <a:prstGeom prst="roundRect">
            <a:avLst>
              <a:gd name="adj" fmla="val 6780"/>
            </a:avLst>
          </a:prstGeom>
          <a:solidFill>
            <a:srgbClr val="F7EFE2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611880" y="2462479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95" dirty="0">
                <a:solidFill>
                  <a:srgbClr val="C4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195" dirty="0"/>
          </a:p>
        </p:txBody>
      </p:sp>
      <p:sp>
        <p:nvSpPr>
          <p:cNvPr id="16" name="Text 13"/>
          <p:cNvSpPr/>
          <p:nvPr/>
        </p:nvSpPr>
        <p:spPr>
          <a:xfrm>
            <a:off x="3611880" y="3011119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3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Dividendos de acoes, ETFs e REITs dos EUA</a:t>
            </a:r>
            <a:endParaRPr lang="en-US" sz="923" dirty="0"/>
          </a:p>
        </p:txBody>
      </p:sp>
      <p:sp>
        <p:nvSpPr>
          <p:cNvPr id="17" name="Shape 14"/>
          <p:cNvSpPr/>
          <p:nvPr/>
        </p:nvSpPr>
        <p:spPr>
          <a:xfrm>
            <a:off x="6181344" y="2297887"/>
            <a:ext cx="256946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345936" y="2462479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95" dirty="0">
                <a:solidFill>
                  <a:srgbClr val="C4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 / 0%</a:t>
            </a:r>
            <a:endParaRPr lang="en-US" sz="2195" dirty="0"/>
          </a:p>
        </p:txBody>
      </p:sp>
      <p:sp>
        <p:nvSpPr>
          <p:cNvPr id="19" name="Text 16"/>
          <p:cNvSpPr/>
          <p:nvPr/>
        </p:nvSpPr>
        <p:spPr>
          <a:xfrm>
            <a:off x="6345936" y="3011119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8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Drag interno de mutual funds</a:t>
            </a:r>
            <a:endParaRPr lang="en-US" sz="1078" dirty="0"/>
          </a:p>
        </p:txBody>
      </p:sp>
      <p:sp>
        <p:nvSpPr>
          <p:cNvPr id="20" name="Shape 17"/>
          <p:cNvSpPr/>
          <p:nvPr/>
        </p:nvSpPr>
        <p:spPr>
          <a:xfrm>
            <a:off x="8915400" y="2297887"/>
            <a:ext cx="2569464" cy="1078992"/>
          </a:xfrm>
          <a:prstGeom prst="roundRect">
            <a:avLst>
              <a:gd name="adj" fmla="val 6780"/>
            </a:avLst>
          </a:prstGeom>
          <a:solidFill>
            <a:srgbClr val="F7EFE2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079992" y="2462479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95" dirty="0">
                <a:solidFill>
                  <a:srgbClr val="C4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Anual</a:t>
            </a:r>
            <a:endParaRPr lang="en-US" sz="2195" dirty="0"/>
          </a:p>
        </p:txBody>
      </p:sp>
      <p:sp>
        <p:nvSpPr>
          <p:cNvPr id="22" name="Text 19"/>
          <p:cNvSpPr/>
          <p:nvPr/>
        </p:nvSpPr>
        <p:spPr>
          <a:xfrm>
            <a:off x="9079992" y="3011119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8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Pagamento no ajuste anual</a:t>
            </a:r>
            <a:endParaRPr lang="en-US" sz="1078" dirty="0"/>
          </a:p>
        </p:txBody>
      </p:sp>
      <p:sp>
        <p:nvSpPr>
          <p:cNvPr id="23" name="Shape 20"/>
          <p:cNvSpPr/>
          <p:nvPr/>
        </p:nvSpPr>
        <p:spPr>
          <a:xfrm>
            <a:off x="713232" y="3310128"/>
            <a:ext cx="6537960" cy="2578608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434072" y="3310128"/>
            <a:ext cx="4023360" cy="2578608"/>
          </a:xfrm>
          <a:prstGeom prst="roundRect">
            <a:avLst>
              <a:gd name="adj" fmla="val 2837"/>
            </a:avLst>
          </a:prstGeom>
          <a:solidFill>
            <a:srgbClr val="F7EFE2"/>
          </a:solidFill>
          <a:ln w="13970">
            <a:solidFill>
              <a:srgbClr val="C4963C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32688" y="35661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95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ler a regra</a:t>
            </a:r>
            <a:endParaRPr lang="en-US" sz="1695" dirty="0"/>
          </a:p>
        </p:txBody>
      </p:sp>
      <p:sp>
        <p:nvSpPr>
          <p:cNvPr id="26" name="Shape 23"/>
          <p:cNvSpPr/>
          <p:nvPr/>
        </p:nvSpPr>
        <p:spPr>
          <a:xfrm>
            <a:off x="932688" y="4069080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3968496"/>
            <a:ext cx="5824728" cy="441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apuracao considera o resultado em reais, ja refletindo a variacao cambial.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932688" y="4601718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60704" y="4501134"/>
            <a:ext cx="5824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ha imposto se o investidor vender com lucro ao longo do ano.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932688" y="4967478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60704" y="4866894"/>
            <a:ext cx="5824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Prejuizos podem compensar ganhos futuros da mesma natureza.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7662672" y="3584448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95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esta o divisor de aguas</a:t>
            </a:r>
            <a:endParaRPr lang="en-US" sz="1695" dirty="0"/>
          </a:p>
        </p:txBody>
      </p:sp>
      <p:sp>
        <p:nvSpPr>
          <p:cNvPr id="33" name="Text 30"/>
          <p:cNvSpPr/>
          <p:nvPr/>
        </p:nvSpPr>
        <p:spPr>
          <a:xfrm>
            <a:off x="7662672" y="4005072"/>
            <a:ext cx="34930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97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ganho de capital e relativamente uniforme entre classes. O grande diferencial economico aparece no tratamento dos dividendos e no veiculo escolhido para investir.</a:t>
            </a:r>
            <a:endParaRPr lang="en-US" sz="129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512064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2000"/>
              </a:srgbClr>
            </a:outerShdw>
          </a:effectLst>
        </p:spPr>
      </p:sp>
      <p:pic>
        <p:nvPicPr>
          <p:cNvPr id="5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263" y="603504"/>
            <a:ext cx="453875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612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6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ESTATE TAX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8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Tributacao Internacional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778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868680"/>
            <a:ext cx="7863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34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Ativos de raiz americana exigem leitura sucessoria desde o inicio</a:t>
            </a:r>
            <a:endParaRPr lang="en-US" sz="2334" dirty="0"/>
          </a:p>
        </p:txBody>
      </p:sp>
      <p:sp>
        <p:nvSpPr>
          <p:cNvPr id="10" name="Text 7"/>
          <p:cNvSpPr/>
          <p:nvPr/>
        </p:nvSpPr>
        <p:spPr>
          <a:xfrm>
            <a:off x="731520" y="1700784"/>
            <a:ext cx="955548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5" dirty="0">
                <a:solidFill>
                  <a:srgbClr val="6778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HTML traduz o estate tax em termos praticos: o risco nao nasce da conta internacional em si, mas do tipo de ativo mantido dentro dela e do domicilio juridico desse ativo.</a:t>
            </a:r>
            <a:endParaRPr lang="en-US" sz="1255" dirty="0"/>
          </a:p>
        </p:txBody>
      </p:sp>
      <p:sp>
        <p:nvSpPr>
          <p:cNvPr id="11" name="Shape 8"/>
          <p:cNvSpPr/>
          <p:nvPr/>
        </p:nvSpPr>
        <p:spPr>
          <a:xfrm>
            <a:off x="713232" y="2297887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FDECEB"/>
          </a:solidFill>
          <a:ln w="15875">
            <a:solidFill>
              <a:srgbClr val="B75449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2919679"/>
            <a:ext cx="713232" cy="36576"/>
          </a:xfrm>
          <a:prstGeom prst="rect">
            <a:avLst/>
          </a:prstGeom>
          <a:solidFill>
            <a:srgbClr val="B75449"/>
          </a:solidFill>
          <a:ln w="12700">
            <a:solidFill>
              <a:srgbClr val="B75449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462479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Regra-base</a:t>
            </a:r>
            <a:endParaRPr lang="en-US" sz="1745" dirty="0"/>
          </a:p>
        </p:txBody>
      </p:sp>
      <p:sp>
        <p:nvSpPr>
          <p:cNvPr id="14" name="Shape 11"/>
          <p:cNvSpPr/>
          <p:nvPr/>
        </p:nvSpPr>
        <p:spPr>
          <a:xfrm>
            <a:off x="932688" y="3203143"/>
            <a:ext cx="73152" cy="73152"/>
          </a:xfrm>
          <a:prstGeom prst="ellipse">
            <a:avLst/>
          </a:prstGeom>
          <a:solidFill>
            <a:srgbClr val="B75449"/>
          </a:solidFill>
          <a:ln w="12700">
            <a:solidFill>
              <a:srgbClr val="B75449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3102559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Faixa de isencao para nao residentes: US$ 60 mil.</a:t>
            </a:r>
            <a:endParaRPr lang="en-US" sz="1340" dirty="0"/>
          </a:p>
        </p:txBody>
      </p:sp>
      <p:sp>
        <p:nvSpPr>
          <p:cNvPr id="16" name="Shape 13"/>
          <p:cNvSpPr/>
          <p:nvPr/>
        </p:nvSpPr>
        <p:spPr>
          <a:xfrm>
            <a:off x="932688" y="3714496"/>
            <a:ext cx="73152" cy="73152"/>
          </a:xfrm>
          <a:prstGeom prst="ellipse">
            <a:avLst/>
          </a:prstGeom>
          <a:solidFill>
            <a:srgbClr val="B75449"/>
          </a:solidFill>
          <a:ln w="12700">
            <a:solidFill>
              <a:srgbClr val="B75449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3613912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tributacao sobre o excedente pode chegar a 40%.</a:t>
            </a:r>
            <a:endParaRPr lang="en-US" sz="1340" dirty="0"/>
          </a:p>
        </p:txBody>
      </p:sp>
      <p:sp>
        <p:nvSpPr>
          <p:cNvPr id="18" name="Shape 15"/>
          <p:cNvSpPr/>
          <p:nvPr/>
        </p:nvSpPr>
        <p:spPr>
          <a:xfrm>
            <a:off x="932688" y="4225849"/>
            <a:ext cx="73152" cy="73152"/>
          </a:xfrm>
          <a:prstGeom prst="ellipse">
            <a:avLst/>
          </a:prstGeom>
          <a:solidFill>
            <a:srgbClr val="B75449"/>
          </a:solidFill>
          <a:ln w="12700">
            <a:solidFill>
              <a:srgbClr val="B75449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0704" y="4125265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Brasil nao possui tratado sucessorio com os Estados Unidos.</a:t>
            </a:r>
            <a:endParaRPr lang="en-US" sz="1340" dirty="0"/>
          </a:p>
        </p:txBody>
      </p:sp>
      <p:sp>
        <p:nvSpPr>
          <p:cNvPr id="20" name="Shape 17"/>
          <p:cNvSpPr/>
          <p:nvPr/>
        </p:nvSpPr>
        <p:spPr>
          <a:xfrm>
            <a:off x="4370832" y="2297887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FDF6E8"/>
          </a:solidFill>
          <a:ln w="15875">
            <a:solidFill>
              <a:srgbClr val="C4963C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0" y="2919679"/>
            <a:ext cx="713232" cy="36576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0" y="2462479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Entram na base</a:t>
            </a:r>
            <a:endParaRPr lang="en-US" sz="1745" dirty="0"/>
          </a:p>
        </p:txBody>
      </p:sp>
      <p:sp>
        <p:nvSpPr>
          <p:cNvPr id="23" name="Shape 20"/>
          <p:cNvSpPr/>
          <p:nvPr/>
        </p:nvSpPr>
        <p:spPr>
          <a:xfrm>
            <a:off x="4590288" y="320314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18304" y="3102559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Acoes americanas.</a:t>
            </a:r>
            <a:endParaRPr lang="en-US" sz="1340" dirty="0"/>
          </a:p>
        </p:txBody>
      </p:sp>
      <p:sp>
        <p:nvSpPr>
          <p:cNvPr id="25" name="Shape 22"/>
          <p:cNvSpPr/>
          <p:nvPr/>
        </p:nvSpPr>
        <p:spPr>
          <a:xfrm>
            <a:off x="4590288" y="3550615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18304" y="3450031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ETFs domiciliados nos EUA.</a:t>
            </a:r>
            <a:endParaRPr lang="en-US" sz="1340" dirty="0"/>
          </a:p>
        </p:txBody>
      </p:sp>
      <p:sp>
        <p:nvSpPr>
          <p:cNvPr id="27" name="Shape 24"/>
          <p:cNvSpPr/>
          <p:nvPr/>
        </p:nvSpPr>
        <p:spPr>
          <a:xfrm>
            <a:off x="4590288" y="3898087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18304" y="3797503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REITs americanos.</a:t>
            </a:r>
            <a:endParaRPr lang="en-US" sz="1340" dirty="0"/>
          </a:p>
        </p:txBody>
      </p:sp>
      <p:sp>
        <p:nvSpPr>
          <p:cNvPr id="29" name="Shape 26"/>
          <p:cNvSpPr/>
          <p:nvPr/>
        </p:nvSpPr>
        <p:spPr>
          <a:xfrm>
            <a:off x="8028432" y="2297887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EEF7F1"/>
          </a:solidFill>
          <a:ln w="15875">
            <a:solidFill>
              <a:srgbClr val="31875A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229600" y="2919679"/>
            <a:ext cx="713232" cy="36576"/>
          </a:xfrm>
          <a:prstGeom prst="rect">
            <a:avLst/>
          </a:prstGeom>
          <a:solidFill>
            <a:srgbClr val="31875A"/>
          </a:solidFill>
          <a:ln w="12700">
            <a:solidFill>
              <a:srgbClr val="31875A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0" y="2462479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Afastam o risco</a:t>
            </a:r>
            <a:endParaRPr lang="en-US" sz="1745" dirty="0"/>
          </a:p>
        </p:txBody>
      </p:sp>
      <p:sp>
        <p:nvSpPr>
          <p:cNvPr id="32" name="Shape 29"/>
          <p:cNvSpPr/>
          <p:nvPr/>
        </p:nvSpPr>
        <p:spPr>
          <a:xfrm>
            <a:off x="8247888" y="3203143"/>
            <a:ext cx="73152" cy="73152"/>
          </a:xfrm>
          <a:prstGeom prst="ellipse">
            <a:avLst/>
          </a:prstGeom>
          <a:solidFill>
            <a:srgbClr val="31875A"/>
          </a:solidFill>
          <a:ln w="12700">
            <a:solidFill>
              <a:srgbClr val="31875A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75904" y="3102559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Mutual funds da Irlanda ou de Luxemburgo.</a:t>
            </a:r>
            <a:endParaRPr lang="en-US" sz="1340" dirty="0"/>
          </a:p>
        </p:txBody>
      </p:sp>
      <p:sp>
        <p:nvSpPr>
          <p:cNvPr id="34" name="Shape 31"/>
          <p:cNvSpPr/>
          <p:nvPr/>
        </p:nvSpPr>
        <p:spPr>
          <a:xfrm>
            <a:off x="8247888" y="3714496"/>
            <a:ext cx="73152" cy="73152"/>
          </a:xfrm>
          <a:prstGeom prst="ellipse">
            <a:avLst/>
          </a:prstGeom>
          <a:solidFill>
            <a:srgbClr val="31875A"/>
          </a:solidFill>
          <a:ln w="12700">
            <a:solidFill>
              <a:srgbClr val="31875A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75904" y="3613912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Bonds individuais, Treasuries e CDs bancarios.</a:t>
            </a:r>
            <a:endParaRPr lang="en-US" sz="1340" dirty="0"/>
          </a:p>
        </p:txBody>
      </p:sp>
      <p:sp>
        <p:nvSpPr>
          <p:cNvPr id="36" name="Shape 33"/>
          <p:cNvSpPr/>
          <p:nvPr/>
        </p:nvSpPr>
        <p:spPr>
          <a:xfrm>
            <a:off x="8247888" y="4225849"/>
            <a:ext cx="73152" cy="73152"/>
          </a:xfrm>
          <a:prstGeom prst="ellipse">
            <a:avLst/>
          </a:prstGeom>
          <a:solidFill>
            <a:srgbClr val="31875A"/>
          </a:solidFill>
          <a:ln w="12700">
            <a:solidFill>
              <a:srgbClr val="31875A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375904" y="4125265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Estruturas patrimoniais quando o caso exigir.</a:t>
            </a:r>
            <a:endParaRPr lang="en-US" sz="13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512064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2000"/>
              </a:srgbClr>
            </a:outerShdw>
          </a:effectLst>
        </p:spPr>
      </p:sp>
      <p:pic>
        <p:nvPicPr>
          <p:cNvPr id="5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263" y="603504"/>
            <a:ext cx="453875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612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6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8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Tributacao Internacional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778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97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 e a camada operacional minima da sucessao</a:t>
            </a:r>
            <a:endParaRPr lang="en-US" sz="2397" dirty="0"/>
          </a:p>
        </p:txBody>
      </p:sp>
      <p:sp>
        <p:nvSpPr>
          <p:cNvPr id="10" name="Text 7"/>
          <p:cNvSpPr/>
          <p:nvPr/>
        </p:nvSpPr>
        <p:spPr>
          <a:xfrm>
            <a:off x="731520" y="1527048"/>
            <a:ext cx="955548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5" dirty="0">
                <a:solidFill>
                  <a:srgbClr val="6778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Transfer on Death aparece no HTML como providencia basica da conta internacional: simples, barata e imediata, mas insuficiente se a carteira continuar carregando ativos de raiz americana acima do limite relevante.</a:t>
            </a:r>
            <a:endParaRPr lang="en-US" sz="1255" dirty="0"/>
          </a:p>
        </p:txBody>
      </p:sp>
      <p:sp>
        <p:nvSpPr>
          <p:cNvPr id="11" name="Shape 8"/>
          <p:cNvSpPr/>
          <p:nvPr/>
        </p:nvSpPr>
        <p:spPr>
          <a:xfrm>
            <a:off x="713232" y="2124151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EAF5FD"/>
          </a:solidFill>
          <a:ln w="15875">
            <a:solidFill>
              <a:srgbClr val="2F6F9E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2745943"/>
            <a:ext cx="713232" cy="36576"/>
          </a:xfrm>
          <a:prstGeom prst="rect">
            <a:avLst/>
          </a:prstGeom>
          <a:solidFill>
            <a:srgbClr val="2F6F9E"/>
          </a:solidFill>
          <a:ln w="12700">
            <a:solidFill>
              <a:srgbClr val="2F6F9E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288743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resolve</a:t>
            </a:r>
            <a:endParaRPr lang="en-US" sz="1745" dirty="0"/>
          </a:p>
        </p:txBody>
      </p:sp>
      <p:sp>
        <p:nvSpPr>
          <p:cNvPr id="14" name="Shape 11"/>
          <p:cNvSpPr/>
          <p:nvPr/>
        </p:nvSpPr>
        <p:spPr>
          <a:xfrm>
            <a:off x="932688" y="3029407"/>
            <a:ext cx="73152" cy="73152"/>
          </a:xfrm>
          <a:prstGeom prst="ellipse">
            <a:avLst/>
          </a:prstGeom>
          <a:solidFill>
            <a:srgbClr val="2F6F9E"/>
          </a:solidFill>
          <a:ln w="12700">
            <a:solidFill>
              <a:srgbClr val="2F6F9E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928823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Designa beneficiarios diretamente na conta internacional.</a:t>
            </a:r>
            <a:endParaRPr lang="en-US" sz="1340" dirty="0"/>
          </a:p>
        </p:txBody>
      </p:sp>
      <p:sp>
        <p:nvSpPr>
          <p:cNvPr id="16" name="Shape 13"/>
          <p:cNvSpPr/>
          <p:nvPr/>
        </p:nvSpPr>
        <p:spPr>
          <a:xfrm>
            <a:off x="932688" y="3540760"/>
            <a:ext cx="73152" cy="73152"/>
          </a:xfrm>
          <a:prstGeom prst="ellipse">
            <a:avLst/>
          </a:prstGeom>
          <a:solidFill>
            <a:srgbClr val="2F6F9E"/>
          </a:solidFill>
          <a:ln w="12700">
            <a:solidFill>
              <a:srgbClr val="2F6F9E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3440176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Evita probate americano e acelera a transferencia operacional.</a:t>
            </a:r>
            <a:endParaRPr lang="en-US" sz="1340" dirty="0"/>
          </a:p>
        </p:txBody>
      </p:sp>
      <p:sp>
        <p:nvSpPr>
          <p:cNvPr id="18" name="Shape 15"/>
          <p:cNvSpPr/>
          <p:nvPr/>
        </p:nvSpPr>
        <p:spPr>
          <a:xfrm>
            <a:off x="932688" y="4052113"/>
            <a:ext cx="73152" cy="73152"/>
          </a:xfrm>
          <a:prstGeom prst="ellipse">
            <a:avLst/>
          </a:prstGeom>
          <a:solidFill>
            <a:srgbClr val="2F6F9E"/>
          </a:solidFill>
          <a:ln w="12700">
            <a:solidFill>
              <a:srgbClr val="2F6F9E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0704" y="3951529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Reduz friccao para a familia no pior momento.</a:t>
            </a:r>
            <a:endParaRPr lang="en-US" sz="1340" dirty="0"/>
          </a:p>
        </p:txBody>
      </p:sp>
      <p:sp>
        <p:nvSpPr>
          <p:cNvPr id="20" name="Shape 17"/>
          <p:cNvSpPr/>
          <p:nvPr/>
        </p:nvSpPr>
        <p:spPr>
          <a:xfrm>
            <a:off x="4370832" y="2124151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FDECEB"/>
          </a:solidFill>
          <a:ln w="15875">
            <a:solidFill>
              <a:srgbClr val="B75449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0" y="2745943"/>
            <a:ext cx="713232" cy="36576"/>
          </a:xfrm>
          <a:prstGeom prst="rect">
            <a:avLst/>
          </a:prstGeom>
          <a:solidFill>
            <a:srgbClr val="B75449"/>
          </a:solidFill>
          <a:ln w="12700">
            <a:solidFill>
              <a:srgbClr val="B75449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0" y="2288743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nao resolve</a:t>
            </a:r>
            <a:endParaRPr lang="en-US" sz="1745" dirty="0"/>
          </a:p>
        </p:txBody>
      </p:sp>
      <p:sp>
        <p:nvSpPr>
          <p:cNvPr id="23" name="Shape 20"/>
          <p:cNvSpPr/>
          <p:nvPr/>
        </p:nvSpPr>
        <p:spPr>
          <a:xfrm>
            <a:off x="4590288" y="3029407"/>
            <a:ext cx="73152" cy="73152"/>
          </a:xfrm>
          <a:prstGeom prst="ellipse">
            <a:avLst/>
          </a:prstGeom>
          <a:solidFill>
            <a:srgbClr val="B75449"/>
          </a:solidFill>
          <a:ln w="12700">
            <a:solidFill>
              <a:srgbClr val="B75449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18304" y="2928823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Nao elimina o estate tax.</a:t>
            </a:r>
            <a:endParaRPr lang="en-US" sz="1340" dirty="0"/>
          </a:p>
        </p:txBody>
      </p:sp>
      <p:sp>
        <p:nvSpPr>
          <p:cNvPr id="25" name="Shape 22"/>
          <p:cNvSpPr/>
          <p:nvPr/>
        </p:nvSpPr>
        <p:spPr>
          <a:xfrm>
            <a:off x="4590288" y="3376879"/>
            <a:ext cx="73152" cy="73152"/>
          </a:xfrm>
          <a:prstGeom prst="ellipse">
            <a:avLst/>
          </a:prstGeom>
          <a:solidFill>
            <a:srgbClr val="B75449"/>
          </a:solidFill>
          <a:ln w="12700">
            <a:solidFill>
              <a:srgbClr val="B75449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18304" y="3276295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Nao substitui planejamento patrimonial.</a:t>
            </a:r>
            <a:endParaRPr lang="en-US" sz="1340" dirty="0"/>
          </a:p>
        </p:txBody>
      </p:sp>
      <p:sp>
        <p:nvSpPr>
          <p:cNvPr id="27" name="Shape 24"/>
          <p:cNvSpPr/>
          <p:nvPr/>
        </p:nvSpPr>
        <p:spPr>
          <a:xfrm>
            <a:off x="4590288" y="3888232"/>
            <a:ext cx="73152" cy="73152"/>
          </a:xfrm>
          <a:prstGeom prst="ellipse">
            <a:avLst/>
          </a:prstGeom>
          <a:solidFill>
            <a:srgbClr val="B75449"/>
          </a:solidFill>
          <a:ln w="12700">
            <a:solidFill>
              <a:srgbClr val="B75449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18304" y="3787648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Nao dispensa revisar o tipo de ativo mantido na conta.</a:t>
            </a:r>
            <a:endParaRPr lang="en-US" sz="1340" dirty="0"/>
          </a:p>
        </p:txBody>
      </p:sp>
      <p:sp>
        <p:nvSpPr>
          <p:cNvPr id="29" name="Shape 26"/>
          <p:cNvSpPr/>
          <p:nvPr/>
        </p:nvSpPr>
        <p:spPr>
          <a:xfrm>
            <a:off x="8028432" y="2124151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FDF6E8"/>
          </a:solidFill>
          <a:ln w="15875">
            <a:solidFill>
              <a:srgbClr val="C4963C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229600" y="2745943"/>
            <a:ext cx="713232" cy="36576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0" y="2288743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Regra pratica</a:t>
            </a:r>
            <a:endParaRPr lang="en-US" sz="1745" dirty="0"/>
          </a:p>
        </p:txBody>
      </p:sp>
      <p:sp>
        <p:nvSpPr>
          <p:cNvPr id="32" name="Shape 29"/>
          <p:cNvSpPr/>
          <p:nvPr/>
        </p:nvSpPr>
        <p:spPr>
          <a:xfrm>
            <a:off x="8247888" y="3029407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75904" y="2928823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 internacional aberta deveria sair com TOD preenchido.</a:t>
            </a:r>
            <a:endParaRPr lang="en-US" sz="1340" dirty="0"/>
          </a:p>
        </p:txBody>
      </p:sp>
      <p:sp>
        <p:nvSpPr>
          <p:cNvPr id="34" name="Shape 31"/>
          <p:cNvSpPr/>
          <p:nvPr/>
        </p:nvSpPr>
        <p:spPr>
          <a:xfrm>
            <a:off x="8247888" y="3540760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75904" y="3440176"/>
            <a:ext cx="2889504" cy="639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uma medida simples, sem custo relevante e de implementacao imediata.</a:t>
            </a:r>
            <a:endParaRPr lang="en-US" sz="1340" dirty="0"/>
          </a:p>
        </p:txBody>
      </p:sp>
      <p:sp>
        <p:nvSpPr>
          <p:cNvPr id="36" name="Shape 33"/>
          <p:cNvSpPr/>
          <p:nvPr/>
        </p:nvSpPr>
        <p:spPr>
          <a:xfrm>
            <a:off x="8247888" y="4252925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375904" y="4152341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 como camada operacional minima da sucessao.</a:t>
            </a:r>
            <a:endParaRPr lang="en-US" sz="13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512064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2000"/>
              </a:srgbClr>
            </a:outerShdw>
          </a:effectLst>
        </p:spPr>
      </p:sp>
      <p:pic>
        <p:nvPicPr>
          <p:cNvPr id="5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263" y="603504"/>
            <a:ext cx="453875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612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6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 OFFSHORE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8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Tributacao Internacional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778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868680"/>
            <a:ext cx="7863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34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PIC entra quando a conversa deixa de ser apenas de produto</a:t>
            </a:r>
            <a:endParaRPr lang="en-US" sz="2334" dirty="0"/>
          </a:p>
        </p:txBody>
      </p:sp>
      <p:sp>
        <p:nvSpPr>
          <p:cNvPr id="10" name="Text 7"/>
          <p:cNvSpPr/>
          <p:nvPr/>
        </p:nvSpPr>
        <p:spPr>
          <a:xfrm>
            <a:off x="731520" y="1700784"/>
            <a:ext cx="955548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5" dirty="0">
                <a:solidFill>
                  <a:srgbClr val="6778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apresentacao derivada do HTML preserva a mesma mensagem: a PIC nao e a resposta padrao; ela aparece quando patrimonio, necessidade de governanca e sucessao mais sofisticada justificam a camada societaria adicional.</a:t>
            </a:r>
            <a:endParaRPr lang="en-US" sz="1255" dirty="0"/>
          </a:p>
        </p:txBody>
      </p:sp>
      <p:sp>
        <p:nvSpPr>
          <p:cNvPr id="11" name="Shape 8"/>
          <p:cNvSpPr/>
          <p:nvPr/>
        </p:nvSpPr>
        <p:spPr>
          <a:xfrm>
            <a:off x="713232" y="2462479"/>
            <a:ext cx="2569464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796796" y="2151583"/>
            <a:ext cx="402336" cy="402336"/>
          </a:xfrm>
          <a:prstGeom prst="ellipse">
            <a:avLst/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88236" y="2112264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877824" y="2663647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16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entra</a:t>
            </a:r>
            <a:endParaRPr lang="en-US" sz="1616" dirty="0"/>
          </a:p>
        </p:txBody>
      </p:sp>
      <p:sp>
        <p:nvSpPr>
          <p:cNvPr id="15" name="Shape 12"/>
          <p:cNvSpPr/>
          <p:nvPr/>
        </p:nvSpPr>
        <p:spPr>
          <a:xfrm>
            <a:off x="896112" y="329458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4128" y="3193999"/>
            <a:ext cx="2075688" cy="420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Patrimonio offshore relevante.</a:t>
            </a:r>
            <a:endParaRPr lang="en-US" sz="1280" dirty="0"/>
          </a:p>
        </p:txBody>
      </p:sp>
      <p:sp>
        <p:nvSpPr>
          <p:cNvPr id="17" name="Shape 14"/>
          <p:cNvSpPr/>
          <p:nvPr/>
        </p:nvSpPr>
        <p:spPr>
          <a:xfrm>
            <a:off x="896112" y="3797097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4128" y="3696513"/>
            <a:ext cx="2075688" cy="61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Sucessao mais sofisticada ou necessidade real de ativos de raiz americana.</a:t>
            </a:r>
            <a:endParaRPr lang="en-US" sz="1280" dirty="0"/>
          </a:p>
        </p:txBody>
      </p:sp>
      <p:sp>
        <p:nvSpPr>
          <p:cNvPr id="19" name="Shape 16"/>
          <p:cNvSpPr/>
          <p:nvPr/>
        </p:nvSpPr>
        <p:spPr>
          <a:xfrm>
            <a:off x="3447288" y="2462479"/>
            <a:ext cx="2569464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30852" y="2151583"/>
            <a:ext cx="402336" cy="402336"/>
          </a:xfrm>
          <a:prstGeom prst="ellipse">
            <a:avLst/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22292" y="2112264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3611880" y="2663647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16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funciona</a:t>
            </a:r>
            <a:endParaRPr lang="en-US" sz="1616" dirty="0"/>
          </a:p>
        </p:txBody>
      </p:sp>
      <p:sp>
        <p:nvSpPr>
          <p:cNvPr id="23" name="Shape 20"/>
          <p:cNvSpPr/>
          <p:nvPr/>
        </p:nvSpPr>
        <p:spPr>
          <a:xfrm>
            <a:off x="3630168" y="329458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58184" y="3193999"/>
            <a:ext cx="2075688" cy="420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empresa passa a deter os investimentos.</a:t>
            </a:r>
            <a:endParaRPr lang="en-US" sz="1280" dirty="0"/>
          </a:p>
        </p:txBody>
      </p:sp>
      <p:sp>
        <p:nvSpPr>
          <p:cNvPr id="25" name="Shape 22"/>
          <p:cNvSpPr/>
          <p:nvPr/>
        </p:nvSpPr>
        <p:spPr>
          <a:xfrm>
            <a:off x="3630168" y="3797097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58184" y="3696513"/>
            <a:ext cx="2075688" cy="61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 sucessao, o que muda de maos sao as cotas da companhia.</a:t>
            </a:r>
            <a:endParaRPr lang="en-US" sz="1280" dirty="0"/>
          </a:p>
        </p:txBody>
      </p:sp>
      <p:sp>
        <p:nvSpPr>
          <p:cNvPr id="27" name="Shape 24"/>
          <p:cNvSpPr/>
          <p:nvPr/>
        </p:nvSpPr>
        <p:spPr>
          <a:xfrm>
            <a:off x="6181344" y="2462479"/>
            <a:ext cx="2569464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264908" y="2151583"/>
            <a:ext cx="402336" cy="402336"/>
          </a:xfrm>
          <a:prstGeom prst="ellipse">
            <a:avLst/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56348" y="2112264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80" dirty="0"/>
          </a:p>
        </p:txBody>
      </p:sp>
      <p:sp>
        <p:nvSpPr>
          <p:cNvPr id="30" name="Text 27"/>
          <p:cNvSpPr/>
          <p:nvPr/>
        </p:nvSpPr>
        <p:spPr>
          <a:xfrm>
            <a:off x="6345936" y="2663647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16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Beneficios</a:t>
            </a:r>
            <a:endParaRPr lang="en-US" sz="1616" dirty="0"/>
          </a:p>
        </p:txBody>
      </p:sp>
      <p:sp>
        <p:nvSpPr>
          <p:cNvPr id="31" name="Shape 28"/>
          <p:cNvSpPr/>
          <p:nvPr/>
        </p:nvSpPr>
        <p:spPr>
          <a:xfrm>
            <a:off x="6364224" y="329458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92240" y="3193999"/>
            <a:ext cx="2075688" cy="420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Organizacao patrimonial e de governanca.</a:t>
            </a:r>
            <a:endParaRPr lang="en-US" sz="1280" dirty="0"/>
          </a:p>
        </p:txBody>
      </p:sp>
      <p:sp>
        <p:nvSpPr>
          <p:cNvPr id="33" name="Shape 30"/>
          <p:cNvSpPr/>
          <p:nvPr/>
        </p:nvSpPr>
        <p:spPr>
          <a:xfrm>
            <a:off x="6364224" y="3797097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92240" y="3696513"/>
            <a:ext cx="2075688" cy="420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Afastamento do estate tax em casos adequados.</a:t>
            </a:r>
            <a:endParaRPr lang="en-US" sz="1280" dirty="0"/>
          </a:p>
        </p:txBody>
      </p:sp>
      <p:sp>
        <p:nvSpPr>
          <p:cNvPr id="35" name="Shape 32"/>
          <p:cNvSpPr/>
          <p:nvPr/>
        </p:nvSpPr>
        <p:spPr>
          <a:xfrm>
            <a:off x="8915400" y="2462479"/>
            <a:ext cx="2569464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9998964" y="2151583"/>
            <a:ext cx="402336" cy="402336"/>
          </a:xfrm>
          <a:prstGeom prst="ellipse">
            <a:avLst/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090404" y="2112264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80" dirty="0"/>
          </a:p>
        </p:txBody>
      </p:sp>
      <p:sp>
        <p:nvSpPr>
          <p:cNvPr id="38" name="Text 35"/>
          <p:cNvSpPr/>
          <p:nvPr/>
        </p:nvSpPr>
        <p:spPr>
          <a:xfrm>
            <a:off x="9079992" y="2663647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16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 e limite</a:t>
            </a:r>
            <a:endParaRPr lang="en-US" sz="1616" dirty="0"/>
          </a:p>
        </p:txBody>
      </p:sp>
      <p:sp>
        <p:nvSpPr>
          <p:cNvPr id="39" name="Shape 36"/>
          <p:cNvSpPr/>
          <p:nvPr/>
        </p:nvSpPr>
        <p:spPr>
          <a:xfrm>
            <a:off x="9098280" y="329458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226296" y="3193999"/>
            <a:ext cx="2075688" cy="61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 custo de abertura, manutencao e mais complexidade.</a:t>
            </a:r>
            <a:endParaRPr lang="en-US" sz="1280" dirty="0"/>
          </a:p>
        </p:txBody>
      </p:sp>
      <p:sp>
        <p:nvSpPr>
          <p:cNvPr id="41" name="Shape 38"/>
          <p:cNvSpPr/>
          <p:nvPr/>
        </p:nvSpPr>
        <p:spPr>
          <a:xfrm>
            <a:off x="9098280" y="3988918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26296" y="3888334"/>
            <a:ext cx="2075688" cy="420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isso a PIC nao deve ser tratada como default.</a:t>
            </a:r>
            <a:endParaRPr lang="en-US" sz="1280" dirty="0"/>
          </a:p>
        </p:txBody>
      </p:sp>
      <p:sp>
        <p:nvSpPr>
          <p:cNvPr id="43" name="Shape 40"/>
          <p:cNvSpPr/>
          <p:nvPr/>
        </p:nvSpPr>
        <p:spPr>
          <a:xfrm>
            <a:off x="713232" y="4773168"/>
            <a:ext cx="10771632" cy="1188720"/>
          </a:xfrm>
          <a:prstGeom prst="roundRect">
            <a:avLst>
              <a:gd name="adj" fmla="val 6154"/>
            </a:avLst>
          </a:prstGeom>
          <a:solidFill>
            <a:srgbClr val="F7EFE2"/>
          </a:solidFill>
          <a:ln w="13970">
            <a:solidFill>
              <a:srgbClr val="C4963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32688" y="5010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Leitura correta da estrutura</a:t>
            </a:r>
            <a:endParaRPr lang="en-US" sz="1575" dirty="0"/>
          </a:p>
        </p:txBody>
      </p:sp>
      <p:sp>
        <p:nvSpPr>
          <p:cNvPr id="45" name="Shape 42"/>
          <p:cNvSpPr/>
          <p:nvPr/>
        </p:nvSpPr>
        <p:spPr>
          <a:xfrm>
            <a:off x="932688" y="5458968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60704" y="5358384"/>
            <a:ext cx="9939528" cy="420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 nao serve para ocultar patrimonio. E um veiculo societario para casos patrimoniais especificos em que a camada adicional faz sentido economico e sucessorio.</a:t>
            </a:r>
            <a:endParaRPr lang="en-US" sz="1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512064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2000"/>
              </a:srgbClr>
            </a:outerShdw>
          </a:effectLst>
        </p:spPr>
      </p:sp>
      <p:pic>
        <p:nvPicPr>
          <p:cNvPr id="5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263" y="603504"/>
            <a:ext cx="453875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612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6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8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Tributacao Internacional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778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868680"/>
            <a:ext cx="7863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34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recomendacao e escalar complexidade so quando houver motivo patrimonial</a:t>
            </a:r>
            <a:endParaRPr lang="en-US" sz="2334" dirty="0"/>
          </a:p>
        </p:txBody>
      </p:sp>
      <p:sp>
        <p:nvSpPr>
          <p:cNvPr id="10" name="Text 7"/>
          <p:cNvSpPr/>
          <p:nvPr/>
        </p:nvSpPr>
        <p:spPr>
          <a:xfrm>
            <a:off x="731520" y="1700784"/>
            <a:ext cx="955548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5" dirty="0">
                <a:solidFill>
                  <a:srgbClr val="6778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fechamento do HTML consolida uma logica simples: comecar por instrumentos eficientes, preencher TOD, mapear a raiz americana e so depois discutir estruturas mais pesadas, se o patrimonio realmente pedir.</a:t>
            </a:r>
            <a:endParaRPr lang="en-US" sz="1255" dirty="0"/>
          </a:p>
        </p:txBody>
      </p:sp>
      <p:sp>
        <p:nvSpPr>
          <p:cNvPr id="11" name="Shape 8"/>
          <p:cNvSpPr/>
          <p:nvPr/>
        </p:nvSpPr>
        <p:spPr>
          <a:xfrm>
            <a:off x="713232" y="2297887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EEF7F1"/>
          </a:solidFill>
          <a:ln w="15875">
            <a:solidFill>
              <a:srgbClr val="31875A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2919679"/>
            <a:ext cx="713232" cy="36576"/>
          </a:xfrm>
          <a:prstGeom prst="rect">
            <a:avLst/>
          </a:prstGeom>
          <a:solidFill>
            <a:srgbClr val="31875A"/>
          </a:solidFill>
          <a:ln w="12700">
            <a:solidFill>
              <a:srgbClr val="31875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462479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Carteira simples</a:t>
            </a:r>
            <a:endParaRPr lang="en-US" sz="1745" dirty="0"/>
          </a:p>
        </p:txBody>
      </p:sp>
      <p:sp>
        <p:nvSpPr>
          <p:cNvPr id="14" name="Shape 11"/>
          <p:cNvSpPr/>
          <p:nvPr/>
        </p:nvSpPr>
        <p:spPr>
          <a:xfrm>
            <a:off x="932688" y="3203143"/>
            <a:ext cx="73152" cy="73152"/>
          </a:xfrm>
          <a:prstGeom prst="ellipse">
            <a:avLst/>
          </a:prstGeom>
          <a:solidFill>
            <a:srgbClr val="31875A"/>
          </a:solidFill>
          <a:ln w="12700">
            <a:solidFill>
              <a:srgbClr val="31875A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3102559"/>
            <a:ext cx="2889504" cy="639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Mutual funds e renda fixa internacional costumam resolver muito bem o comeco.</a:t>
            </a:r>
            <a:endParaRPr lang="en-US" sz="1340" dirty="0"/>
          </a:p>
        </p:txBody>
      </p:sp>
      <p:sp>
        <p:nvSpPr>
          <p:cNvPr id="16" name="Shape 13"/>
          <p:cNvSpPr/>
          <p:nvPr/>
        </p:nvSpPr>
        <p:spPr>
          <a:xfrm>
            <a:off x="932688" y="3915308"/>
            <a:ext cx="73152" cy="73152"/>
          </a:xfrm>
          <a:prstGeom prst="ellipse">
            <a:avLst/>
          </a:prstGeom>
          <a:solidFill>
            <a:srgbClr val="31875A"/>
          </a:solidFill>
          <a:ln w="12700">
            <a:solidFill>
              <a:srgbClr val="31875A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3814724"/>
            <a:ext cx="2889504" cy="639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foco e preservar compounding, eficiencia tributaria e simplicidade operacional.</a:t>
            </a:r>
            <a:endParaRPr lang="en-US" sz="1340" dirty="0"/>
          </a:p>
        </p:txBody>
      </p:sp>
      <p:sp>
        <p:nvSpPr>
          <p:cNvPr id="18" name="Shape 15"/>
          <p:cNvSpPr/>
          <p:nvPr/>
        </p:nvSpPr>
        <p:spPr>
          <a:xfrm>
            <a:off x="4370832" y="2297887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FDECEB"/>
          </a:solidFill>
          <a:ln w="15875">
            <a:solidFill>
              <a:srgbClr val="B75449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0" y="2919679"/>
            <a:ext cx="713232" cy="36576"/>
          </a:xfrm>
          <a:prstGeom prst="rect">
            <a:avLst/>
          </a:prstGeom>
          <a:solidFill>
            <a:srgbClr val="B75449"/>
          </a:solidFill>
          <a:ln w="12700">
            <a:solidFill>
              <a:srgbClr val="B75449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0" y="2462479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Risco sucessorio</a:t>
            </a:r>
            <a:endParaRPr lang="en-US" sz="1745" dirty="0"/>
          </a:p>
        </p:txBody>
      </p:sp>
      <p:sp>
        <p:nvSpPr>
          <p:cNvPr id="21" name="Shape 18"/>
          <p:cNvSpPr/>
          <p:nvPr/>
        </p:nvSpPr>
        <p:spPr>
          <a:xfrm>
            <a:off x="4590288" y="3203143"/>
            <a:ext cx="73152" cy="73152"/>
          </a:xfrm>
          <a:prstGeom prst="ellipse">
            <a:avLst/>
          </a:prstGeom>
          <a:solidFill>
            <a:srgbClr val="B75449"/>
          </a:solidFill>
          <a:ln w="12700">
            <a:solidFill>
              <a:srgbClr val="B75449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18304" y="3102559"/>
            <a:ext cx="2889504" cy="639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 preenchido e leitura clara da raiz americana evitam surpresa futura.</a:t>
            </a:r>
            <a:endParaRPr lang="en-US" sz="1340" dirty="0"/>
          </a:p>
        </p:txBody>
      </p:sp>
      <p:sp>
        <p:nvSpPr>
          <p:cNvPr id="23" name="Shape 20"/>
          <p:cNvSpPr/>
          <p:nvPr/>
        </p:nvSpPr>
        <p:spPr>
          <a:xfrm>
            <a:off x="4590288" y="3915308"/>
            <a:ext cx="73152" cy="73152"/>
          </a:xfrm>
          <a:prstGeom prst="ellipse">
            <a:avLst/>
          </a:prstGeom>
          <a:solidFill>
            <a:srgbClr val="B75449"/>
          </a:solidFill>
          <a:ln w="12700">
            <a:solidFill>
              <a:srgbClr val="B75449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18304" y="3814724"/>
            <a:ext cx="2889504" cy="639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familia nao deveria descobrir o problema apenas no evento sucessorio.</a:t>
            </a:r>
            <a:endParaRPr lang="en-US" sz="1340" dirty="0"/>
          </a:p>
        </p:txBody>
      </p:sp>
      <p:sp>
        <p:nvSpPr>
          <p:cNvPr id="25" name="Shape 22"/>
          <p:cNvSpPr/>
          <p:nvPr/>
        </p:nvSpPr>
        <p:spPr>
          <a:xfrm>
            <a:off x="8028432" y="2297887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FDF6E8"/>
          </a:solidFill>
          <a:ln w="15875">
            <a:solidFill>
              <a:srgbClr val="C4963C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229600" y="2919679"/>
            <a:ext cx="713232" cy="36576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29600" y="2462479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Escalada de complexidade</a:t>
            </a:r>
            <a:endParaRPr lang="en-US" sz="1745" dirty="0"/>
          </a:p>
        </p:txBody>
      </p:sp>
      <p:sp>
        <p:nvSpPr>
          <p:cNvPr id="28" name="Shape 25"/>
          <p:cNvSpPr/>
          <p:nvPr/>
        </p:nvSpPr>
        <p:spPr>
          <a:xfrm>
            <a:off x="8247888" y="320314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75904" y="3102559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o patrimonio cresce, a conversa evolui para PIC e governanca.</a:t>
            </a:r>
            <a:endParaRPr lang="en-US" sz="1340" dirty="0"/>
          </a:p>
        </p:txBody>
      </p:sp>
      <p:sp>
        <p:nvSpPr>
          <p:cNvPr id="30" name="Shape 27"/>
          <p:cNvSpPr/>
          <p:nvPr/>
        </p:nvSpPr>
        <p:spPr>
          <a:xfrm>
            <a:off x="8247888" y="3714496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75904" y="3613912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B3A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Estrutura deve acompanhar necessidade real, nao modismo.</a:t>
            </a:r>
            <a:endParaRPr lang="en-US" sz="13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Alta Vista Investimentos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Tributacao de Investimentos Internacionais</dc:title>
  <dc:subject>Tributacao de Investimentos Internacionais</dc:subject>
  <dc:creator>Codex</dc:creator>
  <cp:lastModifiedBy>Codex</cp:lastModifiedBy>
  <cp:revision>1</cp:revision>
  <dcterms:created xsi:type="dcterms:W3CDTF">2026-03-29T20:58:54Z</dcterms:created>
  <dcterms:modified xsi:type="dcterms:W3CDTF">2026-03-29T20:58:54Z</dcterms:modified>
</cp:coreProperties>
</file>