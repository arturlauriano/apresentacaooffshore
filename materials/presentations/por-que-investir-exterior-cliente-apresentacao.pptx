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3" r:id="rId16"/>
    <p:sldId id="271" r:id="rId17"/>
    <p:sldId id="272" r:id="rId18"/>
    <p:sldId id="270" r:id="rId19"/>
    <p:sldId id="274" r:id="rId20"/>
    <p:sldId id="275" r:id="rId21"/>
    <p:sldId id="276" r:id="rId2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1" d="100"/>
          <a:sy n="111" d="100"/>
        </p:scale>
        <p:origin x="55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rtur Lauriano de Oliveira" userId="86145725-ef7b-4090-b1b9-17f40c1a73ac" providerId="ADAL" clId="{8A3EC0D5-2362-4702-B70E-7F1F425DDE70}"/>
    <pc:docChg chg="modSld sldOrd">
      <pc:chgData name="Artur Lauriano de Oliveira" userId="86145725-ef7b-4090-b1b9-17f40c1a73ac" providerId="ADAL" clId="{8A3EC0D5-2362-4702-B70E-7F1F425DDE70}" dt="2026-03-30T16:59:21.407" v="7" actId="14100"/>
      <pc:docMkLst>
        <pc:docMk/>
      </pc:docMkLst>
      <pc:sldChg chg="modSp mod">
        <pc:chgData name="Artur Lauriano de Oliveira" userId="86145725-ef7b-4090-b1b9-17f40c1a73ac" providerId="ADAL" clId="{8A3EC0D5-2362-4702-B70E-7F1F425DDE70}" dt="2026-03-30T16:59:21.407" v="7" actId="14100"/>
        <pc:sldMkLst>
          <pc:docMk/>
          <pc:sldMk cId="0" sldId="260"/>
        </pc:sldMkLst>
        <pc:spChg chg="mod">
          <ac:chgData name="Artur Lauriano de Oliveira" userId="86145725-ef7b-4090-b1b9-17f40c1a73ac" providerId="ADAL" clId="{8A3EC0D5-2362-4702-B70E-7F1F425DDE70}" dt="2026-03-30T16:59:21.407" v="7" actId="14100"/>
          <ac:spMkLst>
            <pc:docMk/>
            <pc:sldMk cId="0" sldId="260"/>
            <ac:spMk id="10" creationId="{00000000-0000-0000-0000-000000000000}"/>
          </ac:spMkLst>
        </pc:spChg>
      </pc:sldChg>
      <pc:sldChg chg="modSp mod">
        <pc:chgData name="Artur Lauriano de Oliveira" userId="86145725-ef7b-4090-b1b9-17f40c1a73ac" providerId="ADAL" clId="{8A3EC0D5-2362-4702-B70E-7F1F425DDE70}" dt="2026-03-30T16:59:06.921" v="5" actId="14100"/>
        <pc:sldMkLst>
          <pc:docMk/>
          <pc:sldMk cId="0" sldId="266"/>
        </pc:sldMkLst>
        <pc:spChg chg="mod">
          <ac:chgData name="Artur Lauriano de Oliveira" userId="86145725-ef7b-4090-b1b9-17f40c1a73ac" providerId="ADAL" clId="{8A3EC0D5-2362-4702-B70E-7F1F425DDE70}" dt="2026-03-30T16:59:06.921" v="5" actId="14100"/>
          <ac:spMkLst>
            <pc:docMk/>
            <pc:sldMk cId="0" sldId="266"/>
            <ac:spMk id="10" creationId="{00000000-0000-0000-0000-000000000000}"/>
          </ac:spMkLst>
        </pc:spChg>
      </pc:sldChg>
      <pc:sldChg chg="ord">
        <pc:chgData name="Artur Lauriano de Oliveira" userId="86145725-ef7b-4090-b1b9-17f40c1a73ac" providerId="ADAL" clId="{8A3EC0D5-2362-4702-B70E-7F1F425DDE70}" dt="2026-03-30T16:58:49.982" v="3"/>
        <pc:sldMkLst>
          <pc:docMk/>
          <pc:sldMk cId="0" sldId="270"/>
        </pc:sldMkLst>
      </pc:sldChg>
      <pc:sldChg chg="ord">
        <pc:chgData name="Artur Lauriano de Oliveira" userId="86145725-ef7b-4090-b1b9-17f40c1a73ac" providerId="ADAL" clId="{8A3EC0D5-2362-4702-B70E-7F1F425DDE70}" dt="2026-03-30T16:58:47.171" v="1"/>
        <pc:sldMkLst>
          <pc:docMk/>
          <pc:sldMk cId="0" sldId="273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074760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Mensagem central: investir apenas no Brasil restringe o universo investivel, concentra risco em uma unica moeda e deixa a carteira dependente do mesmo ciclo domestico. Use este slide para abrir a conversa e preparar o racional dos proximos graficos.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tese central do HTML e de ampliacao de fronteira investivel. O cliente nao precisa abandonar Brasil; precisa abrir acesso para um universo maior de emissores, setores, geografias e moedas, reduzindo a dependencia estrutural do mesmo ciclo domestico.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o grafico para mostrar que ficar 100 por cento no Brasil equivale a aceitar um recorte muito pequeno do mercado mundial. O investidor sente conforto domestico, mas assume concentracao severa.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slide deve reproduzir a logica do HTML: mesmo na renda fixa, onde o investidor brasileiro se sente mais confortavel, a profundidade do mercado local e pequena frente ao mercado global de credito corporativo.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a imagem do J.P. Morgan como ponte narrativa: o investidor domestico costuma olhar o mesmo jardim de sempre, enquanto o mercado global abre acesso a muito mais classes, regioes e combinacoes de risco e retorno.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mensagem aqui e de vies domestico. Em comparacao internacional, o investidor brasileiro ainda mantem pouca exposicao a acoes globais, mesmo com o mercado local representando uma parcela pequena do universo investivel.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Mostre a diferenca entre uma bolsa ainda dominada por bancos, commodities e Petrobras/Vale versus o S and P 500 com tecnologia, plataformas, cloud, semicondutores e IA. A diversificacao geografica tambem e setorial.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ponto aqui e mostrar que estabilidade percebida em reais nao significa neutralidade. O mercado global continua precificando o Brasil como risco relevante e isso afeta patrimonio concentrado localmente.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slide entra logo depois de CDS e rating para mostrar que o risco Brasil nao esta so no soberano. Ele tambem aparece na moeda e no poder de compra internacional do patrimonio.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pedido do deck aqui e visual: primeiro a comparacao de retornos, depois a evolucao do patrimonio em dolar como continuidade da mesma historia. A leitura e que ganhar em reais nao basta quando a referencia patrimonial e moeda forte.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slide fica sozinho para dar peso ao argumento. Em dolar, os ativos brasileiros aparecem piores na combinacao risco-retorno do que diversas alternativas globais.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Aqui a narrativa deve ser de hedge natural. Nos anos de estresse local, a exposicao dolarizada funcionou como amortecedor relevante em reais.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este slide como timeline curta. A mensagem e que o investidor brasileiro nao ficou sofisticado de repente; foi a infraestrutura que melhorou e transformou o exterior em algo operacionalmente acessivel.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objetivo aqui e simplificar a leitura para o cliente. Sem entrar em estruturas societarias, a conversa fica ancorada em quatro referencias praticas: ganho de capital, dividendos, estate tax e TOD.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a mesma imagem do material de tributacao. Ela resolve melhor a explicacao do que um slide recriado com texto demais.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conta nao e o problema. O problema e o ativo com raiz americana acima da faixa relevante. Use o slide para separar risco sucessorio do simples fato de ter conta internacional.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Explique a progressividade e reforce que o Brasil nao possui tratado sucessorio com os Estados Unidos para ampliar a faixa de isencao do investidor brasileiro.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ideia aqui e reproduzir a leitura pratica do HTML e da apresentacao de tributacao: antes de pensar em estrutura complexa, o cliente precisa entender que o veiculo escolhido altera eficiencia tributaria e risco sucessorio.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slide deve seguir a logica da apresentacao de tributacao: TOD resolve transferencia da conta, nao resolve sozinho o risco de estate tax.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o asset extraido do HTML diretamente no slide. A ideia aqui nao e reconstruir os cards, e sim preservar o visual que ja ficou bom na pagina.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Fechamento do deck: o desafio principal deixou de ser operacional. O investidor consegue comecar pequeno, com mais clareza, e adicionar complexidade apenas se fizer sentido.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3D"/>
          </a:solidFill>
          <a:ln w="12700">
            <a:solidFill>
              <a:srgbClr val="1B2A3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7955280" y="-274320"/>
            <a:ext cx="4206240" cy="4206240"/>
          </a:xfrm>
          <a:prstGeom prst="ellipse">
            <a:avLst/>
          </a:prstGeom>
          <a:solidFill>
            <a:srgbClr val="C4963C">
              <a:alpha val="20000"/>
            </a:srgbClr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Shape 2"/>
          <p:cNvSpPr/>
          <p:nvPr/>
        </p:nvSpPr>
        <p:spPr>
          <a:xfrm>
            <a:off x="8595360" y="2880360"/>
            <a:ext cx="2926080" cy="2926080"/>
          </a:xfrm>
          <a:prstGeom prst="ellipse">
            <a:avLst/>
          </a:prstGeom>
          <a:solidFill>
            <a:srgbClr val="D4A94E">
              <a:alpha val="12000"/>
            </a:srgbClr>
          </a:solidFill>
          <a:ln w="12700">
            <a:solidFill>
              <a:srgbClr val="D4A94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" name="Shape 3"/>
          <p:cNvSpPr/>
          <p:nvPr/>
        </p:nvSpPr>
        <p:spPr>
          <a:xfrm>
            <a:off x="749808" y="713232"/>
            <a:ext cx="3540557" cy="1053389"/>
          </a:xfrm>
          <a:prstGeom prst="roundRect">
            <a:avLst>
              <a:gd name="adj" fmla="val 6944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25400" dist="12700" dir="2700000" algn="bl" rotWithShape="0">
              <a:srgbClr val="1B2A3D">
                <a:alpha val="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pic>
        <p:nvPicPr>
          <p:cNvPr id="6" name="Image 0" descr="C:\Users\Arthur Lauriano\OneDrive - Alta Vista\Documentos\Playground\ApresentacaoOffshore\assets\logos\logo-altavista.sv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972111" y="903427"/>
            <a:ext cx="1037428" cy="58521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86384" y="2359152"/>
            <a:ext cx="5120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D4A9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ALTA VISTA INVESTIMENTOS | GUIA DO CLIENTE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786384" y="2688336"/>
            <a:ext cx="813816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3100" dirty="0">
                <a:solidFill>
                  <a:srgbClr val="FFFFFF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Por que Diversificar </a:t>
            </a:r>
            <a:r>
              <a:rPr lang="en-US" sz="3100" dirty="0">
                <a:solidFill>
                  <a:srgbClr val="D4A94E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Além</a:t>
            </a:r>
            <a:r>
              <a:rPr lang="en-US" sz="3100" dirty="0">
                <a:solidFill>
                  <a:srgbClr val="FFFFFF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 do Brasil?</a:t>
            </a:r>
            <a:endParaRPr lang="en-US" sz="3100" dirty="0"/>
          </a:p>
        </p:txBody>
      </p:sp>
      <p:sp>
        <p:nvSpPr>
          <p:cNvPr id="9" name="Shape 6"/>
          <p:cNvSpPr/>
          <p:nvPr/>
        </p:nvSpPr>
        <p:spPr>
          <a:xfrm>
            <a:off x="804672" y="4279392"/>
            <a:ext cx="1097280" cy="45720"/>
          </a:xfrm>
          <a:prstGeom prst="rect">
            <a:avLst/>
          </a:prstGeom>
          <a:solidFill>
            <a:srgbClr val="C4963C"/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" name="Text 7"/>
          <p:cNvSpPr/>
          <p:nvPr/>
        </p:nvSpPr>
        <p:spPr>
          <a:xfrm>
            <a:off x="786384" y="6355080"/>
            <a:ext cx="3749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D8D2C6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Alta Vista Investimentos | Material de apoio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1B2A3D"/>
          </a:solidFill>
          <a:ln w="12700">
            <a:solidFill>
              <a:srgbClr val="1B2A3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0" y="310896"/>
            <a:ext cx="12191695" cy="45720"/>
          </a:xfrm>
          <a:prstGeom prst="rect">
            <a:avLst/>
          </a:prstGeom>
          <a:solidFill>
            <a:srgbClr val="C4963C"/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Shape 2"/>
          <p:cNvSpPr/>
          <p:nvPr/>
        </p:nvSpPr>
        <p:spPr>
          <a:xfrm>
            <a:off x="9802368" y="493776"/>
            <a:ext cx="2212848" cy="658368"/>
          </a:xfrm>
          <a:prstGeom prst="roundRect">
            <a:avLst>
              <a:gd name="adj" fmla="val 11111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25400" dist="12700" dir="2700000" algn="bl" rotWithShape="0">
              <a:srgbClr val="1B2A3D">
                <a:alpha val="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pic>
        <p:nvPicPr>
          <p:cNvPr id="5" name="Image 0" descr="C:\Users\Arthur Lauriano\OneDrive - Alta Vista\Documentos\Playground\ApresentacaoOffshore\assets\logos\logo-altavista.sv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566308" y="612648"/>
            <a:ext cx="648393" cy="365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68096" y="713232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C4963C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TESE CENTRAL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155680" y="6400800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B7B8D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02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768096" y="6400800"/>
            <a:ext cx="3291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B8D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Diversificacao Internacional</a:t>
            </a:r>
            <a:endParaRPr lang="en-US" sz="850" dirty="0"/>
          </a:p>
        </p:txBody>
      </p:sp>
      <p:sp>
        <p:nvSpPr>
          <p:cNvPr id="9" name="Shape 6"/>
          <p:cNvSpPr/>
          <p:nvPr/>
        </p:nvSpPr>
        <p:spPr>
          <a:xfrm>
            <a:off x="768096" y="1234440"/>
            <a:ext cx="10680192" cy="4526280"/>
          </a:xfrm>
          <a:prstGeom prst="roundRect">
            <a:avLst>
              <a:gd name="adj" fmla="val 2020"/>
            </a:avLst>
          </a:prstGeom>
          <a:solidFill>
            <a:srgbClr val="FFFDFC"/>
          </a:solidFill>
          <a:ln w="12700">
            <a:solidFill>
              <a:srgbClr val="DDD5C8"/>
            </a:solidFill>
            <a:prstDash val="solid"/>
          </a:ln>
          <a:effectLst>
            <a:outerShdw blurRad="25400" dist="12700" dir="2700000" algn="bl" rotWithShape="0">
              <a:srgbClr val="1B2A3D">
                <a:alpha val="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0" name="Shape 7"/>
          <p:cNvSpPr/>
          <p:nvPr/>
        </p:nvSpPr>
        <p:spPr>
          <a:xfrm>
            <a:off x="768096" y="1234440"/>
            <a:ext cx="146304" cy="4526280"/>
          </a:xfrm>
          <a:prstGeom prst="rect">
            <a:avLst/>
          </a:prstGeom>
          <a:solidFill>
            <a:srgbClr val="C4963C"/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Text 8"/>
          <p:cNvSpPr/>
          <p:nvPr/>
        </p:nvSpPr>
        <p:spPr>
          <a:xfrm>
            <a:off x="1170432" y="1901952"/>
            <a:ext cx="8961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2700" dirty="0">
                <a:solidFill>
                  <a:srgbClr val="1B2A3D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Diversificacao internacional amplia o universo de investimento da carteira</a:t>
            </a:r>
            <a:endParaRPr lang="en-US" sz="2700" dirty="0"/>
          </a:p>
        </p:txBody>
      </p:sp>
      <p:sp>
        <p:nvSpPr>
          <p:cNvPr id="12" name="Text 9"/>
          <p:cNvSpPr/>
          <p:nvPr/>
        </p:nvSpPr>
        <p:spPr>
          <a:xfrm>
            <a:off x="1188720" y="3072384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2C3E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Ao incluir ativos internacionais, a carteira passa a acessar mais emissores, setores, moedas e geografias do que o mercado local, sozinho, consegue oferecer.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1188720" y="3822192"/>
            <a:ext cx="818388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6B7B8D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Na pratica, isso reduz a concentracao em uma unica economia, torna a alocacao mais previsivel em seus vetores de risco e amplia a capacidade de buscar retornos mais eficientes em relacao ao risco assumido.</a:t>
            </a:r>
            <a:endParaRPr lang="en-US" sz="1220" dirty="0"/>
          </a:p>
        </p:txBody>
      </p:sp>
      <p:sp>
        <p:nvSpPr>
          <p:cNvPr id="14" name="Shape 11"/>
          <p:cNvSpPr/>
          <p:nvPr/>
        </p:nvSpPr>
        <p:spPr>
          <a:xfrm>
            <a:off x="10222992" y="1792224"/>
            <a:ext cx="822960" cy="822960"/>
          </a:xfrm>
          <a:prstGeom prst="ellipse">
            <a:avLst/>
          </a:prstGeom>
          <a:solidFill>
            <a:srgbClr val="C4963C">
              <a:alpha val="18000"/>
            </a:srgbClr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5" name="Shape 12"/>
          <p:cNvSpPr/>
          <p:nvPr/>
        </p:nvSpPr>
        <p:spPr>
          <a:xfrm>
            <a:off x="11137392" y="2907792"/>
            <a:ext cx="310896" cy="310896"/>
          </a:xfrm>
          <a:prstGeom prst="ellipse">
            <a:avLst/>
          </a:prstGeom>
          <a:solidFill>
            <a:srgbClr val="243447">
              <a:alpha val="12000"/>
            </a:srgbClr>
          </a:solidFill>
          <a:ln w="12700">
            <a:solidFill>
              <a:srgbClr val="243447">
                <a:alpha val="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1B2A3D"/>
          </a:solidFill>
          <a:ln w="12700">
            <a:solidFill>
              <a:srgbClr val="1B2A3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0" y="310896"/>
            <a:ext cx="12191695" cy="45720"/>
          </a:xfrm>
          <a:prstGeom prst="rect">
            <a:avLst/>
          </a:prstGeom>
          <a:solidFill>
            <a:srgbClr val="C4963C"/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Shape 2"/>
          <p:cNvSpPr/>
          <p:nvPr/>
        </p:nvSpPr>
        <p:spPr>
          <a:xfrm>
            <a:off x="9802368" y="493776"/>
            <a:ext cx="2212848" cy="658368"/>
          </a:xfrm>
          <a:prstGeom prst="roundRect">
            <a:avLst>
              <a:gd name="adj" fmla="val 11111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25400" dist="12700" dir="2700000" algn="bl" rotWithShape="0">
              <a:srgbClr val="1B2A3D">
                <a:alpha val="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pic>
        <p:nvPicPr>
          <p:cNvPr id="5" name="Image 0" descr="C:\Users\Arthur Lauriano\OneDrive - Alta Vista\Documentos\Playground\ApresentacaoOffshore\assets\logos\logo-altavista.sv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566308" y="612648"/>
            <a:ext cx="648393" cy="365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68096" y="713232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C4963C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MERCADO GLOBAL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155680" y="6400800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B7B8D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03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768096" y="6400800"/>
            <a:ext cx="3291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B8D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Diversificacao Internacional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768096" y="987552"/>
            <a:ext cx="5623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2300" dirty="0">
                <a:solidFill>
                  <a:srgbClr val="1B2A3D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Brasil e uma fatia muito pequena do mercado global</a:t>
            </a:r>
            <a:endParaRPr lang="en-US" sz="2300" dirty="0"/>
          </a:p>
        </p:txBody>
      </p:sp>
      <p:sp>
        <p:nvSpPr>
          <p:cNvPr id="10" name="Shape 7"/>
          <p:cNvSpPr/>
          <p:nvPr/>
        </p:nvSpPr>
        <p:spPr>
          <a:xfrm>
            <a:off x="768096" y="1965960"/>
            <a:ext cx="10680192" cy="4114800"/>
          </a:xfrm>
          <a:prstGeom prst="roundRect">
            <a:avLst>
              <a:gd name="adj" fmla="val 1778"/>
            </a:avLst>
          </a:prstGeom>
          <a:solidFill>
            <a:srgbClr val="FFFFFF"/>
          </a:solidFill>
          <a:ln w="12700">
            <a:solidFill>
              <a:srgbClr val="DDD5C8"/>
            </a:solidFill>
            <a:prstDash val="solid"/>
          </a:ln>
          <a:effectLst>
            <a:outerShdw blurRad="25400" dist="12700" dir="2700000" algn="bl" rotWithShape="0">
              <a:srgbClr val="1B2A3D">
                <a:alpha val="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74162" y="2057400"/>
            <a:ext cx="9068061" cy="39319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1B2A3D"/>
          </a:solidFill>
          <a:ln w="12700">
            <a:solidFill>
              <a:srgbClr val="1B2A3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0" y="310896"/>
            <a:ext cx="12191695" cy="45720"/>
          </a:xfrm>
          <a:prstGeom prst="rect">
            <a:avLst/>
          </a:prstGeom>
          <a:solidFill>
            <a:srgbClr val="C4963C"/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Shape 2"/>
          <p:cNvSpPr/>
          <p:nvPr/>
        </p:nvSpPr>
        <p:spPr>
          <a:xfrm>
            <a:off x="9802368" y="493776"/>
            <a:ext cx="2212848" cy="658368"/>
          </a:xfrm>
          <a:prstGeom prst="roundRect">
            <a:avLst>
              <a:gd name="adj" fmla="val 11111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25400" dist="12700" dir="2700000" algn="bl" rotWithShape="0">
              <a:srgbClr val="1B2A3D">
                <a:alpha val="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pic>
        <p:nvPicPr>
          <p:cNvPr id="5" name="Image 0" descr="C:\Users\Arthur Lauriano\OneDrive - Alta Vista\Documentos\Playground\ApresentacaoOffshore\assets\logos\logo-altavista.sv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566308" y="612648"/>
            <a:ext cx="648393" cy="365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68096" y="713232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C4963C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MERCADO GLOBAL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155680" y="6400800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B7B8D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04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768096" y="6400800"/>
            <a:ext cx="3291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B8D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Diversificacao Internacional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768096" y="987552"/>
            <a:ext cx="5623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2300" dirty="0">
                <a:solidFill>
                  <a:srgbClr val="1B2A3D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Renda fixa global: o investidor brasileiro acessa so uma fracao do mercado</a:t>
            </a:r>
            <a:endParaRPr lang="en-US" sz="2300" dirty="0"/>
          </a:p>
        </p:txBody>
      </p:sp>
      <p:sp>
        <p:nvSpPr>
          <p:cNvPr id="10" name="Shape 7"/>
          <p:cNvSpPr/>
          <p:nvPr/>
        </p:nvSpPr>
        <p:spPr>
          <a:xfrm>
            <a:off x="1078992" y="1883664"/>
            <a:ext cx="10040112" cy="4407408"/>
          </a:xfrm>
          <a:prstGeom prst="roundRect">
            <a:avLst>
              <a:gd name="adj" fmla="val 1660"/>
            </a:avLst>
          </a:prstGeom>
          <a:solidFill>
            <a:srgbClr val="FFFFFF"/>
          </a:solidFill>
          <a:ln w="12700">
            <a:solidFill>
              <a:srgbClr val="DDD5C8"/>
            </a:solidFill>
            <a:prstDash val="solid"/>
          </a:ln>
          <a:effectLst>
            <a:outerShdw blurRad="25400" dist="12700" dir="2700000" algn="bl" rotWithShape="0">
              <a:srgbClr val="1B2A3D">
                <a:alpha val="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3412" y="1975104"/>
            <a:ext cx="9151271" cy="422452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1B2A3D"/>
          </a:solidFill>
          <a:ln w="12700">
            <a:solidFill>
              <a:srgbClr val="1B2A3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0" y="310896"/>
            <a:ext cx="12191695" cy="45720"/>
          </a:xfrm>
          <a:prstGeom prst="rect">
            <a:avLst/>
          </a:prstGeom>
          <a:solidFill>
            <a:srgbClr val="C4963C"/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Shape 2"/>
          <p:cNvSpPr/>
          <p:nvPr/>
        </p:nvSpPr>
        <p:spPr>
          <a:xfrm>
            <a:off x="9802368" y="493776"/>
            <a:ext cx="2212848" cy="658368"/>
          </a:xfrm>
          <a:prstGeom prst="roundRect">
            <a:avLst>
              <a:gd name="adj" fmla="val 11111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25400" dist="12700" dir="2700000" algn="bl" rotWithShape="0">
              <a:srgbClr val="1B2A3D">
                <a:alpha val="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pic>
        <p:nvPicPr>
          <p:cNvPr id="5" name="Image 0" descr="C:\Users\Arthur Lauriano\OneDrive - Alta Vista\Documentos\Playground\ApresentacaoOffshore\assets\logos\logo-altavista.sv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566308" y="612648"/>
            <a:ext cx="648393" cy="365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68096" y="713232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C4963C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MERCADO GLOBAL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155680" y="6400800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B7B8D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05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768096" y="6400800"/>
            <a:ext cx="3291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B8D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Diversificacao Internacional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768096" y="987552"/>
            <a:ext cx="5623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2300" dirty="0">
                <a:solidFill>
                  <a:srgbClr val="1B2A3D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O mercado global oferece uma fronteira muito mais ampla de oportunidades</a:t>
            </a:r>
            <a:endParaRPr lang="en-US" sz="2300" dirty="0"/>
          </a:p>
        </p:txBody>
      </p:sp>
      <p:sp>
        <p:nvSpPr>
          <p:cNvPr id="10" name="Shape 7"/>
          <p:cNvSpPr/>
          <p:nvPr/>
        </p:nvSpPr>
        <p:spPr>
          <a:xfrm>
            <a:off x="3036498" y="1865376"/>
            <a:ext cx="6064370" cy="4425696"/>
          </a:xfrm>
          <a:prstGeom prst="roundRect">
            <a:avLst>
              <a:gd name="adj" fmla="val 1653"/>
            </a:avLst>
          </a:prstGeom>
          <a:solidFill>
            <a:srgbClr val="FFFFFF"/>
          </a:solidFill>
          <a:ln w="12700">
            <a:solidFill>
              <a:srgbClr val="DDD5C8"/>
            </a:solidFill>
            <a:prstDash val="solid"/>
          </a:ln>
          <a:effectLst>
            <a:outerShdw blurRad="25400" dist="12700" dir="2700000" algn="bl" rotWithShape="0">
              <a:srgbClr val="1B2A3D">
                <a:alpha val="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86501" y="1956816"/>
            <a:ext cx="5770230" cy="424281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1B2A3D"/>
          </a:solidFill>
          <a:ln w="12700">
            <a:solidFill>
              <a:srgbClr val="1B2A3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0" y="310896"/>
            <a:ext cx="12191695" cy="45720"/>
          </a:xfrm>
          <a:prstGeom prst="rect">
            <a:avLst/>
          </a:prstGeom>
          <a:solidFill>
            <a:srgbClr val="C4963C"/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Shape 2"/>
          <p:cNvSpPr/>
          <p:nvPr/>
        </p:nvSpPr>
        <p:spPr>
          <a:xfrm>
            <a:off x="9802368" y="493776"/>
            <a:ext cx="2212848" cy="658368"/>
          </a:xfrm>
          <a:prstGeom prst="roundRect">
            <a:avLst>
              <a:gd name="adj" fmla="val 11111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25400" dist="12700" dir="2700000" algn="bl" rotWithShape="0">
              <a:srgbClr val="1B2A3D">
                <a:alpha val="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pic>
        <p:nvPicPr>
          <p:cNvPr id="5" name="Image 0" descr="C:\Users\Arthur Lauriano\OneDrive - Alta Vista\Documentos\Playground\ApresentacaoOffshore\assets\logos\logo-altavista.sv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566308" y="612648"/>
            <a:ext cx="648393" cy="365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68096" y="713232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C4963C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MERCADO GLOBAL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155680" y="6400800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B7B8D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06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768096" y="6400800"/>
            <a:ext cx="3291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B8D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Diversificacao Internacional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768096" y="987552"/>
            <a:ext cx="5623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2300" dirty="0">
                <a:solidFill>
                  <a:srgbClr val="1B2A3D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Acoes internacionais: o investidor brasileiro ainda aloca muito pouco</a:t>
            </a:r>
            <a:endParaRPr lang="en-US" sz="2300" dirty="0"/>
          </a:p>
        </p:txBody>
      </p:sp>
      <p:sp>
        <p:nvSpPr>
          <p:cNvPr id="10" name="Shape 7"/>
          <p:cNvSpPr/>
          <p:nvPr/>
        </p:nvSpPr>
        <p:spPr>
          <a:xfrm>
            <a:off x="1042416" y="1883664"/>
            <a:ext cx="10094976" cy="4407408"/>
          </a:xfrm>
          <a:prstGeom prst="roundRect">
            <a:avLst>
              <a:gd name="adj" fmla="val 1660"/>
            </a:avLst>
          </a:prstGeom>
          <a:solidFill>
            <a:srgbClr val="FFFFFF"/>
          </a:solidFill>
          <a:ln w="12700">
            <a:solidFill>
              <a:srgbClr val="DDD5C8"/>
            </a:solidFill>
            <a:prstDash val="solid"/>
          </a:ln>
          <a:effectLst>
            <a:outerShdw blurRad="25400" dist="12700" dir="2700000" algn="bl" rotWithShape="0">
              <a:srgbClr val="1B2A3D">
                <a:alpha val="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42511" y="1975104"/>
            <a:ext cx="9094786" cy="422452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1B2A3D"/>
          </a:solidFill>
          <a:ln w="12700">
            <a:solidFill>
              <a:srgbClr val="1B2A3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0" y="310896"/>
            <a:ext cx="12191695" cy="45720"/>
          </a:xfrm>
          <a:prstGeom prst="rect">
            <a:avLst/>
          </a:prstGeom>
          <a:solidFill>
            <a:srgbClr val="C4963C"/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Shape 2"/>
          <p:cNvSpPr/>
          <p:nvPr/>
        </p:nvSpPr>
        <p:spPr>
          <a:xfrm>
            <a:off x="9802368" y="493776"/>
            <a:ext cx="2212848" cy="658368"/>
          </a:xfrm>
          <a:prstGeom prst="roundRect">
            <a:avLst>
              <a:gd name="adj" fmla="val 11111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25400" dist="12700" dir="2700000" algn="bl" rotWithShape="0">
              <a:srgbClr val="1B2A3D">
                <a:alpha val="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pic>
        <p:nvPicPr>
          <p:cNvPr id="5" name="Image 0" descr="C:\Users\Arthur Lauriano\OneDrive - Alta Vista\Documentos\Playground\ApresentacaoOffshore\assets\logos\logo-altavista.sv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566308" y="612648"/>
            <a:ext cx="648393" cy="365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68096" y="713232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C4963C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SETORES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155680" y="6400800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B7B8D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07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768096" y="6400800"/>
            <a:ext cx="3291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B8D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Diversificacao Internacional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768096" y="987552"/>
            <a:ext cx="5623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2300" dirty="0">
                <a:solidFill>
                  <a:srgbClr val="1B2A3D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Setores: O Mundo se Transformou, o Brasil Ficou Parado</a:t>
            </a:r>
            <a:endParaRPr lang="en-US" sz="2300" dirty="0"/>
          </a:p>
        </p:txBody>
      </p:sp>
      <p:sp>
        <p:nvSpPr>
          <p:cNvPr id="10" name="Shape 7"/>
          <p:cNvSpPr/>
          <p:nvPr/>
        </p:nvSpPr>
        <p:spPr>
          <a:xfrm>
            <a:off x="768096" y="1965960"/>
            <a:ext cx="10680192" cy="4114800"/>
          </a:xfrm>
          <a:prstGeom prst="roundRect">
            <a:avLst>
              <a:gd name="adj" fmla="val 1778"/>
            </a:avLst>
          </a:prstGeom>
          <a:solidFill>
            <a:srgbClr val="FFFFFF"/>
          </a:solidFill>
          <a:ln w="12700">
            <a:solidFill>
              <a:srgbClr val="DDD5C8"/>
            </a:solidFill>
            <a:prstDash val="solid"/>
          </a:ln>
          <a:effectLst>
            <a:outerShdw blurRad="25400" dist="12700" dir="2700000" algn="bl" rotWithShape="0">
              <a:srgbClr val="1B2A3D">
                <a:alpha val="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5832" y="2057400"/>
            <a:ext cx="10144720" cy="39319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1B2A3D"/>
          </a:solidFill>
          <a:ln w="12700">
            <a:solidFill>
              <a:srgbClr val="1B2A3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0" y="310896"/>
            <a:ext cx="12191695" cy="45720"/>
          </a:xfrm>
          <a:prstGeom prst="rect">
            <a:avLst/>
          </a:prstGeom>
          <a:solidFill>
            <a:srgbClr val="C4963C"/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Shape 2"/>
          <p:cNvSpPr/>
          <p:nvPr/>
        </p:nvSpPr>
        <p:spPr>
          <a:xfrm>
            <a:off x="9802368" y="493776"/>
            <a:ext cx="2212848" cy="658368"/>
          </a:xfrm>
          <a:prstGeom prst="roundRect">
            <a:avLst>
              <a:gd name="adj" fmla="val 11111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25400" dist="12700" dir="2700000" algn="bl" rotWithShape="0">
              <a:srgbClr val="1B2A3D">
                <a:alpha val="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pic>
        <p:nvPicPr>
          <p:cNvPr id="5" name="Image 0" descr="C:\Users\Arthur Lauriano\OneDrive - Alta Vista\Documentos\Playground\ApresentacaoOffshore\assets\logos\logo-altavista.sv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566308" y="612648"/>
            <a:ext cx="648393" cy="365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68096" y="713232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C4963C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RISCO BRASIL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155680" y="6400800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B7B8D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08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768096" y="6400800"/>
            <a:ext cx="3291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B8D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Diversificacao Internacional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768096" y="987552"/>
            <a:ext cx="5623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2300" dirty="0">
                <a:solidFill>
                  <a:srgbClr val="1B2A3D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Risco Brasil: A Ilusão da Estabilidade do CDI</a:t>
            </a:r>
            <a:endParaRPr lang="en-US" sz="2300" dirty="0"/>
          </a:p>
        </p:txBody>
      </p:sp>
      <p:sp>
        <p:nvSpPr>
          <p:cNvPr id="10" name="Shape 7"/>
          <p:cNvSpPr/>
          <p:nvPr/>
        </p:nvSpPr>
        <p:spPr>
          <a:xfrm>
            <a:off x="768096" y="1993392"/>
            <a:ext cx="5239512" cy="4087368"/>
          </a:xfrm>
          <a:prstGeom prst="roundRect">
            <a:avLst>
              <a:gd name="adj" fmla="val 1790"/>
            </a:avLst>
          </a:prstGeom>
          <a:solidFill>
            <a:srgbClr val="FFFFFF"/>
          </a:solidFill>
          <a:ln w="12700">
            <a:solidFill>
              <a:srgbClr val="DDD5C8"/>
            </a:solidFill>
            <a:prstDash val="solid"/>
          </a:ln>
          <a:effectLst>
            <a:outerShdw blurRad="25400" dist="12700" dir="2700000" algn="bl" rotWithShape="0">
              <a:srgbClr val="1B2A3D">
                <a:alpha val="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536" y="2858870"/>
            <a:ext cx="5056632" cy="2136955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896112" y="5861304"/>
            <a:ext cx="49834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B7B8D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CDS 5 anos</a:t>
            </a:r>
            <a:endParaRPr lang="en-US" sz="850" dirty="0"/>
          </a:p>
        </p:txBody>
      </p:sp>
      <p:sp>
        <p:nvSpPr>
          <p:cNvPr id="13" name="Shape 9"/>
          <p:cNvSpPr/>
          <p:nvPr/>
        </p:nvSpPr>
        <p:spPr>
          <a:xfrm>
            <a:off x="6208776" y="1993392"/>
            <a:ext cx="5239512" cy="4087368"/>
          </a:xfrm>
          <a:prstGeom prst="roundRect">
            <a:avLst>
              <a:gd name="adj" fmla="val 1790"/>
            </a:avLst>
          </a:prstGeom>
          <a:solidFill>
            <a:srgbClr val="FFFFFF"/>
          </a:solidFill>
          <a:ln w="12700">
            <a:solidFill>
              <a:srgbClr val="DDD5C8"/>
            </a:solidFill>
            <a:prstDash val="solid"/>
          </a:ln>
          <a:effectLst>
            <a:outerShdw blurRad="25400" dist="12700" dir="2700000" algn="bl" rotWithShape="0">
              <a:srgbClr val="1B2A3D">
                <a:alpha val="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0216" y="2421664"/>
            <a:ext cx="5056632" cy="3011368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336792" y="5861304"/>
            <a:ext cx="49834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B7B8D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Rating soberano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1B2A3D"/>
          </a:solidFill>
          <a:ln w="12700">
            <a:solidFill>
              <a:srgbClr val="1B2A3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0" y="310896"/>
            <a:ext cx="12191695" cy="45720"/>
          </a:xfrm>
          <a:prstGeom prst="rect">
            <a:avLst/>
          </a:prstGeom>
          <a:solidFill>
            <a:srgbClr val="C4963C"/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Shape 2"/>
          <p:cNvSpPr/>
          <p:nvPr/>
        </p:nvSpPr>
        <p:spPr>
          <a:xfrm>
            <a:off x="9802368" y="493776"/>
            <a:ext cx="2212848" cy="658368"/>
          </a:xfrm>
          <a:prstGeom prst="roundRect">
            <a:avLst>
              <a:gd name="adj" fmla="val 11111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25400" dist="12700" dir="2700000" algn="bl" rotWithShape="0">
              <a:srgbClr val="1B2A3D">
                <a:alpha val="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pic>
        <p:nvPicPr>
          <p:cNvPr id="5" name="Image 0" descr="C:\Users\Arthur Lauriano\OneDrive - Alta Vista\Documentos\Playground\ApresentacaoOffshore\assets\logos\logo-altavista.sv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566308" y="612648"/>
            <a:ext cx="648393" cy="365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68096" y="713232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C4963C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MOEDAS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155680" y="6400800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B7B8D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09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768096" y="6400800"/>
            <a:ext cx="3291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B8D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Diversificacao Internacional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768096" y="987552"/>
            <a:ext cx="5623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2300" dirty="0">
                <a:solidFill>
                  <a:srgbClr val="1B2A3D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Depreciação de Moedas Frente ao Dólar (últimos 10 anos)</a:t>
            </a:r>
            <a:endParaRPr lang="en-US" sz="2300" dirty="0"/>
          </a:p>
        </p:txBody>
      </p:sp>
      <p:sp>
        <p:nvSpPr>
          <p:cNvPr id="10" name="Text 7"/>
          <p:cNvSpPr/>
          <p:nvPr/>
        </p:nvSpPr>
        <p:spPr>
          <a:xfrm>
            <a:off x="896112" y="2093976"/>
            <a:ext cx="20116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40" dirty="0">
                <a:solidFill>
                  <a:srgbClr val="2C3E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Peso Argentino</a:t>
            </a:r>
            <a:endParaRPr lang="en-US" sz="1040" dirty="0"/>
          </a:p>
        </p:txBody>
      </p:sp>
      <p:sp>
        <p:nvSpPr>
          <p:cNvPr id="11" name="Shape 8"/>
          <p:cNvSpPr/>
          <p:nvPr/>
        </p:nvSpPr>
        <p:spPr>
          <a:xfrm>
            <a:off x="3182112" y="1993392"/>
            <a:ext cx="6995160" cy="365760"/>
          </a:xfrm>
          <a:prstGeom prst="roundRect">
            <a:avLst>
              <a:gd name="adj" fmla="val 20000"/>
            </a:avLst>
          </a:prstGeom>
          <a:solidFill>
            <a:srgbClr val="F5F0E8"/>
          </a:solidFill>
          <a:ln w="7620">
            <a:solidFill>
              <a:srgbClr val="DDD5C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2" name="Shape 9"/>
          <p:cNvSpPr/>
          <p:nvPr/>
        </p:nvSpPr>
        <p:spPr>
          <a:xfrm>
            <a:off x="3182112" y="1993392"/>
            <a:ext cx="6958584" cy="365760"/>
          </a:xfrm>
          <a:prstGeom prst="roundRect">
            <a:avLst>
              <a:gd name="adj" fmla="val 20000"/>
            </a:avLst>
          </a:prstGeom>
          <a:solidFill>
            <a:srgbClr val="C4963C"/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3" name="Text 10"/>
          <p:cNvSpPr/>
          <p:nvPr/>
        </p:nvSpPr>
        <p:spPr>
          <a:xfrm>
            <a:off x="10405872" y="2093976"/>
            <a:ext cx="7315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2C3E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-98,3%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896112" y="2532888"/>
            <a:ext cx="20116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40" dirty="0">
                <a:solidFill>
                  <a:srgbClr val="2C3E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Lira Turca</a:t>
            </a:r>
            <a:endParaRPr lang="en-US" sz="1040" dirty="0"/>
          </a:p>
        </p:txBody>
      </p:sp>
      <p:sp>
        <p:nvSpPr>
          <p:cNvPr id="15" name="Shape 12"/>
          <p:cNvSpPr/>
          <p:nvPr/>
        </p:nvSpPr>
        <p:spPr>
          <a:xfrm>
            <a:off x="3182112" y="2432304"/>
            <a:ext cx="6995160" cy="365760"/>
          </a:xfrm>
          <a:prstGeom prst="roundRect">
            <a:avLst>
              <a:gd name="adj" fmla="val 20000"/>
            </a:avLst>
          </a:prstGeom>
          <a:solidFill>
            <a:srgbClr val="F5F0E8"/>
          </a:solidFill>
          <a:ln w="7620">
            <a:solidFill>
              <a:srgbClr val="DDD5C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6" name="Shape 13"/>
          <p:cNvSpPr/>
          <p:nvPr/>
        </p:nvSpPr>
        <p:spPr>
          <a:xfrm>
            <a:off x="3182112" y="2432304"/>
            <a:ext cx="6618005" cy="365760"/>
          </a:xfrm>
          <a:prstGeom prst="roundRect">
            <a:avLst>
              <a:gd name="adj" fmla="val 20000"/>
            </a:avLst>
          </a:prstGeom>
          <a:solidFill>
            <a:srgbClr val="C4963C"/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7" name="Text 14"/>
          <p:cNvSpPr/>
          <p:nvPr/>
        </p:nvSpPr>
        <p:spPr>
          <a:xfrm>
            <a:off x="10405872" y="2532888"/>
            <a:ext cx="7315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2C3E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-93,0%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896112" y="2971800"/>
            <a:ext cx="20116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40" b="1" dirty="0">
                <a:solidFill>
                  <a:srgbClr val="1B2A3D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Real Brasileiro</a:t>
            </a:r>
            <a:endParaRPr lang="en-US" sz="1040" dirty="0"/>
          </a:p>
        </p:txBody>
      </p:sp>
      <p:sp>
        <p:nvSpPr>
          <p:cNvPr id="19" name="Shape 16"/>
          <p:cNvSpPr/>
          <p:nvPr/>
        </p:nvSpPr>
        <p:spPr>
          <a:xfrm>
            <a:off x="3182112" y="2871216"/>
            <a:ext cx="6995160" cy="365760"/>
          </a:xfrm>
          <a:prstGeom prst="roundRect">
            <a:avLst>
              <a:gd name="adj" fmla="val 20000"/>
            </a:avLst>
          </a:prstGeom>
          <a:solidFill>
            <a:srgbClr val="F5F0E8"/>
          </a:solidFill>
          <a:ln w="7620">
            <a:solidFill>
              <a:srgbClr val="DDD5C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0" name="Shape 17"/>
          <p:cNvSpPr/>
          <p:nvPr/>
        </p:nvSpPr>
        <p:spPr>
          <a:xfrm>
            <a:off x="3182112" y="2871216"/>
            <a:ext cx="4269681" cy="365760"/>
          </a:xfrm>
          <a:prstGeom prst="roundRect">
            <a:avLst>
              <a:gd name="adj" fmla="val 20000"/>
            </a:avLst>
          </a:prstGeom>
          <a:solidFill>
            <a:srgbClr val="1B2A3D"/>
          </a:solidFill>
          <a:ln w="12700">
            <a:solidFill>
              <a:srgbClr val="1B2A3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1" name="Text 18"/>
          <p:cNvSpPr/>
          <p:nvPr/>
        </p:nvSpPr>
        <p:spPr>
          <a:xfrm>
            <a:off x="10405872" y="2971800"/>
            <a:ext cx="7315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1B2A3D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~ -60%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896112" y="3410712"/>
            <a:ext cx="20116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40" dirty="0">
                <a:solidFill>
                  <a:srgbClr val="2C3E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Peso Colombiano</a:t>
            </a:r>
            <a:endParaRPr lang="en-US" sz="1040" dirty="0"/>
          </a:p>
        </p:txBody>
      </p:sp>
      <p:sp>
        <p:nvSpPr>
          <p:cNvPr id="23" name="Shape 20"/>
          <p:cNvSpPr/>
          <p:nvPr/>
        </p:nvSpPr>
        <p:spPr>
          <a:xfrm>
            <a:off x="3182112" y="3310128"/>
            <a:ext cx="6995160" cy="365760"/>
          </a:xfrm>
          <a:prstGeom prst="roundRect">
            <a:avLst>
              <a:gd name="adj" fmla="val 20000"/>
            </a:avLst>
          </a:prstGeom>
          <a:solidFill>
            <a:srgbClr val="F5F0E8"/>
          </a:solidFill>
          <a:ln w="7620">
            <a:solidFill>
              <a:srgbClr val="DDD5C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4" name="Shape 21"/>
          <p:cNvSpPr/>
          <p:nvPr/>
        </p:nvSpPr>
        <p:spPr>
          <a:xfrm>
            <a:off x="3182112" y="3310128"/>
            <a:ext cx="3664809" cy="365760"/>
          </a:xfrm>
          <a:prstGeom prst="roundRect">
            <a:avLst>
              <a:gd name="adj" fmla="val 20000"/>
            </a:avLst>
          </a:prstGeom>
          <a:solidFill>
            <a:srgbClr val="C4963C"/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5" name="Text 22"/>
          <p:cNvSpPr/>
          <p:nvPr/>
        </p:nvSpPr>
        <p:spPr>
          <a:xfrm>
            <a:off x="10405872" y="3410712"/>
            <a:ext cx="7315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2C3E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-51,5%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896112" y="3849624"/>
            <a:ext cx="20116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40" dirty="0">
                <a:solidFill>
                  <a:srgbClr val="2C3E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Rand Sul-Africano</a:t>
            </a:r>
            <a:endParaRPr lang="en-US" sz="1040" dirty="0"/>
          </a:p>
        </p:txBody>
      </p:sp>
      <p:sp>
        <p:nvSpPr>
          <p:cNvPr id="27" name="Shape 24"/>
          <p:cNvSpPr/>
          <p:nvPr/>
        </p:nvSpPr>
        <p:spPr>
          <a:xfrm>
            <a:off x="3182112" y="3749040"/>
            <a:ext cx="6995160" cy="365760"/>
          </a:xfrm>
          <a:prstGeom prst="roundRect">
            <a:avLst>
              <a:gd name="adj" fmla="val 20000"/>
            </a:avLst>
          </a:prstGeom>
          <a:solidFill>
            <a:srgbClr val="F5F0E8"/>
          </a:solidFill>
          <a:ln w="7620">
            <a:solidFill>
              <a:srgbClr val="DDD5C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8" name="Shape 25"/>
          <p:cNvSpPr/>
          <p:nvPr/>
        </p:nvSpPr>
        <p:spPr>
          <a:xfrm>
            <a:off x="3182112" y="3749040"/>
            <a:ext cx="3202260" cy="365760"/>
          </a:xfrm>
          <a:prstGeom prst="roundRect">
            <a:avLst>
              <a:gd name="adj" fmla="val 20000"/>
            </a:avLst>
          </a:prstGeom>
          <a:solidFill>
            <a:srgbClr val="C4963C"/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9" name="Text 26"/>
          <p:cNvSpPr/>
          <p:nvPr/>
        </p:nvSpPr>
        <p:spPr>
          <a:xfrm>
            <a:off x="10405872" y="3849624"/>
            <a:ext cx="7315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2C3E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~ -45%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896112" y="4288536"/>
            <a:ext cx="20116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40" dirty="0">
                <a:solidFill>
                  <a:srgbClr val="2C3E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Iene Japones</a:t>
            </a:r>
            <a:endParaRPr lang="en-US" sz="1040" dirty="0"/>
          </a:p>
        </p:txBody>
      </p:sp>
      <p:sp>
        <p:nvSpPr>
          <p:cNvPr id="31" name="Shape 28"/>
          <p:cNvSpPr/>
          <p:nvPr/>
        </p:nvSpPr>
        <p:spPr>
          <a:xfrm>
            <a:off x="3182112" y="4187952"/>
            <a:ext cx="6995160" cy="365760"/>
          </a:xfrm>
          <a:prstGeom prst="roundRect">
            <a:avLst>
              <a:gd name="adj" fmla="val 20000"/>
            </a:avLst>
          </a:prstGeom>
          <a:solidFill>
            <a:srgbClr val="F5F0E8"/>
          </a:solidFill>
          <a:ln w="7620">
            <a:solidFill>
              <a:srgbClr val="DDD5C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2" name="Shape 29"/>
          <p:cNvSpPr/>
          <p:nvPr/>
        </p:nvSpPr>
        <p:spPr>
          <a:xfrm>
            <a:off x="3182112" y="4187952"/>
            <a:ext cx="2198885" cy="365760"/>
          </a:xfrm>
          <a:prstGeom prst="roundRect">
            <a:avLst>
              <a:gd name="adj" fmla="val 20000"/>
            </a:avLst>
          </a:prstGeom>
          <a:solidFill>
            <a:srgbClr val="C4963C"/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3" name="Text 30"/>
          <p:cNvSpPr/>
          <p:nvPr/>
        </p:nvSpPr>
        <p:spPr>
          <a:xfrm>
            <a:off x="10405872" y="4288536"/>
            <a:ext cx="7315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2C3E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-30,9%</a:t>
            </a:r>
            <a:endParaRPr lang="en-US" sz="1000" dirty="0"/>
          </a:p>
        </p:txBody>
      </p:sp>
      <p:sp>
        <p:nvSpPr>
          <p:cNvPr id="34" name="Text 31"/>
          <p:cNvSpPr/>
          <p:nvPr/>
        </p:nvSpPr>
        <p:spPr>
          <a:xfrm>
            <a:off x="896112" y="4727448"/>
            <a:ext cx="20116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40" dirty="0">
                <a:solidFill>
                  <a:srgbClr val="2C3E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Dolar Australiano</a:t>
            </a:r>
            <a:endParaRPr lang="en-US" sz="1040" dirty="0"/>
          </a:p>
        </p:txBody>
      </p:sp>
      <p:sp>
        <p:nvSpPr>
          <p:cNvPr id="35" name="Shape 32"/>
          <p:cNvSpPr/>
          <p:nvPr/>
        </p:nvSpPr>
        <p:spPr>
          <a:xfrm>
            <a:off x="3182112" y="4626864"/>
            <a:ext cx="6995160" cy="365760"/>
          </a:xfrm>
          <a:prstGeom prst="roundRect">
            <a:avLst>
              <a:gd name="adj" fmla="val 20000"/>
            </a:avLst>
          </a:prstGeom>
          <a:solidFill>
            <a:srgbClr val="F5F0E8"/>
          </a:solidFill>
          <a:ln w="7620">
            <a:solidFill>
              <a:srgbClr val="DDD5C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6" name="Shape 33"/>
          <p:cNvSpPr/>
          <p:nvPr/>
        </p:nvSpPr>
        <p:spPr>
          <a:xfrm>
            <a:off x="3182112" y="4626864"/>
            <a:ext cx="1907124" cy="365760"/>
          </a:xfrm>
          <a:prstGeom prst="roundRect">
            <a:avLst>
              <a:gd name="adj" fmla="val 20000"/>
            </a:avLst>
          </a:prstGeom>
          <a:solidFill>
            <a:srgbClr val="C4963C"/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7" name="Text 34"/>
          <p:cNvSpPr/>
          <p:nvPr/>
        </p:nvSpPr>
        <p:spPr>
          <a:xfrm>
            <a:off x="10405872" y="4727448"/>
            <a:ext cx="7315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2C3E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-26,8%</a:t>
            </a:r>
            <a:endParaRPr lang="en-US" sz="1000" dirty="0"/>
          </a:p>
        </p:txBody>
      </p:sp>
      <p:sp>
        <p:nvSpPr>
          <p:cNvPr id="38" name="Text 35"/>
          <p:cNvSpPr/>
          <p:nvPr/>
        </p:nvSpPr>
        <p:spPr>
          <a:xfrm>
            <a:off x="896112" y="5166360"/>
            <a:ext cx="20116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40" dirty="0">
                <a:solidFill>
                  <a:srgbClr val="2C3E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Peso Mexicano</a:t>
            </a:r>
            <a:endParaRPr lang="en-US" sz="1040" dirty="0"/>
          </a:p>
        </p:txBody>
      </p:sp>
      <p:sp>
        <p:nvSpPr>
          <p:cNvPr id="39" name="Shape 36"/>
          <p:cNvSpPr/>
          <p:nvPr/>
        </p:nvSpPr>
        <p:spPr>
          <a:xfrm>
            <a:off x="3182112" y="5065776"/>
            <a:ext cx="6995160" cy="365760"/>
          </a:xfrm>
          <a:prstGeom prst="roundRect">
            <a:avLst>
              <a:gd name="adj" fmla="val 20000"/>
            </a:avLst>
          </a:prstGeom>
          <a:solidFill>
            <a:srgbClr val="F5F0E8"/>
          </a:solidFill>
          <a:ln w="7620">
            <a:solidFill>
              <a:srgbClr val="DDD5C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0" name="Shape 37"/>
          <p:cNvSpPr/>
          <p:nvPr/>
        </p:nvSpPr>
        <p:spPr>
          <a:xfrm>
            <a:off x="3182112" y="5065776"/>
            <a:ext cx="1750569" cy="365760"/>
          </a:xfrm>
          <a:prstGeom prst="roundRect">
            <a:avLst>
              <a:gd name="adj" fmla="val 20000"/>
            </a:avLst>
          </a:prstGeom>
          <a:solidFill>
            <a:srgbClr val="C4963C"/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1" name="Text 38"/>
          <p:cNvSpPr/>
          <p:nvPr/>
        </p:nvSpPr>
        <p:spPr>
          <a:xfrm>
            <a:off x="10405872" y="5166360"/>
            <a:ext cx="7315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2C3E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-24,6%</a:t>
            </a:r>
            <a:endParaRPr lang="en-US" sz="1000" dirty="0"/>
          </a:p>
        </p:txBody>
      </p:sp>
      <p:sp>
        <p:nvSpPr>
          <p:cNvPr id="42" name="Text 39"/>
          <p:cNvSpPr/>
          <p:nvPr/>
        </p:nvSpPr>
        <p:spPr>
          <a:xfrm>
            <a:off x="896112" y="5605272"/>
            <a:ext cx="20116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40" dirty="0">
                <a:solidFill>
                  <a:srgbClr val="2C3E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Libra Esterlina</a:t>
            </a:r>
            <a:endParaRPr lang="en-US" sz="1040" dirty="0"/>
          </a:p>
        </p:txBody>
      </p:sp>
      <p:sp>
        <p:nvSpPr>
          <p:cNvPr id="43" name="Shape 40"/>
          <p:cNvSpPr/>
          <p:nvPr/>
        </p:nvSpPr>
        <p:spPr>
          <a:xfrm>
            <a:off x="3182112" y="5504688"/>
            <a:ext cx="6995160" cy="365760"/>
          </a:xfrm>
          <a:prstGeom prst="roundRect">
            <a:avLst>
              <a:gd name="adj" fmla="val 20000"/>
            </a:avLst>
          </a:prstGeom>
          <a:solidFill>
            <a:srgbClr val="F5F0E8"/>
          </a:solidFill>
          <a:ln w="7620">
            <a:solidFill>
              <a:srgbClr val="DDD5C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4" name="Shape 41"/>
          <p:cNvSpPr/>
          <p:nvPr/>
        </p:nvSpPr>
        <p:spPr>
          <a:xfrm>
            <a:off x="3182112" y="5504688"/>
            <a:ext cx="1515737" cy="365760"/>
          </a:xfrm>
          <a:prstGeom prst="roundRect">
            <a:avLst>
              <a:gd name="adj" fmla="val 20000"/>
            </a:avLst>
          </a:prstGeom>
          <a:solidFill>
            <a:srgbClr val="C4963C"/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5" name="Text 42"/>
          <p:cNvSpPr/>
          <p:nvPr/>
        </p:nvSpPr>
        <p:spPr>
          <a:xfrm>
            <a:off x="10405872" y="5605272"/>
            <a:ext cx="7315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2C3E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-21,3%</a:t>
            </a:r>
            <a:endParaRPr lang="en-US" sz="1000" dirty="0"/>
          </a:p>
        </p:txBody>
      </p:sp>
      <p:sp>
        <p:nvSpPr>
          <p:cNvPr id="46" name="Text 43"/>
          <p:cNvSpPr/>
          <p:nvPr/>
        </p:nvSpPr>
        <p:spPr>
          <a:xfrm>
            <a:off x="896112" y="6044184"/>
            <a:ext cx="20116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40" dirty="0">
                <a:solidFill>
                  <a:srgbClr val="2C3E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Euro</a:t>
            </a:r>
            <a:endParaRPr lang="en-US" sz="1040" dirty="0"/>
          </a:p>
        </p:txBody>
      </p:sp>
      <p:sp>
        <p:nvSpPr>
          <p:cNvPr id="47" name="Shape 44"/>
          <p:cNvSpPr/>
          <p:nvPr/>
        </p:nvSpPr>
        <p:spPr>
          <a:xfrm>
            <a:off x="3182112" y="5943600"/>
            <a:ext cx="6995160" cy="365760"/>
          </a:xfrm>
          <a:prstGeom prst="roundRect">
            <a:avLst>
              <a:gd name="adj" fmla="val 20000"/>
            </a:avLst>
          </a:prstGeom>
          <a:solidFill>
            <a:srgbClr val="F5F0E8"/>
          </a:solidFill>
          <a:ln w="7620">
            <a:solidFill>
              <a:srgbClr val="DDD5C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8" name="Shape 45"/>
          <p:cNvSpPr/>
          <p:nvPr/>
        </p:nvSpPr>
        <p:spPr>
          <a:xfrm>
            <a:off x="3182112" y="5943600"/>
            <a:ext cx="1280904" cy="365760"/>
          </a:xfrm>
          <a:prstGeom prst="roundRect">
            <a:avLst>
              <a:gd name="adj" fmla="val 20000"/>
            </a:avLst>
          </a:prstGeom>
          <a:solidFill>
            <a:srgbClr val="C4963C"/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9" name="Text 46"/>
          <p:cNvSpPr/>
          <p:nvPr/>
        </p:nvSpPr>
        <p:spPr>
          <a:xfrm>
            <a:off x="10405872" y="6044184"/>
            <a:ext cx="7315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2C3E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~ -18%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1B2A3D"/>
          </a:solidFill>
          <a:ln w="12700">
            <a:solidFill>
              <a:srgbClr val="1B2A3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0" y="310896"/>
            <a:ext cx="12191695" cy="45720"/>
          </a:xfrm>
          <a:prstGeom prst="rect">
            <a:avLst/>
          </a:prstGeom>
          <a:solidFill>
            <a:srgbClr val="C4963C"/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Shape 2"/>
          <p:cNvSpPr/>
          <p:nvPr/>
        </p:nvSpPr>
        <p:spPr>
          <a:xfrm>
            <a:off x="9802368" y="493776"/>
            <a:ext cx="2212848" cy="658368"/>
          </a:xfrm>
          <a:prstGeom prst="roundRect">
            <a:avLst>
              <a:gd name="adj" fmla="val 11111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25400" dist="12700" dir="2700000" algn="bl" rotWithShape="0">
              <a:srgbClr val="1B2A3D">
                <a:alpha val="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pic>
        <p:nvPicPr>
          <p:cNvPr id="5" name="Image 0" descr="C:\Users\Arthur Lauriano\OneDrive - Alta Vista\Documentos\Playground\ApresentacaoOffshore\assets\logos\logo-altavista.sv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566308" y="612648"/>
            <a:ext cx="648393" cy="365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68096" y="713232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C4963C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RETORNOS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155680" y="6400800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B7B8D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10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768096" y="6400800"/>
            <a:ext cx="3291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B8D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Diversificacao Internacional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768096" y="987552"/>
            <a:ext cx="5623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2300" dirty="0">
                <a:solidFill>
                  <a:srgbClr val="1B2A3D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Retornos Globais em Perspectiva</a:t>
            </a:r>
            <a:endParaRPr lang="en-US" sz="2300" dirty="0"/>
          </a:p>
        </p:txBody>
      </p:sp>
      <p:sp>
        <p:nvSpPr>
          <p:cNvPr id="10" name="Shape 7"/>
          <p:cNvSpPr/>
          <p:nvPr/>
        </p:nvSpPr>
        <p:spPr>
          <a:xfrm>
            <a:off x="1481328" y="1901952"/>
            <a:ext cx="9235440" cy="184708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 w="12700">
            <a:solidFill>
              <a:srgbClr val="DDD5C8"/>
            </a:solidFill>
            <a:prstDash val="solid"/>
          </a:ln>
          <a:effectLst>
            <a:outerShdw blurRad="25400" dist="12700" dir="2700000" algn="bl" rotWithShape="0">
              <a:srgbClr val="1B2A3D">
                <a:alpha val="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30764" y="1993392"/>
            <a:ext cx="7936568" cy="144475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609344" y="3529584"/>
            <a:ext cx="897940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B7B8D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CDI vs 60/40 vs S&amp;P 500</a:t>
            </a:r>
            <a:endParaRPr lang="en-US" sz="850" dirty="0"/>
          </a:p>
        </p:txBody>
      </p:sp>
      <p:sp>
        <p:nvSpPr>
          <p:cNvPr id="13" name="Shape 9"/>
          <p:cNvSpPr/>
          <p:nvPr/>
        </p:nvSpPr>
        <p:spPr>
          <a:xfrm>
            <a:off x="1481328" y="3822192"/>
            <a:ext cx="9235440" cy="2048256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2700">
            <a:solidFill>
              <a:srgbClr val="DDD5C8"/>
            </a:solidFill>
            <a:prstDash val="solid"/>
          </a:ln>
          <a:effectLst>
            <a:outerShdw blurRad="25400" dist="12700" dir="2700000" algn="bl" rotWithShape="0">
              <a:srgbClr val="1B2A3D">
                <a:alpha val="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72008" y="3913632"/>
            <a:ext cx="7254081" cy="164592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609344" y="5650992"/>
            <a:ext cx="897940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B7B8D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Evolucao nominal de US$ 100 mil em 20 anos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1B2A3D"/>
          </a:solidFill>
          <a:ln w="12700">
            <a:solidFill>
              <a:srgbClr val="1B2A3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0" y="310896"/>
            <a:ext cx="12191695" cy="45720"/>
          </a:xfrm>
          <a:prstGeom prst="rect">
            <a:avLst/>
          </a:prstGeom>
          <a:solidFill>
            <a:srgbClr val="C4963C"/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Shape 2"/>
          <p:cNvSpPr/>
          <p:nvPr/>
        </p:nvSpPr>
        <p:spPr>
          <a:xfrm>
            <a:off x="9802368" y="493776"/>
            <a:ext cx="2212848" cy="658368"/>
          </a:xfrm>
          <a:prstGeom prst="roundRect">
            <a:avLst>
              <a:gd name="adj" fmla="val 11111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25400" dist="12700" dir="2700000" algn="bl" rotWithShape="0">
              <a:srgbClr val="1B2A3D">
                <a:alpha val="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pic>
        <p:nvPicPr>
          <p:cNvPr id="5" name="Image 0" descr="C:\Users\Arthur Lauriano\OneDrive - Alta Vista\Documentos\Playground\ApresentacaoOffshore\assets\logos\logo-altavista.sv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566308" y="612648"/>
            <a:ext cx="648393" cy="365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68096" y="713232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C4963C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RISCO VS. RETORNO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155680" y="6400800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B7B8D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11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768096" y="6400800"/>
            <a:ext cx="3291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B8D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Diversificacao Internacional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768096" y="987552"/>
            <a:ext cx="5623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2300" dirty="0">
                <a:solidFill>
                  <a:srgbClr val="1B2A3D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Risco vs. Retorno: A Ineficiência dos Ativos Brasileiros</a:t>
            </a:r>
            <a:endParaRPr lang="en-US" sz="2300" dirty="0"/>
          </a:p>
        </p:txBody>
      </p:sp>
      <p:sp>
        <p:nvSpPr>
          <p:cNvPr id="10" name="Shape 7"/>
          <p:cNvSpPr/>
          <p:nvPr/>
        </p:nvSpPr>
        <p:spPr>
          <a:xfrm>
            <a:off x="1880558" y="1865376"/>
            <a:ext cx="8436634" cy="4425696"/>
          </a:xfrm>
          <a:prstGeom prst="roundRect">
            <a:avLst>
              <a:gd name="adj" fmla="val 1653"/>
            </a:avLst>
          </a:prstGeom>
          <a:solidFill>
            <a:srgbClr val="FFFFFF"/>
          </a:solidFill>
          <a:ln w="12700">
            <a:solidFill>
              <a:srgbClr val="DDD5C8"/>
            </a:solidFill>
            <a:prstDash val="solid"/>
          </a:ln>
          <a:effectLst>
            <a:outerShdw blurRad="25400" dist="12700" dir="2700000" algn="bl" rotWithShape="0">
              <a:srgbClr val="1B2A3D">
                <a:alpha val="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3121" y="1956816"/>
            <a:ext cx="8171855" cy="424281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1B2A3D"/>
          </a:solidFill>
          <a:ln w="12700">
            <a:solidFill>
              <a:srgbClr val="1B2A3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0" y="310896"/>
            <a:ext cx="12191695" cy="45720"/>
          </a:xfrm>
          <a:prstGeom prst="rect">
            <a:avLst/>
          </a:prstGeom>
          <a:solidFill>
            <a:srgbClr val="C4963C"/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Shape 2"/>
          <p:cNvSpPr/>
          <p:nvPr/>
        </p:nvSpPr>
        <p:spPr>
          <a:xfrm>
            <a:off x="9802368" y="493776"/>
            <a:ext cx="2212848" cy="658368"/>
          </a:xfrm>
          <a:prstGeom prst="roundRect">
            <a:avLst>
              <a:gd name="adj" fmla="val 11111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25400" dist="12700" dir="2700000" algn="bl" rotWithShape="0">
              <a:srgbClr val="1B2A3D">
                <a:alpha val="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pic>
        <p:nvPicPr>
          <p:cNvPr id="5" name="Image 0" descr="C:\Users\Arthur Lauriano\OneDrive - Alta Vista\Documentos\Playground\ApresentacaoOffshore\assets\logos\logo-altavista.sv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566308" y="612648"/>
            <a:ext cx="648393" cy="365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68096" y="713232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C4963C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PROTECAO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155680" y="6400800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B7B8D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12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768096" y="6400800"/>
            <a:ext cx="3291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B8D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Diversificacao Internacional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768096" y="987552"/>
            <a:ext cx="5623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2300" dirty="0">
                <a:solidFill>
                  <a:srgbClr val="1B2A3D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O Dólar como Proteção em Momentos de Crise</a:t>
            </a:r>
            <a:endParaRPr lang="en-US" sz="2300" dirty="0"/>
          </a:p>
        </p:txBody>
      </p:sp>
      <p:sp>
        <p:nvSpPr>
          <p:cNvPr id="10" name="Shape 7"/>
          <p:cNvSpPr/>
          <p:nvPr/>
        </p:nvSpPr>
        <p:spPr>
          <a:xfrm>
            <a:off x="1133856" y="1865376"/>
            <a:ext cx="9930384" cy="4425696"/>
          </a:xfrm>
          <a:prstGeom prst="roundRect">
            <a:avLst>
              <a:gd name="adj" fmla="val 1653"/>
            </a:avLst>
          </a:prstGeom>
          <a:solidFill>
            <a:srgbClr val="FFFFFF"/>
          </a:solidFill>
          <a:ln w="12700">
            <a:solidFill>
              <a:srgbClr val="DDD5C8"/>
            </a:solidFill>
            <a:prstDash val="solid"/>
          </a:ln>
          <a:effectLst>
            <a:outerShdw blurRad="25400" dist="12700" dir="2700000" algn="bl" rotWithShape="0">
              <a:srgbClr val="1B2A3D">
                <a:alpha val="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25296" y="2014143"/>
            <a:ext cx="9747504" cy="4128161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1B2A3D"/>
          </a:solidFill>
          <a:ln w="12700">
            <a:solidFill>
              <a:srgbClr val="1B2A3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0" y="310896"/>
            <a:ext cx="12191695" cy="45720"/>
          </a:xfrm>
          <a:prstGeom prst="rect">
            <a:avLst/>
          </a:prstGeom>
          <a:solidFill>
            <a:srgbClr val="C4963C"/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Shape 2"/>
          <p:cNvSpPr/>
          <p:nvPr/>
        </p:nvSpPr>
        <p:spPr>
          <a:xfrm>
            <a:off x="9802368" y="493776"/>
            <a:ext cx="2212848" cy="658368"/>
          </a:xfrm>
          <a:prstGeom prst="roundRect">
            <a:avLst>
              <a:gd name="adj" fmla="val 11111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25400" dist="12700" dir="2700000" algn="bl" rotWithShape="0">
              <a:srgbClr val="1B2A3D">
                <a:alpha val="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pic>
        <p:nvPicPr>
          <p:cNvPr id="5" name="Image 0" descr="C:\Users\Arthur Lauriano\OneDrive - Alta Vista\Documentos\Playground\ApresentacaoOffshore\assets\logos\logo-altavista.sv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566308" y="612648"/>
            <a:ext cx="648393" cy="365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68096" y="713232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C4963C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ACESSO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155680" y="6400800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B7B8D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13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768096" y="6400800"/>
            <a:ext cx="3291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B8D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Diversificacao Internacional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768096" y="987552"/>
            <a:ext cx="5623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2300" dirty="0">
                <a:solidFill>
                  <a:srgbClr val="1B2A3D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O que Mudou: De Privilégio a Acessível</a:t>
            </a:r>
            <a:endParaRPr lang="en-US" sz="2300" dirty="0"/>
          </a:p>
        </p:txBody>
      </p:sp>
      <p:sp>
        <p:nvSpPr>
          <p:cNvPr id="10" name="Shape 7"/>
          <p:cNvSpPr/>
          <p:nvPr/>
        </p:nvSpPr>
        <p:spPr>
          <a:xfrm>
            <a:off x="1335024" y="2761488"/>
            <a:ext cx="9738360" cy="0"/>
          </a:xfrm>
          <a:prstGeom prst="line">
            <a:avLst/>
          </a:prstGeom>
          <a:noFill/>
          <a:ln w="25400">
            <a:solidFill>
              <a:srgbClr val="C4963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Shape 8"/>
          <p:cNvSpPr/>
          <p:nvPr/>
        </p:nvSpPr>
        <p:spPr>
          <a:xfrm>
            <a:off x="1188720" y="2615184"/>
            <a:ext cx="292608" cy="292608"/>
          </a:xfrm>
          <a:prstGeom prst="ellipse">
            <a:avLst/>
          </a:prstGeom>
          <a:solidFill>
            <a:srgbClr val="1B2A3D"/>
          </a:solidFill>
          <a:ln w="17780">
            <a:solidFill>
              <a:srgbClr val="D4A94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2" name="Text 9"/>
          <p:cNvSpPr/>
          <p:nvPr/>
        </p:nvSpPr>
        <p:spPr>
          <a:xfrm>
            <a:off x="740664" y="2157984"/>
            <a:ext cx="1188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20" b="1" dirty="0">
                <a:solidFill>
                  <a:srgbClr val="C4963C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Antes de 2018</a:t>
            </a:r>
            <a:endParaRPr lang="en-US" sz="920" dirty="0"/>
          </a:p>
        </p:txBody>
      </p:sp>
      <p:sp>
        <p:nvSpPr>
          <p:cNvPr id="13" name="Shape 10"/>
          <p:cNvSpPr/>
          <p:nvPr/>
        </p:nvSpPr>
        <p:spPr>
          <a:xfrm>
            <a:off x="237744" y="3072384"/>
            <a:ext cx="2194560" cy="2249424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DDD5C8"/>
            </a:solidFill>
            <a:prstDash val="solid"/>
          </a:ln>
          <a:effectLst>
            <a:outerShdw blurRad="25400" dist="12700" dir="2700000" algn="bl" rotWithShape="0">
              <a:srgbClr val="1B2A3D">
                <a:alpha val="4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4" name="Text 11"/>
          <p:cNvSpPr/>
          <p:nvPr/>
        </p:nvSpPr>
        <p:spPr>
          <a:xfrm>
            <a:off x="402336" y="3273552"/>
            <a:ext cx="1865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 algn="ctr">
              <a:buNone/>
            </a:pPr>
            <a:r>
              <a:rPr lang="en-US" sz="1340" dirty="0">
                <a:solidFill>
                  <a:srgbClr val="1B2A3D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Mercado restrito</a:t>
            </a:r>
            <a:endParaRPr lang="en-US" sz="1340" dirty="0"/>
          </a:p>
        </p:txBody>
      </p:sp>
      <p:sp>
        <p:nvSpPr>
          <p:cNvPr id="15" name="Text 12"/>
          <p:cNvSpPr/>
          <p:nvPr/>
        </p:nvSpPr>
        <p:spPr>
          <a:xfrm>
            <a:off x="402336" y="3657600"/>
            <a:ext cx="186537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20" dirty="0">
                <a:solidFill>
                  <a:srgbClr val="2C3E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Exterior era assunto de clientes private, com minimos altos e processo operacional pesado.</a:t>
            </a:r>
            <a:endParaRPr lang="en-US" sz="1020" dirty="0"/>
          </a:p>
        </p:txBody>
      </p:sp>
      <p:sp>
        <p:nvSpPr>
          <p:cNvPr id="16" name="Shape 13"/>
          <p:cNvSpPr/>
          <p:nvPr/>
        </p:nvSpPr>
        <p:spPr>
          <a:xfrm>
            <a:off x="4434840" y="2615184"/>
            <a:ext cx="292608" cy="292608"/>
          </a:xfrm>
          <a:prstGeom prst="ellipse">
            <a:avLst/>
          </a:prstGeom>
          <a:solidFill>
            <a:srgbClr val="1B2A3D"/>
          </a:solidFill>
          <a:ln w="17780">
            <a:solidFill>
              <a:srgbClr val="D4A94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7" name="Text 14"/>
          <p:cNvSpPr/>
          <p:nvPr/>
        </p:nvSpPr>
        <p:spPr>
          <a:xfrm>
            <a:off x="3986784" y="2157984"/>
            <a:ext cx="1188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20" b="1" dirty="0">
                <a:solidFill>
                  <a:srgbClr val="C4963C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2018-2021</a:t>
            </a:r>
            <a:endParaRPr lang="en-US" sz="920" dirty="0"/>
          </a:p>
        </p:txBody>
      </p:sp>
      <p:sp>
        <p:nvSpPr>
          <p:cNvPr id="18" name="Shape 15"/>
          <p:cNvSpPr/>
          <p:nvPr/>
        </p:nvSpPr>
        <p:spPr>
          <a:xfrm>
            <a:off x="3483864" y="3072384"/>
            <a:ext cx="2194560" cy="2249424"/>
          </a:xfrm>
          <a:prstGeom prst="roundRect">
            <a:avLst>
              <a:gd name="adj" fmla="val 3333"/>
            </a:avLst>
          </a:prstGeom>
          <a:solidFill>
            <a:srgbClr val="F5F0E8"/>
          </a:solidFill>
          <a:ln w="12700">
            <a:solidFill>
              <a:srgbClr val="DDD5C8"/>
            </a:solidFill>
            <a:prstDash val="solid"/>
          </a:ln>
          <a:effectLst>
            <a:outerShdw blurRad="25400" dist="12700" dir="2700000" algn="bl" rotWithShape="0">
              <a:srgbClr val="1B2A3D">
                <a:alpha val="4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9" name="Text 16"/>
          <p:cNvSpPr/>
          <p:nvPr/>
        </p:nvSpPr>
        <p:spPr>
          <a:xfrm>
            <a:off x="3648456" y="3273552"/>
            <a:ext cx="1865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 algn="ctr">
              <a:buNone/>
            </a:pPr>
            <a:r>
              <a:rPr lang="en-US" sz="1340" dirty="0">
                <a:solidFill>
                  <a:srgbClr val="1B2A3D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Primeira abertura</a:t>
            </a:r>
            <a:endParaRPr lang="en-US" sz="1340" dirty="0"/>
          </a:p>
        </p:txBody>
      </p:sp>
      <p:sp>
        <p:nvSpPr>
          <p:cNvPr id="20" name="Text 17"/>
          <p:cNvSpPr/>
          <p:nvPr/>
        </p:nvSpPr>
        <p:spPr>
          <a:xfrm>
            <a:off x="3648456" y="3657600"/>
            <a:ext cx="186537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20" dirty="0">
                <a:solidFill>
                  <a:srgbClr val="2C3E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Plataformas focadas no investidor brasileiro comecam a reduzir barreiras e simplificar a entrada.</a:t>
            </a:r>
            <a:endParaRPr lang="en-US" sz="1020" dirty="0"/>
          </a:p>
        </p:txBody>
      </p:sp>
      <p:sp>
        <p:nvSpPr>
          <p:cNvPr id="21" name="Shape 18"/>
          <p:cNvSpPr/>
          <p:nvPr/>
        </p:nvSpPr>
        <p:spPr>
          <a:xfrm>
            <a:off x="7680960" y="2615184"/>
            <a:ext cx="292608" cy="292608"/>
          </a:xfrm>
          <a:prstGeom prst="ellipse">
            <a:avLst/>
          </a:prstGeom>
          <a:solidFill>
            <a:srgbClr val="1B2A3D"/>
          </a:solidFill>
          <a:ln w="17780">
            <a:solidFill>
              <a:srgbClr val="D4A94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2" name="Text 19"/>
          <p:cNvSpPr/>
          <p:nvPr/>
        </p:nvSpPr>
        <p:spPr>
          <a:xfrm>
            <a:off x="7232904" y="2157984"/>
            <a:ext cx="1188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20" b="1" dirty="0">
                <a:solidFill>
                  <a:srgbClr val="C4963C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2022-2024</a:t>
            </a:r>
            <a:endParaRPr lang="en-US" sz="920" dirty="0"/>
          </a:p>
        </p:txBody>
      </p:sp>
      <p:sp>
        <p:nvSpPr>
          <p:cNvPr id="23" name="Shape 20"/>
          <p:cNvSpPr/>
          <p:nvPr/>
        </p:nvSpPr>
        <p:spPr>
          <a:xfrm>
            <a:off x="6729984" y="3072384"/>
            <a:ext cx="2194560" cy="2249424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DDD5C8"/>
            </a:solidFill>
            <a:prstDash val="solid"/>
          </a:ln>
          <a:effectLst>
            <a:outerShdw blurRad="25400" dist="12700" dir="2700000" algn="bl" rotWithShape="0">
              <a:srgbClr val="1B2A3D">
                <a:alpha val="4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24" name="Text 21"/>
          <p:cNvSpPr/>
          <p:nvPr/>
        </p:nvSpPr>
        <p:spPr>
          <a:xfrm>
            <a:off x="6894576" y="3273552"/>
            <a:ext cx="1865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 algn="ctr">
              <a:buNone/>
            </a:pPr>
            <a:r>
              <a:rPr lang="en-US" sz="1340" dirty="0">
                <a:solidFill>
                  <a:srgbClr val="1B2A3D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Infraestrutura melhora</a:t>
            </a:r>
            <a:endParaRPr lang="en-US" sz="1340" dirty="0"/>
          </a:p>
        </p:txBody>
      </p:sp>
      <p:sp>
        <p:nvSpPr>
          <p:cNvPr id="25" name="Text 22"/>
          <p:cNvSpPr/>
          <p:nvPr/>
        </p:nvSpPr>
        <p:spPr>
          <a:xfrm>
            <a:off x="6894576" y="3657600"/>
            <a:ext cx="186537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20" dirty="0">
                <a:solidFill>
                  <a:srgbClr val="2C3E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Cambio mais fluido, integracao com apps brasileiros e acesso mais amplo a mutual funds, bonds e treasuries.</a:t>
            </a:r>
            <a:endParaRPr lang="en-US" sz="1020" dirty="0"/>
          </a:p>
        </p:txBody>
      </p:sp>
      <p:sp>
        <p:nvSpPr>
          <p:cNvPr id="26" name="Shape 23"/>
          <p:cNvSpPr/>
          <p:nvPr/>
        </p:nvSpPr>
        <p:spPr>
          <a:xfrm>
            <a:off x="10927080" y="2615184"/>
            <a:ext cx="292608" cy="292608"/>
          </a:xfrm>
          <a:prstGeom prst="ellipse">
            <a:avLst/>
          </a:prstGeom>
          <a:solidFill>
            <a:srgbClr val="1B2A3D"/>
          </a:solidFill>
          <a:ln w="17780">
            <a:solidFill>
              <a:srgbClr val="D4A94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7" name="Text 24"/>
          <p:cNvSpPr/>
          <p:nvPr/>
        </p:nvSpPr>
        <p:spPr>
          <a:xfrm>
            <a:off x="10479024" y="2157984"/>
            <a:ext cx="1188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20" b="1" dirty="0">
                <a:solidFill>
                  <a:srgbClr val="C4963C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2025-Hoje</a:t>
            </a:r>
            <a:endParaRPr lang="en-US" sz="920" dirty="0"/>
          </a:p>
        </p:txBody>
      </p:sp>
      <p:sp>
        <p:nvSpPr>
          <p:cNvPr id="28" name="Shape 25"/>
          <p:cNvSpPr/>
          <p:nvPr/>
        </p:nvSpPr>
        <p:spPr>
          <a:xfrm>
            <a:off x="9976104" y="3072384"/>
            <a:ext cx="2194560" cy="2249424"/>
          </a:xfrm>
          <a:prstGeom prst="roundRect">
            <a:avLst>
              <a:gd name="adj" fmla="val 3333"/>
            </a:avLst>
          </a:prstGeom>
          <a:solidFill>
            <a:srgbClr val="F5F0E8"/>
          </a:solidFill>
          <a:ln w="12700">
            <a:solidFill>
              <a:srgbClr val="DDD5C8"/>
            </a:solidFill>
            <a:prstDash val="solid"/>
          </a:ln>
          <a:effectLst>
            <a:outerShdw blurRad="25400" dist="12700" dir="2700000" algn="bl" rotWithShape="0">
              <a:srgbClr val="1B2A3D">
                <a:alpha val="4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29" name="Text 26"/>
          <p:cNvSpPr/>
          <p:nvPr/>
        </p:nvSpPr>
        <p:spPr>
          <a:xfrm>
            <a:off x="10140696" y="3273552"/>
            <a:ext cx="1865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 algn="ctr">
              <a:buNone/>
            </a:pPr>
            <a:r>
              <a:rPr lang="en-US" sz="1340" dirty="0">
                <a:solidFill>
                  <a:srgbClr val="1B2A3D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Acesso virou rotina</a:t>
            </a:r>
            <a:endParaRPr lang="en-US" sz="1340" dirty="0"/>
          </a:p>
        </p:txBody>
      </p:sp>
      <p:sp>
        <p:nvSpPr>
          <p:cNvPr id="30" name="Text 27"/>
          <p:cNvSpPr/>
          <p:nvPr/>
        </p:nvSpPr>
        <p:spPr>
          <a:xfrm>
            <a:off x="10140696" y="3657600"/>
            <a:ext cx="186537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20" dirty="0">
                <a:solidFill>
                  <a:srgbClr val="2C3E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Conta mais simples, relatorios de IR, alternativas sem estate tax e assessoria para perfis diferentes.</a:t>
            </a:r>
            <a:endParaRPr lang="en-US" sz="102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1B2A3D"/>
          </a:solidFill>
          <a:ln w="12700">
            <a:solidFill>
              <a:srgbClr val="1B2A3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0" y="310896"/>
            <a:ext cx="12191695" cy="45720"/>
          </a:xfrm>
          <a:prstGeom prst="rect">
            <a:avLst/>
          </a:prstGeom>
          <a:solidFill>
            <a:srgbClr val="C4963C"/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Shape 2"/>
          <p:cNvSpPr/>
          <p:nvPr/>
        </p:nvSpPr>
        <p:spPr>
          <a:xfrm>
            <a:off x="9802368" y="493776"/>
            <a:ext cx="2212848" cy="658368"/>
          </a:xfrm>
          <a:prstGeom prst="roundRect">
            <a:avLst>
              <a:gd name="adj" fmla="val 11111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25400" dist="12700" dir="2700000" algn="bl" rotWithShape="0">
              <a:srgbClr val="1B2A3D">
                <a:alpha val="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pic>
        <p:nvPicPr>
          <p:cNvPr id="5" name="Image 0" descr="C:\Users\Arthur Lauriano\OneDrive - Alta Vista\Documentos\Playground\ApresentacaoOffshore\assets\logos\logo-altavista.sv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566308" y="612648"/>
            <a:ext cx="648393" cy="365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68096" y="713232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C4963C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TRIBUTACAO E SUCESSAO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155680" y="6400800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B7B8D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14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768096" y="6400800"/>
            <a:ext cx="3291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B8D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Diversificacao Internacional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768096" y="987552"/>
            <a:ext cx="5623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2300" dirty="0">
                <a:solidFill>
                  <a:srgbClr val="1B2A3D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Tributação e Sucessão: O Problema que Também Ficou Mais Simples</a:t>
            </a:r>
            <a:endParaRPr lang="en-US" sz="2300" dirty="0"/>
          </a:p>
        </p:txBody>
      </p:sp>
      <p:sp>
        <p:nvSpPr>
          <p:cNvPr id="10" name="Text 7"/>
          <p:cNvSpPr/>
          <p:nvPr/>
        </p:nvSpPr>
        <p:spPr>
          <a:xfrm>
            <a:off x="786384" y="1874520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6B7B8D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Hoje a conversa ficou objetiva: aliquota, dividendos, estate tax e TOD.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768096" y="2615184"/>
            <a:ext cx="2546604" cy="2240280"/>
          </a:xfrm>
          <a:prstGeom prst="roundRect">
            <a:avLst>
              <a:gd name="adj" fmla="val 3265"/>
            </a:avLst>
          </a:prstGeom>
          <a:solidFill>
            <a:srgbClr val="FFFFFF"/>
          </a:solidFill>
          <a:ln w="12700">
            <a:solidFill>
              <a:srgbClr val="DDD5C8"/>
            </a:solidFill>
            <a:prstDash val="solid"/>
          </a:ln>
          <a:effectLst>
            <a:outerShdw blurRad="25400" dist="12700" dir="2700000" algn="bl" rotWithShape="0">
              <a:srgbClr val="1B2A3D">
                <a:alpha val="6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2" name="Text 9"/>
          <p:cNvSpPr/>
          <p:nvPr/>
        </p:nvSpPr>
        <p:spPr>
          <a:xfrm>
            <a:off x="950976" y="3108960"/>
            <a:ext cx="21808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 algn="ctr">
              <a:buNone/>
            </a:pPr>
            <a:r>
              <a:rPr lang="en-US" sz="2200" dirty="0">
                <a:solidFill>
                  <a:srgbClr val="C4963C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15%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932688" y="3922776"/>
            <a:ext cx="22174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2C3E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Ganho de capital sobre o saldo liquido anual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3479292" y="2615184"/>
            <a:ext cx="2546604" cy="2240280"/>
          </a:xfrm>
          <a:prstGeom prst="roundRect">
            <a:avLst>
              <a:gd name="adj" fmla="val 3265"/>
            </a:avLst>
          </a:prstGeom>
          <a:solidFill>
            <a:srgbClr val="F5F0E8"/>
          </a:solidFill>
          <a:ln w="12700">
            <a:solidFill>
              <a:srgbClr val="DDD5C8"/>
            </a:solidFill>
            <a:prstDash val="solid"/>
          </a:ln>
          <a:effectLst>
            <a:outerShdw blurRad="25400" dist="12700" dir="2700000" algn="bl" rotWithShape="0">
              <a:srgbClr val="1B2A3D">
                <a:alpha val="6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5" name="Text 12"/>
          <p:cNvSpPr/>
          <p:nvPr/>
        </p:nvSpPr>
        <p:spPr>
          <a:xfrm>
            <a:off x="3662172" y="3108960"/>
            <a:ext cx="21808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 algn="ctr">
              <a:buNone/>
            </a:pPr>
            <a:r>
              <a:rPr lang="en-US" sz="2200" dirty="0">
                <a:solidFill>
                  <a:srgbClr val="C4963C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30%</a:t>
            </a:r>
            <a:endParaRPr lang="en-US" sz="2200" dirty="0"/>
          </a:p>
        </p:txBody>
      </p:sp>
      <p:sp>
        <p:nvSpPr>
          <p:cNvPr id="16" name="Text 13"/>
          <p:cNvSpPr/>
          <p:nvPr/>
        </p:nvSpPr>
        <p:spPr>
          <a:xfrm>
            <a:off x="3643884" y="3922776"/>
            <a:ext cx="22174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2C3E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Retencao na fonte sobre dividendos de acoes, ETFs e REITs dos EUA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190488" y="2615184"/>
            <a:ext cx="2546604" cy="2240280"/>
          </a:xfrm>
          <a:prstGeom prst="roundRect">
            <a:avLst>
              <a:gd name="adj" fmla="val 3265"/>
            </a:avLst>
          </a:prstGeom>
          <a:solidFill>
            <a:srgbClr val="FFFFFF"/>
          </a:solidFill>
          <a:ln w="12700">
            <a:solidFill>
              <a:srgbClr val="DDD5C8"/>
            </a:solidFill>
            <a:prstDash val="solid"/>
          </a:ln>
          <a:effectLst>
            <a:outerShdw blurRad="25400" dist="12700" dir="2700000" algn="bl" rotWithShape="0">
              <a:srgbClr val="1B2A3D">
                <a:alpha val="6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8" name="Text 15"/>
          <p:cNvSpPr/>
          <p:nvPr/>
        </p:nvSpPr>
        <p:spPr>
          <a:xfrm>
            <a:off x="6373368" y="3108960"/>
            <a:ext cx="21808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 algn="ctr">
              <a:buNone/>
            </a:pPr>
            <a:r>
              <a:rPr lang="en-US" sz="2200" dirty="0">
                <a:solidFill>
                  <a:srgbClr val="C4963C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US$ 60 mil</a:t>
            </a:r>
            <a:endParaRPr lang="en-US" sz="2200" dirty="0"/>
          </a:p>
        </p:txBody>
      </p:sp>
      <p:sp>
        <p:nvSpPr>
          <p:cNvPr id="19" name="Text 16"/>
          <p:cNvSpPr/>
          <p:nvPr/>
        </p:nvSpPr>
        <p:spPr>
          <a:xfrm>
            <a:off x="6355080" y="3922776"/>
            <a:ext cx="22174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2C3E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Faixa em que ativos de raiz americana entram no radar do estate tax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8901684" y="2615184"/>
            <a:ext cx="2546604" cy="2240280"/>
          </a:xfrm>
          <a:prstGeom prst="roundRect">
            <a:avLst>
              <a:gd name="adj" fmla="val 3265"/>
            </a:avLst>
          </a:prstGeom>
          <a:solidFill>
            <a:srgbClr val="F5F0E8"/>
          </a:solidFill>
          <a:ln w="12700">
            <a:solidFill>
              <a:srgbClr val="DDD5C8"/>
            </a:solidFill>
            <a:prstDash val="solid"/>
          </a:ln>
          <a:effectLst>
            <a:outerShdw blurRad="25400" dist="12700" dir="2700000" algn="bl" rotWithShape="0">
              <a:srgbClr val="1B2A3D">
                <a:alpha val="6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21" name="Text 18"/>
          <p:cNvSpPr/>
          <p:nvPr/>
        </p:nvSpPr>
        <p:spPr>
          <a:xfrm>
            <a:off x="9084564" y="3108960"/>
            <a:ext cx="21808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 algn="ctr">
              <a:buNone/>
            </a:pPr>
            <a:r>
              <a:rPr lang="en-US" sz="2200" dirty="0">
                <a:solidFill>
                  <a:srgbClr val="C4963C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TOD</a:t>
            </a:r>
            <a:endParaRPr lang="en-US" sz="2200" dirty="0"/>
          </a:p>
        </p:txBody>
      </p:sp>
      <p:sp>
        <p:nvSpPr>
          <p:cNvPr id="22" name="Text 19"/>
          <p:cNvSpPr/>
          <p:nvPr/>
        </p:nvSpPr>
        <p:spPr>
          <a:xfrm>
            <a:off x="9066276" y="3922776"/>
            <a:ext cx="22174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2C3E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Designacao da conta para agilizar a transferencia sucessoria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1B2A3D"/>
          </a:solidFill>
          <a:ln w="12700">
            <a:solidFill>
              <a:srgbClr val="1B2A3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0" y="310896"/>
            <a:ext cx="12191695" cy="45720"/>
          </a:xfrm>
          <a:prstGeom prst="rect">
            <a:avLst/>
          </a:prstGeom>
          <a:solidFill>
            <a:srgbClr val="C4963C"/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Shape 2"/>
          <p:cNvSpPr/>
          <p:nvPr/>
        </p:nvSpPr>
        <p:spPr>
          <a:xfrm>
            <a:off x="9802368" y="493776"/>
            <a:ext cx="2212848" cy="658368"/>
          </a:xfrm>
          <a:prstGeom prst="roundRect">
            <a:avLst>
              <a:gd name="adj" fmla="val 11111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25400" dist="12700" dir="2700000" algn="bl" rotWithShape="0">
              <a:srgbClr val="1B2A3D">
                <a:alpha val="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pic>
        <p:nvPicPr>
          <p:cNvPr id="5" name="Image 0" descr="C:\Users\Arthur Lauriano\OneDrive - Alta Vista\Documentos\Playground\ApresentacaoOffshore\assets\logos\logo-altavista.sv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566308" y="612648"/>
            <a:ext cx="648393" cy="365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68096" y="713232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C4963C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ESTATE TAX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155680" y="6400800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B7B8D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18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768096" y="6400800"/>
            <a:ext cx="3291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B8D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Diversificacao Internacional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768096" y="987552"/>
            <a:ext cx="5623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2300" dirty="0">
                <a:solidFill>
                  <a:srgbClr val="1B2A3D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Estate Tax: como funciona para ativos de raiz americana</a:t>
            </a:r>
            <a:endParaRPr lang="en-US" sz="2300" dirty="0"/>
          </a:p>
        </p:txBody>
      </p:sp>
      <p:sp>
        <p:nvSpPr>
          <p:cNvPr id="10" name="Shape 7"/>
          <p:cNvSpPr/>
          <p:nvPr/>
        </p:nvSpPr>
        <p:spPr>
          <a:xfrm>
            <a:off x="1975104" y="1901952"/>
            <a:ext cx="8247888" cy="4407408"/>
          </a:xfrm>
          <a:prstGeom prst="roundRect">
            <a:avLst>
              <a:gd name="adj" fmla="val 1660"/>
            </a:avLst>
          </a:prstGeom>
          <a:solidFill>
            <a:srgbClr val="FFFFFF"/>
          </a:solidFill>
          <a:ln w="12700">
            <a:solidFill>
              <a:srgbClr val="DDD5C8"/>
            </a:solidFill>
            <a:prstDash val="solid"/>
          </a:ln>
          <a:effectLst>
            <a:outerShdw blurRad="25400" dist="12700" dir="2700000" algn="bl" rotWithShape="0">
              <a:srgbClr val="1B2A3D">
                <a:alpha val="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pic>
        <p:nvPicPr>
          <p:cNvPr id="11" name="Image 1" descr="C:\Users\Arthur Lauriano\OneDrive - Alta Vista\Documentos\Playground\ApresentacaoOffshore\assets\Estate ta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66544" y="2055517"/>
            <a:ext cx="8065008" cy="4100277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1B2A3D"/>
          </a:solidFill>
          <a:ln w="12700">
            <a:solidFill>
              <a:srgbClr val="1B2A3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0" y="310896"/>
            <a:ext cx="12191695" cy="45720"/>
          </a:xfrm>
          <a:prstGeom prst="rect">
            <a:avLst/>
          </a:prstGeom>
          <a:solidFill>
            <a:srgbClr val="C4963C"/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Shape 2"/>
          <p:cNvSpPr/>
          <p:nvPr/>
        </p:nvSpPr>
        <p:spPr>
          <a:xfrm>
            <a:off x="9802368" y="493776"/>
            <a:ext cx="2212848" cy="658368"/>
          </a:xfrm>
          <a:prstGeom prst="roundRect">
            <a:avLst>
              <a:gd name="adj" fmla="val 11111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25400" dist="12700" dir="2700000" algn="bl" rotWithShape="0">
              <a:srgbClr val="1B2A3D">
                <a:alpha val="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pic>
        <p:nvPicPr>
          <p:cNvPr id="5" name="Image 0" descr="C:\Users\Arthur Lauriano\OneDrive - Alta Vista\Documentos\Playground\ApresentacaoOffshore\assets\logos\logo-altavista.sv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566308" y="612648"/>
            <a:ext cx="648393" cy="365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68096" y="713232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C4963C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ESTATE TAX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155680" y="6400800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B7B8D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16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768096" y="6400800"/>
            <a:ext cx="3291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B8D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Diversificacao Internacional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768096" y="987552"/>
            <a:ext cx="5623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2300" dirty="0">
                <a:solidFill>
                  <a:srgbClr val="1B2A3D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Quais ativos entram no Estate Tax e quais ficam fora</a:t>
            </a:r>
            <a:endParaRPr lang="en-US" sz="2300" dirty="0"/>
          </a:p>
        </p:txBody>
      </p:sp>
      <p:sp>
        <p:nvSpPr>
          <p:cNvPr id="10" name="Shape 7"/>
          <p:cNvSpPr/>
          <p:nvPr/>
        </p:nvSpPr>
        <p:spPr>
          <a:xfrm>
            <a:off x="768096" y="2011680"/>
            <a:ext cx="5239512" cy="4160520"/>
          </a:xfrm>
          <a:prstGeom prst="roundRect">
            <a:avLst>
              <a:gd name="adj" fmla="val 1758"/>
            </a:avLst>
          </a:prstGeom>
          <a:solidFill>
            <a:srgbClr val="FDECEB"/>
          </a:solidFill>
          <a:ln w="12700">
            <a:solidFill>
              <a:srgbClr val="B75449"/>
            </a:solidFill>
            <a:prstDash val="solid"/>
          </a:ln>
          <a:effectLst>
            <a:outerShdw blurRad="25400" dist="12700" dir="2700000" algn="bl" rotWithShape="0">
              <a:srgbClr val="1B2A3D">
                <a:alpha val="6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1" name="Text 8"/>
          <p:cNvSpPr/>
          <p:nvPr/>
        </p:nvSpPr>
        <p:spPr>
          <a:xfrm>
            <a:off x="914400" y="2157984"/>
            <a:ext cx="19202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60" b="1" dirty="0">
                <a:solidFill>
                  <a:srgbClr val="B7544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Sujeitos</a:t>
            </a:r>
            <a:endParaRPr lang="en-US" sz="760" dirty="0"/>
          </a:p>
        </p:txBody>
      </p:sp>
      <p:sp>
        <p:nvSpPr>
          <p:cNvPr id="12" name="Text 9"/>
          <p:cNvSpPr/>
          <p:nvPr/>
        </p:nvSpPr>
        <p:spPr>
          <a:xfrm>
            <a:off x="914400" y="2340864"/>
            <a:ext cx="4946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1B2A3D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Entram no estate tax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914400" y="2761488"/>
            <a:ext cx="4946904" cy="32644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40" dirty="0">
                <a:solidFill>
                  <a:srgbClr val="2C3E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Acoes americanas, ETFs domiciliados nos EUA e REITs entram na base de calculo para nao residentes.</a:t>
            </a:r>
            <a:endParaRPr lang="en-US" sz="1140" dirty="0"/>
          </a:p>
        </p:txBody>
      </p:sp>
      <p:sp>
        <p:nvSpPr>
          <p:cNvPr id="14" name="Shape 11"/>
          <p:cNvSpPr/>
          <p:nvPr/>
        </p:nvSpPr>
        <p:spPr>
          <a:xfrm>
            <a:off x="6208776" y="2011680"/>
            <a:ext cx="5239512" cy="4160520"/>
          </a:xfrm>
          <a:prstGeom prst="roundRect">
            <a:avLst>
              <a:gd name="adj" fmla="val 1758"/>
            </a:avLst>
          </a:prstGeom>
          <a:solidFill>
            <a:srgbClr val="EEF7F1"/>
          </a:solidFill>
          <a:ln w="12700">
            <a:solidFill>
              <a:srgbClr val="5B9A74"/>
            </a:solidFill>
            <a:prstDash val="solid"/>
          </a:ln>
          <a:effectLst>
            <a:outerShdw blurRad="25400" dist="12700" dir="2700000" algn="bl" rotWithShape="0">
              <a:srgbClr val="1B2A3D">
                <a:alpha val="6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5" name="Text 12"/>
          <p:cNvSpPr/>
          <p:nvPr/>
        </p:nvSpPr>
        <p:spPr>
          <a:xfrm>
            <a:off x="6355080" y="2157984"/>
            <a:ext cx="19202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60" b="1" dirty="0">
                <a:solidFill>
                  <a:srgbClr val="5B9A74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Nao sujeitos</a:t>
            </a:r>
            <a:endParaRPr lang="en-US" sz="760" dirty="0"/>
          </a:p>
        </p:txBody>
      </p:sp>
      <p:sp>
        <p:nvSpPr>
          <p:cNvPr id="16" name="Text 13"/>
          <p:cNvSpPr/>
          <p:nvPr/>
        </p:nvSpPr>
        <p:spPr>
          <a:xfrm>
            <a:off x="6355080" y="2340864"/>
            <a:ext cx="4946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1B2A3D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Ficam fora desse risco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6355080" y="2761488"/>
            <a:ext cx="4946904" cy="32644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40" dirty="0">
                <a:solidFill>
                  <a:srgbClr val="2C3E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Mutual Funds Irlanda/Luxemburgo, bonds individuais, Treasuries e CDs ajudam a afastar o risco sucessorio.</a:t>
            </a:r>
            <a:endParaRPr lang="en-US" sz="114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1B2A3D"/>
          </a:solidFill>
          <a:ln w="12700">
            <a:solidFill>
              <a:srgbClr val="1B2A3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0" y="310896"/>
            <a:ext cx="12191695" cy="45720"/>
          </a:xfrm>
          <a:prstGeom prst="rect">
            <a:avLst/>
          </a:prstGeom>
          <a:solidFill>
            <a:srgbClr val="C4963C"/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Shape 2"/>
          <p:cNvSpPr/>
          <p:nvPr/>
        </p:nvSpPr>
        <p:spPr>
          <a:xfrm>
            <a:off x="9802368" y="493776"/>
            <a:ext cx="2212848" cy="658368"/>
          </a:xfrm>
          <a:prstGeom prst="roundRect">
            <a:avLst>
              <a:gd name="adj" fmla="val 11111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25400" dist="12700" dir="2700000" algn="bl" rotWithShape="0">
              <a:srgbClr val="1B2A3D">
                <a:alpha val="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pic>
        <p:nvPicPr>
          <p:cNvPr id="5" name="Image 0" descr="C:\Users\Arthur Lauriano\OneDrive - Alta Vista\Documentos\Playground\ApresentacaoOffshore\assets\logos\logo-altavista.sv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566308" y="612648"/>
            <a:ext cx="648393" cy="365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68096" y="713232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C4963C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ESTATE TAX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155680" y="6400800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B7B8D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17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768096" y="6400800"/>
            <a:ext cx="3291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B8D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Diversificacao Internacional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768096" y="987552"/>
            <a:ext cx="5623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2300" dirty="0">
                <a:solidFill>
                  <a:srgbClr val="1B2A3D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O imposto incide apenas sobre o excedente acima de US$ 60 mil</a:t>
            </a:r>
            <a:endParaRPr lang="en-US" sz="2300" dirty="0"/>
          </a:p>
        </p:txBody>
      </p:sp>
      <p:sp>
        <p:nvSpPr>
          <p:cNvPr id="10" name="Shape 7"/>
          <p:cNvSpPr/>
          <p:nvPr/>
        </p:nvSpPr>
        <p:spPr>
          <a:xfrm>
            <a:off x="768096" y="1993392"/>
            <a:ext cx="10680192" cy="3566160"/>
          </a:xfrm>
          <a:prstGeom prst="roundRect">
            <a:avLst>
              <a:gd name="adj" fmla="val 1538"/>
            </a:avLst>
          </a:prstGeom>
          <a:solidFill>
            <a:srgbClr val="FFFFFF"/>
          </a:solidFill>
          <a:ln w="12700">
            <a:solidFill>
              <a:srgbClr val="DDD5C8"/>
            </a:solidFill>
            <a:prstDash val="solid"/>
          </a:ln>
          <a:effectLst>
            <a:outerShdw blurRad="25400" dist="12700" dir="2700000" algn="bl" rotWithShape="0">
              <a:srgbClr val="1B2A3D">
                <a:alpha val="5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1" name="Shape 8"/>
          <p:cNvSpPr/>
          <p:nvPr/>
        </p:nvSpPr>
        <p:spPr>
          <a:xfrm>
            <a:off x="768096" y="1993392"/>
            <a:ext cx="10680192" cy="402336"/>
          </a:xfrm>
          <a:prstGeom prst="rect">
            <a:avLst/>
          </a:prstGeom>
          <a:solidFill>
            <a:srgbClr val="1B2A3D"/>
          </a:solidFill>
          <a:ln w="12700">
            <a:solidFill>
              <a:srgbClr val="1B2A3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2" name="Text 9"/>
          <p:cNvSpPr/>
          <p:nvPr/>
        </p:nvSpPr>
        <p:spPr>
          <a:xfrm>
            <a:off x="877824" y="2121408"/>
            <a:ext cx="51206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Base tributavel acima de US$ 60 mil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6217920" y="2121408"/>
            <a:ext cx="51206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Aliquota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877824" y="2487168"/>
            <a:ext cx="5120640" cy="990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60" dirty="0">
                <a:solidFill>
                  <a:srgbClr val="2C3E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Ate US$ 10 mil</a:t>
            </a:r>
            <a:endParaRPr lang="en-US" sz="1060" dirty="0"/>
          </a:p>
        </p:txBody>
      </p:sp>
      <p:sp>
        <p:nvSpPr>
          <p:cNvPr id="15" name="Shape 12"/>
          <p:cNvSpPr/>
          <p:nvPr/>
        </p:nvSpPr>
        <p:spPr>
          <a:xfrm>
            <a:off x="6108192" y="2395728"/>
            <a:ext cx="0" cy="263652"/>
          </a:xfrm>
          <a:prstGeom prst="line">
            <a:avLst/>
          </a:prstGeom>
          <a:noFill/>
          <a:ln w="12700">
            <a:solidFill>
              <a:srgbClr val="DDD5C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6" name="Text 13"/>
          <p:cNvSpPr/>
          <p:nvPr/>
        </p:nvSpPr>
        <p:spPr>
          <a:xfrm>
            <a:off x="6217920" y="2487168"/>
            <a:ext cx="5120640" cy="990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60" dirty="0">
                <a:solidFill>
                  <a:srgbClr val="2C3E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18%</a:t>
            </a:r>
            <a:endParaRPr lang="en-US" sz="1060" dirty="0"/>
          </a:p>
        </p:txBody>
      </p:sp>
      <p:sp>
        <p:nvSpPr>
          <p:cNvPr id="17" name="Shape 14"/>
          <p:cNvSpPr/>
          <p:nvPr/>
        </p:nvSpPr>
        <p:spPr>
          <a:xfrm>
            <a:off x="768096" y="2659380"/>
            <a:ext cx="10680192" cy="0"/>
          </a:xfrm>
          <a:prstGeom prst="line">
            <a:avLst/>
          </a:prstGeom>
          <a:noFill/>
          <a:ln w="12700">
            <a:solidFill>
              <a:srgbClr val="DDD5C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8" name="Text 15"/>
          <p:cNvSpPr/>
          <p:nvPr/>
        </p:nvSpPr>
        <p:spPr>
          <a:xfrm>
            <a:off x="877824" y="2750820"/>
            <a:ext cx="5120640" cy="990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60" dirty="0">
                <a:solidFill>
                  <a:srgbClr val="2C3E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De US$ 10 mil ate US$ 20 mil</a:t>
            </a:r>
            <a:endParaRPr lang="en-US" sz="1060" dirty="0"/>
          </a:p>
        </p:txBody>
      </p:sp>
      <p:sp>
        <p:nvSpPr>
          <p:cNvPr id="19" name="Shape 16"/>
          <p:cNvSpPr/>
          <p:nvPr/>
        </p:nvSpPr>
        <p:spPr>
          <a:xfrm>
            <a:off x="6108192" y="2659380"/>
            <a:ext cx="0" cy="263652"/>
          </a:xfrm>
          <a:prstGeom prst="line">
            <a:avLst/>
          </a:prstGeom>
          <a:noFill/>
          <a:ln w="12700">
            <a:solidFill>
              <a:srgbClr val="DDD5C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0" name="Text 17"/>
          <p:cNvSpPr/>
          <p:nvPr/>
        </p:nvSpPr>
        <p:spPr>
          <a:xfrm>
            <a:off x="6217920" y="2750820"/>
            <a:ext cx="5120640" cy="990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60" dirty="0">
                <a:solidFill>
                  <a:srgbClr val="2C3E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20%</a:t>
            </a:r>
            <a:endParaRPr lang="en-US" sz="1060" dirty="0"/>
          </a:p>
        </p:txBody>
      </p:sp>
      <p:sp>
        <p:nvSpPr>
          <p:cNvPr id="21" name="Shape 18"/>
          <p:cNvSpPr/>
          <p:nvPr/>
        </p:nvSpPr>
        <p:spPr>
          <a:xfrm>
            <a:off x="768096" y="2923032"/>
            <a:ext cx="10680192" cy="0"/>
          </a:xfrm>
          <a:prstGeom prst="line">
            <a:avLst/>
          </a:prstGeom>
          <a:noFill/>
          <a:ln w="12700">
            <a:solidFill>
              <a:srgbClr val="DDD5C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2" name="Text 19"/>
          <p:cNvSpPr/>
          <p:nvPr/>
        </p:nvSpPr>
        <p:spPr>
          <a:xfrm>
            <a:off x="877824" y="3014472"/>
            <a:ext cx="5120640" cy="990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60" dirty="0">
                <a:solidFill>
                  <a:srgbClr val="2C3E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De US$ 20 mil ate US$ 40 mil</a:t>
            </a:r>
            <a:endParaRPr lang="en-US" sz="1060" dirty="0"/>
          </a:p>
        </p:txBody>
      </p:sp>
      <p:sp>
        <p:nvSpPr>
          <p:cNvPr id="23" name="Shape 20"/>
          <p:cNvSpPr/>
          <p:nvPr/>
        </p:nvSpPr>
        <p:spPr>
          <a:xfrm>
            <a:off x="6108192" y="2923032"/>
            <a:ext cx="0" cy="263652"/>
          </a:xfrm>
          <a:prstGeom prst="line">
            <a:avLst/>
          </a:prstGeom>
          <a:noFill/>
          <a:ln w="12700">
            <a:solidFill>
              <a:srgbClr val="DDD5C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4" name="Text 21"/>
          <p:cNvSpPr/>
          <p:nvPr/>
        </p:nvSpPr>
        <p:spPr>
          <a:xfrm>
            <a:off x="6217920" y="3014472"/>
            <a:ext cx="5120640" cy="990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60" dirty="0">
                <a:solidFill>
                  <a:srgbClr val="2C3E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22%</a:t>
            </a:r>
            <a:endParaRPr lang="en-US" sz="1060" dirty="0"/>
          </a:p>
        </p:txBody>
      </p:sp>
      <p:sp>
        <p:nvSpPr>
          <p:cNvPr id="25" name="Shape 22"/>
          <p:cNvSpPr/>
          <p:nvPr/>
        </p:nvSpPr>
        <p:spPr>
          <a:xfrm>
            <a:off x="768096" y="3186684"/>
            <a:ext cx="10680192" cy="0"/>
          </a:xfrm>
          <a:prstGeom prst="line">
            <a:avLst/>
          </a:prstGeom>
          <a:noFill/>
          <a:ln w="12700">
            <a:solidFill>
              <a:srgbClr val="DDD5C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6" name="Text 23"/>
          <p:cNvSpPr/>
          <p:nvPr/>
        </p:nvSpPr>
        <p:spPr>
          <a:xfrm>
            <a:off x="877824" y="3278124"/>
            <a:ext cx="5120640" cy="990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60" dirty="0">
                <a:solidFill>
                  <a:srgbClr val="2C3E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De US$ 40 mil ate US$ 60 mil</a:t>
            </a:r>
            <a:endParaRPr lang="en-US" sz="1060" dirty="0"/>
          </a:p>
        </p:txBody>
      </p:sp>
      <p:sp>
        <p:nvSpPr>
          <p:cNvPr id="27" name="Shape 24"/>
          <p:cNvSpPr/>
          <p:nvPr/>
        </p:nvSpPr>
        <p:spPr>
          <a:xfrm>
            <a:off x="6108192" y="3186684"/>
            <a:ext cx="0" cy="263652"/>
          </a:xfrm>
          <a:prstGeom prst="line">
            <a:avLst/>
          </a:prstGeom>
          <a:noFill/>
          <a:ln w="12700">
            <a:solidFill>
              <a:srgbClr val="DDD5C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8" name="Text 25"/>
          <p:cNvSpPr/>
          <p:nvPr/>
        </p:nvSpPr>
        <p:spPr>
          <a:xfrm>
            <a:off x="6217920" y="3278124"/>
            <a:ext cx="5120640" cy="990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60" dirty="0">
                <a:solidFill>
                  <a:srgbClr val="2C3E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24%</a:t>
            </a:r>
            <a:endParaRPr lang="en-US" sz="1060" dirty="0"/>
          </a:p>
        </p:txBody>
      </p:sp>
      <p:sp>
        <p:nvSpPr>
          <p:cNvPr id="29" name="Shape 26"/>
          <p:cNvSpPr/>
          <p:nvPr/>
        </p:nvSpPr>
        <p:spPr>
          <a:xfrm>
            <a:off x="768096" y="3450336"/>
            <a:ext cx="10680192" cy="0"/>
          </a:xfrm>
          <a:prstGeom prst="line">
            <a:avLst/>
          </a:prstGeom>
          <a:noFill/>
          <a:ln w="12700">
            <a:solidFill>
              <a:srgbClr val="DDD5C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0" name="Text 27"/>
          <p:cNvSpPr/>
          <p:nvPr/>
        </p:nvSpPr>
        <p:spPr>
          <a:xfrm>
            <a:off x="877824" y="3541776"/>
            <a:ext cx="5120640" cy="990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60" dirty="0">
                <a:solidFill>
                  <a:srgbClr val="2C3E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De US$ 60 mil ate US$ 80 mil</a:t>
            </a:r>
            <a:endParaRPr lang="en-US" sz="1060" dirty="0"/>
          </a:p>
        </p:txBody>
      </p:sp>
      <p:sp>
        <p:nvSpPr>
          <p:cNvPr id="31" name="Shape 28"/>
          <p:cNvSpPr/>
          <p:nvPr/>
        </p:nvSpPr>
        <p:spPr>
          <a:xfrm>
            <a:off x="6108192" y="3450336"/>
            <a:ext cx="0" cy="263652"/>
          </a:xfrm>
          <a:prstGeom prst="line">
            <a:avLst/>
          </a:prstGeom>
          <a:noFill/>
          <a:ln w="12700">
            <a:solidFill>
              <a:srgbClr val="DDD5C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2" name="Text 29"/>
          <p:cNvSpPr/>
          <p:nvPr/>
        </p:nvSpPr>
        <p:spPr>
          <a:xfrm>
            <a:off x="6217920" y="3541776"/>
            <a:ext cx="5120640" cy="990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60" dirty="0">
                <a:solidFill>
                  <a:srgbClr val="2C3E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26%</a:t>
            </a:r>
            <a:endParaRPr lang="en-US" sz="1060" dirty="0"/>
          </a:p>
        </p:txBody>
      </p:sp>
      <p:sp>
        <p:nvSpPr>
          <p:cNvPr id="33" name="Shape 30"/>
          <p:cNvSpPr/>
          <p:nvPr/>
        </p:nvSpPr>
        <p:spPr>
          <a:xfrm>
            <a:off x="768096" y="3713988"/>
            <a:ext cx="10680192" cy="0"/>
          </a:xfrm>
          <a:prstGeom prst="line">
            <a:avLst/>
          </a:prstGeom>
          <a:noFill/>
          <a:ln w="12700">
            <a:solidFill>
              <a:srgbClr val="DDD5C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4" name="Text 31"/>
          <p:cNvSpPr/>
          <p:nvPr/>
        </p:nvSpPr>
        <p:spPr>
          <a:xfrm>
            <a:off x="877824" y="3805428"/>
            <a:ext cx="5120640" cy="990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60" dirty="0">
                <a:solidFill>
                  <a:srgbClr val="2C3E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De US$ 80 mil ate US$ 100 mil</a:t>
            </a:r>
            <a:endParaRPr lang="en-US" sz="1060" dirty="0"/>
          </a:p>
        </p:txBody>
      </p:sp>
      <p:sp>
        <p:nvSpPr>
          <p:cNvPr id="35" name="Shape 32"/>
          <p:cNvSpPr/>
          <p:nvPr/>
        </p:nvSpPr>
        <p:spPr>
          <a:xfrm>
            <a:off x="6108192" y="3713988"/>
            <a:ext cx="0" cy="263652"/>
          </a:xfrm>
          <a:prstGeom prst="line">
            <a:avLst/>
          </a:prstGeom>
          <a:noFill/>
          <a:ln w="12700">
            <a:solidFill>
              <a:srgbClr val="DDD5C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6" name="Text 33"/>
          <p:cNvSpPr/>
          <p:nvPr/>
        </p:nvSpPr>
        <p:spPr>
          <a:xfrm>
            <a:off x="6217920" y="3805428"/>
            <a:ext cx="5120640" cy="990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60" dirty="0">
                <a:solidFill>
                  <a:srgbClr val="2C3E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28%</a:t>
            </a:r>
            <a:endParaRPr lang="en-US" sz="1060" dirty="0"/>
          </a:p>
        </p:txBody>
      </p:sp>
      <p:sp>
        <p:nvSpPr>
          <p:cNvPr id="37" name="Shape 34"/>
          <p:cNvSpPr/>
          <p:nvPr/>
        </p:nvSpPr>
        <p:spPr>
          <a:xfrm>
            <a:off x="768096" y="3977640"/>
            <a:ext cx="10680192" cy="0"/>
          </a:xfrm>
          <a:prstGeom prst="line">
            <a:avLst/>
          </a:prstGeom>
          <a:noFill/>
          <a:ln w="12700">
            <a:solidFill>
              <a:srgbClr val="DDD5C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8" name="Text 35"/>
          <p:cNvSpPr/>
          <p:nvPr/>
        </p:nvSpPr>
        <p:spPr>
          <a:xfrm>
            <a:off x="877824" y="4069080"/>
            <a:ext cx="5120640" cy="990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60" dirty="0">
                <a:solidFill>
                  <a:srgbClr val="2C3E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De US$ 100 mil ate US$ 150 mil</a:t>
            </a:r>
            <a:endParaRPr lang="en-US" sz="1060" dirty="0"/>
          </a:p>
        </p:txBody>
      </p:sp>
      <p:sp>
        <p:nvSpPr>
          <p:cNvPr id="39" name="Shape 36"/>
          <p:cNvSpPr/>
          <p:nvPr/>
        </p:nvSpPr>
        <p:spPr>
          <a:xfrm>
            <a:off x="6108192" y="3977640"/>
            <a:ext cx="0" cy="263652"/>
          </a:xfrm>
          <a:prstGeom prst="line">
            <a:avLst/>
          </a:prstGeom>
          <a:noFill/>
          <a:ln w="12700">
            <a:solidFill>
              <a:srgbClr val="DDD5C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0" name="Text 37"/>
          <p:cNvSpPr/>
          <p:nvPr/>
        </p:nvSpPr>
        <p:spPr>
          <a:xfrm>
            <a:off x="6217920" y="4069080"/>
            <a:ext cx="5120640" cy="990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60" dirty="0">
                <a:solidFill>
                  <a:srgbClr val="2C3E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30%</a:t>
            </a:r>
            <a:endParaRPr lang="en-US" sz="1060" dirty="0"/>
          </a:p>
        </p:txBody>
      </p:sp>
      <p:sp>
        <p:nvSpPr>
          <p:cNvPr id="41" name="Shape 38"/>
          <p:cNvSpPr/>
          <p:nvPr/>
        </p:nvSpPr>
        <p:spPr>
          <a:xfrm>
            <a:off x="768096" y="4241292"/>
            <a:ext cx="10680192" cy="0"/>
          </a:xfrm>
          <a:prstGeom prst="line">
            <a:avLst/>
          </a:prstGeom>
          <a:noFill/>
          <a:ln w="12700">
            <a:solidFill>
              <a:srgbClr val="DDD5C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2" name="Text 39"/>
          <p:cNvSpPr/>
          <p:nvPr/>
        </p:nvSpPr>
        <p:spPr>
          <a:xfrm>
            <a:off x="877824" y="4332732"/>
            <a:ext cx="5120640" cy="990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60" dirty="0">
                <a:solidFill>
                  <a:srgbClr val="2C3E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De US$ 150 mil ate US$ 250 mil</a:t>
            </a:r>
            <a:endParaRPr lang="en-US" sz="1060" dirty="0"/>
          </a:p>
        </p:txBody>
      </p:sp>
      <p:sp>
        <p:nvSpPr>
          <p:cNvPr id="43" name="Shape 40"/>
          <p:cNvSpPr/>
          <p:nvPr/>
        </p:nvSpPr>
        <p:spPr>
          <a:xfrm>
            <a:off x="6108192" y="4241292"/>
            <a:ext cx="0" cy="263652"/>
          </a:xfrm>
          <a:prstGeom prst="line">
            <a:avLst/>
          </a:prstGeom>
          <a:noFill/>
          <a:ln w="12700">
            <a:solidFill>
              <a:srgbClr val="DDD5C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4" name="Text 41"/>
          <p:cNvSpPr/>
          <p:nvPr/>
        </p:nvSpPr>
        <p:spPr>
          <a:xfrm>
            <a:off x="6217920" y="4332732"/>
            <a:ext cx="5120640" cy="990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60" dirty="0">
                <a:solidFill>
                  <a:srgbClr val="2C3E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32%</a:t>
            </a:r>
            <a:endParaRPr lang="en-US" sz="1060" dirty="0"/>
          </a:p>
        </p:txBody>
      </p:sp>
      <p:sp>
        <p:nvSpPr>
          <p:cNvPr id="45" name="Shape 42"/>
          <p:cNvSpPr/>
          <p:nvPr/>
        </p:nvSpPr>
        <p:spPr>
          <a:xfrm>
            <a:off x="768096" y="4504944"/>
            <a:ext cx="10680192" cy="0"/>
          </a:xfrm>
          <a:prstGeom prst="line">
            <a:avLst/>
          </a:prstGeom>
          <a:noFill/>
          <a:ln w="12700">
            <a:solidFill>
              <a:srgbClr val="DDD5C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6" name="Text 43"/>
          <p:cNvSpPr/>
          <p:nvPr/>
        </p:nvSpPr>
        <p:spPr>
          <a:xfrm>
            <a:off x="877824" y="4596384"/>
            <a:ext cx="5120640" cy="990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60" dirty="0">
                <a:solidFill>
                  <a:srgbClr val="2C3E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De US$ 250 mil ate US$ 500 mil</a:t>
            </a:r>
            <a:endParaRPr lang="en-US" sz="1060" dirty="0"/>
          </a:p>
        </p:txBody>
      </p:sp>
      <p:sp>
        <p:nvSpPr>
          <p:cNvPr id="47" name="Shape 44"/>
          <p:cNvSpPr/>
          <p:nvPr/>
        </p:nvSpPr>
        <p:spPr>
          <a:xfrm>
            <a:off x="6108192" y="4504944"/>
            <a:ext cx="0" cy="263652"/>
          </a:xfrm>
          <a:prstGeom prst="line">
            <a:avLst/>
          </a:prstGeom>
          <a:noFill/>
          <a:ln w="12700">
            <a:solidFill>
              <a:srgbClr val="DDD5C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8" name="Text 45"/>
          <p:cNvSpPr/>
          <p:nvPr/>
        </p:nvSpPr>
        <p:spPr>
          <a:xfrm>
            <a:off x="6217920" y="4596384"/>
            <a:ext cx="5120640" cy="990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60" dirty="0">
                <a:solidFill>
                  <a:srgbClr val="2C3E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34%</a:t>
            </a:r>
            <a:endParaRPr lang="en-US" sz="1060" dirty="0"/>
          </a:p>
        </p:txBody>
      </p:sp>
      <p:sp>
        <p:nvSpPr>
          <p:cNvPr id="49" name="Shape 46"/>
          <p:cNvSpPr/>
          <p:nvPr/>
        </p:nvSpPr>
        <p:spPr>
          <a:xfrm>
            <a:off x="768096" y="4768596"/>
            <a:ext cx="10680192" cy="0"/>
          </a:xfrm>
          <a:prstGeom prst="line">
            <a:avLst/>
          </a:prstGeom>
          <a:noFill/>
          <a:ln w="12700">
            <a:solidFill>
              <a:srgbClr val="DDD5C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0" name="Text 47"/>
          <p:cNvSpPr/>
          <p:nvPr/>
        </p:nvSpPr>
        <p:spPr>
          <a:xfrm>
            <a:off x="877824" y="4860036"/>
            <a:ext cx="5120640" cy="990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60" dirty="0">
                <a:solidFill>
                  <a:srgbClr val="2C3E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De US$ 500 mil ate US$ 750 mil</a:t>
            </a:r>
            <a:endParaRPr lang="en-US" sz="1060" dirty="0"/>
          </a:p>
        </p:txBody>
      </p:sp>
      <p:sp>
        <p:nvSpPr>
          <p:cNvPr id="51" name="Shape 48"/>
          <p:cNvSpPr/>
          <p:nvPr/>
        </p:nvSpPr>
        <p:spPr>
          <a:xfrm>
            <a:off x="6108192" y="4768596"/>
            <a:ext cx="0" cy="263652"/>
          </a:xfrm>
          <a:prstGeom prst="line">
            <a:avLst/>
          </a:prstGeom>
          <a:noFill/>
          <a:ln w="12700">
            <a:solidFill>
              <a:srgbClr val="DDD5C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2" name="Text 49"/>
          <p:cNvSpPr/>
          <p:nvPr/>
        </p:nvSpPr>
        <p:spPr>
          <a:xfrm>
            <a:off x="6217920" y="4860036"/>
            <a:ext cx="5120640" cy="990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60" dirty="0">
                <a:solidFill>
                  <a:srgbClr val="2C3E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36%</a:t>
            </a:r>
            <a:endParaRPr lang="en-US" sz="1060" dirty="0"/>
          </a:p>
        </p:txBody>
      </p:sp>
      <p:sp>
        <p:nvSpPr>
          <p:cNvPr id="53" name="Shape 50"/>
          <p:cNvSpPr/>
          <p:nvPr/>
        </p:nvSpPr>
        <p:spPr>
          <a:xfrm>
            <a:off x="768096" y="5032248"/>
            <a:ext cx="10680192" cy="0"/>
          </a:xfrm>
          <a:prstGeom prst="line">
            <a:avLst/>
          </a:prstGeom>
          <a:noFill/>
          <a:ln w="12700">
            <a:solidFill>
              <a:srgbClr val="DDD5C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4" name="Text 51"/>
          <p:cNvSpPr/>
          <p:nvPr/>
        </p:nvSpPr>
        <p:spPr>
          <a:xfrm>
            <a:off x="877824" y="5123688"/>
            <a:ext cx="5120640" cy="990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60" dirty="0">
                <a:solidFill>
                  <a:srgbClr val="2C3E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De US$ 750 mil ate US$ 1 milhao</a:t>
            </a:r>
            <a:endParaRPr lang="en-US" sz="1060" dirty="0"/>
          </a:p>
        </p:txBody>
      </p:sp>
      <p:sp>
        <p:nvSpPr>
          <p:cNvPr id="55" name="Shape 52"/>
          <p:cNvSpPr/>
          <p:nvPr/>
        </p:nvSpPr>
        <p:spPr>
          <a:xfrm>
            <a:off x="6108192" y="5032248"/>
            <a:ext cx="0" cy="263652"/>
          </a:xfrm>
          <a:prstGeom prst="line">
            <a:avLst/>
          </a:prstGeom>
          <a:noFill/>
          <a:ln w="12700">
            <a:solidFill>
              <a:srgbClr val="DDD5C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6" name="Text 53"/>
          <p:cNvSpPr/>
          <p:nvPr/>
        </p:nvSpPr>
        <p:spPr>
          <a:xfrm>
            <a:off x="6217920" y="5123688"/>
            <a:ext cx="5120640" cy="990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60" dirty="0">
                <a:solidFill>
                  <a:srgbClr val="2C3E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38%</a:t>
            </a:r>
            <a:endParaRPr lang="en-US" sz="1060" dirty="0"/>
          </a:p>
        </p:txBody>
      </p:sp>
      <p:sp>
        <p:nvSpPr>
          <p:cNvPr id="57" name="Shape 54"/>
          <p:cNvSpPr/>
          <p:nvPr/>
        </p:nvSpPr>
        <p:spPr>
          <a:xfrm>
            <a:off x="768096" y="5295900"/>
            <a:ext cx="10680192" cy="0"/>
          </a:xfrm>
          <a:prstGeom prst="line">
            <a:avLst/>
          </a:prstGeom>
          <a:noFill/>
          <a:ln w="12700">
            <a:solidFill>
              <a:srgbClr val="DDD5C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8" name="Text 55"/>
          <p:cNvSpPr/>
          <p:nvPr/>
        </p:nvSpPr>
        <p:spPr>
          <a:xfrm>
            <a:off x="877824" y="5387340"/>
            <a:ext cx="5120640" cy="990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60" dirty="0">
                <a:solidFill>
                  <a:srgbClr val="2C3E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Acima de US$ 1 milhao</a:t>
            </a:r>
            <a:endParaRPr lang="en-US" sz="1060" dirty="0"/>
          </a:p>
        </p:txBody>
      </p:sp>
      <p:sp>
        <p:nvSpPr>
          <p:cNvPr id="59" name="Shape 56"/>
          <p:cNvSpPr/>
          <p:nvPr/>
        </p:nvSpPr>
        <p:spPr>
          <a:xfrm>
            <a:off x="6108192" y="5295900"/>
            <a:ext cx="0" cy="263652"/>
          </a:xfrm>
          <a:prstGeom prst="line">
            <a:avLst/>
          </a:prstGeom>
          <a:noFill/>
          <a:ln w="12700">
            <a:solidFill>
              <a:srgbClr val="DDD5C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0" name="Text 57"/>
          <p:cNvSpPr/>
          <p:nvPr/>
        </p:nvSpPr>
        <p:spPr>
          <a:xfrm>
            <a:off x="6217920" y="5387340"/>
            <a:ext cx="5120640" cy="990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60" dirty="0">
                <a:solidFill>
                  <a:srgbClr val="2C3E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40%</a:t>
            </a:r>
            <a:endParaRPr lang="en-US" sz="1060" dirty="0"/>
          </a:p>
        </p:txBody>
      </p:sp>
      <p:sp>
        <p:nvSpPr>
          <p:cNvPr id="61" name="Shape 58"/>
          <p:cNvSpPr/>
          <p:nvPr/>
        </p:nvSpPr>
        <p:spPr>
          <a:xfrm>
            <a:off x="768096" y="5650992"/>
            <a:ext cx="10680192" cy="475488"/>
          </a:xfrm>
          <a:prstGeom prst="roundRect">
            <a:avLst>
              <a:gd name="adj" fmla="val 15385"/>
            </a:avLst>
          </a:prstGeom>
          <a:solidFill>
            <a:srgbClr val="F5F0E8"/>
          </a:solidFill>
          <a:ln w="12700">
            <a:solidFill>
              <a:srgbClr val="C4963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2" name="Text 59"/>
          <p:cNvSpPr/>
          <p:nvPr/>
        </p:nvSpPr>
        <p:spPr>
          <a:xfrm>
            <a:off x="932688" y="5797296"/>
            <a:ext cx="103327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20" dirty="0">
                <a:solidFill>
                  <a:srgbClr val="2C3E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Mensagem-chave: o risco nao desaparece porque a carteira e diversificada. O que reduz o problema e a combinacao entre veiculo correto, TOD preenchido e, em alguns casos, estrutura patrimonial.</a:t>
            </a:r>
            <a:endParaRPr lang="en-US" sz="92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1B2A3D"/>
          </a:solidFill>
          <a:ln w="12700">
            <a:solidFill>
              <a:srgbClr val="1B2A3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0" y="310896"/>
            <a:ext cx="12191695" cy="45720"/>
          </a:xfrm>
          <a:prstGeom prst="rect">
            <a:avLst/>
          </a:prstGeom>
          <a:solidFill>
            <a:srgbClr val="C4963C"/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Shape 2"/>
          <p:cNvSpPr/>
          <p:nvPr/>
        </p:nvSpPr>
        <p:spPr>
          <a:xfrm>
            <a:off x="9802368" y="493776"/>
            <a:ext cx="2212848" cy="658368"/>
          </a:xfrm>
          <a:prstGeom prst="roundRect">
            <a:avLst>
              <a:gd name="adj" fmla="val 11111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25400" dist="12700" dir="2700000" algn="bl" rotWithShape="0">
              <a:srgbClr val="1B2A3D">
                <a:alpha val="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pic>
        <p:nvPicPr>
          <p:cNvPr id="5" name="Image 0" descr="C:\Users\Arthur Lauriano\OneDrive - Alta Vista\Documentos\Playground\ApresentacaoOffshore\assets\logos\logo-altavista.sv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566308" y="612648"/>
            <a:ext cx="648393" cy="365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68096" y="713232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C4963C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TRIBUTACAO E SUCESSAO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155680" y="6400800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B7B8D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15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768096" y="6400800"/>
            <a:ext cx="3291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B8D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Diversificacao Internacional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768096" y="987552"/>
            <a:ext cx="5623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2300" dirty="0">
                <a:solidFill>
                  <a:srgbClr val="1B2A3D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Veículo certo simplifica imposto e sucessão</a:t>
            </a:r>
            <a:endParaRPr lang="en-US" sz="2300" dirty="0"/>
          </a:p>
        </p:txBody>
      </p:sp>
      <p:sp>
        <p:nvSpPr>
          <p:cNvPr id="10" name="Shape 7"/>
          <p:cNvSpPr/>
          <p:nvPr/>
        </p:nvSpPr>
        <p:spPr>
          <a:xfrm>
            <a:off x="768096" y="1993392"/>
            <a:ext cx="10680192" cy="4297680"/>
          </a:xfrm>
          <a:prstGeom prst="roundRect">
            <a:avLst>
              <a:gd name="adj" fmla="val 1277"/>
            </a:avLst>
          </a:prstGeom>
          <a:solidFill>
            <a:srgbClr val="FFFFFF"/>
          </a:solidFill>
          <a:ln w="12700">
            <a:solidFill>
              <a:srgbClr val="DDD5C8"/>
            </a:solidFill>
            <a:prstDash val="solid"/>
          </a:ln>
          <a:effectLst>
            <a:outerShdw blurRad="25400" dist="12700" dir="2700000" algn="bl" rotWithShape="0">
              <a:srgbClr val="1B2A3D">
                <a:alpha val="5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1" name="Shape 8"/>
          <p:cNvSpPr/>
          <p:nvPr/>
        </p:nvSpPr>
        <p:spPr>
          <a:xfrm>
            <a:off x="768096" y="1993392"/>
            <a:ext cx="10680192" cy="402336"/>
          </a:xfrm>
          <a:prstGeom prst="rect">
            <a:avLst/>
          </a:prstGeom>
          <a:solidFill>
            <a:srgbClr val="1B2A3D"/>
          </a:solidFill>
          <a:ln w="12700">
            <a:solidFill>
              <a:srgbClr val="1B2A3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2" name="Text 9"/>
          <p:cNvSpPr/>
          <p:nvPr/>
        </p:nvSpPr>
        <p:spPr>
          <a:xfrm>
            <a:off x="877824" y="2121408"/>
            <a:ext cx="334060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Veiculo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4437888" y="2121408"/>
            <a:ext cx="334060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Tributacao principal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7997952" y="2121408"/>
            <a:ext cx="334060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Atencao sucessoria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877824" y="2487168"/>
            <a:ext cx="3340608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2C3E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Mutual Funds Irlanda/Luxemburgo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4328160" y="2395728"/>
            <a:ext cx="0" cy="1298448"/>
          </a:xfrm>
          <a:prstGeom prst="line">
            <a:avLst/>
          </a:prstGeom>
          <a:noFill/>
          <a:ln w="12700">
            <a:solidFill>
              <a:srgbClr val="DDD5C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7" name="Text 14"/>
          <p:cNvSpPr/>
          <p:nvPr/>
        </p:nvSpPr>
        <p:spPr>
          <a:xfrm>
            <a:off x="4437888" y="2487168"/>
            <a:ext cx="3340608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2C3E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Nao distribuem dividendos ao cotista e tendem a ser mais eficientes do que a exposicao direta a ETFs americanos.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7888224" y="2395728"/>
            <a:ext cx="0" cy="1298448"/>
          </a:xfrm>
          <a:prstGeom prst="line">
            <a:avLst/>
          </a:prstGeom>
          <a:noFill/>
          <a:ln w="12700">
            <a:solidFill>
              <a:srgbClr val="DDD5C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9" name="Text 16"/>
          <p:cNvSpPr/>
          <p:nvPr/>
        </p:nvSpPr>
        <p:spPr>
          <a:xfrm>
            <a:off x="7997952" y="2487168"/>
            <a:ext cx="3340608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2C3E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Ficam fora do estate tax americano para nao residentes.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768096" y="3694176"/>
            <a:ext cx="10680192" cy="0"/>
          </a:xfrm>
          <a:prstGeom prst="line">
            <a:avLst/>
          </a:prstGeom>
          <a:noFill/>
          <a:ln w="12700">
            <a:solidFill>
              <a:srgbClr val="DDD5C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1" name="Text 18"/>
          <p:cNvSpPr/>
          <p:nvPr/>
        </p:nvSpPr>
        <p:spPr>
          <a:xfrm>
            <a:off x="877824" y="3785616"/>
            <a:ext cx="3340608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2C3E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Bonds, Treasuries e CDs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4328160" y="3694176"/>
            <a:ext cx="0" cy="1298448"/>
          </a:xfrm>
          <a:prstGeom prst="line">
            <a:avLst/>
          </a:prstGeom>
          <a:noFill/>
          <a:ln w="12700">
            <a:solidFill>
              <a:srgbClr val="DDD5C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3" name="Text 20"/>
          <p:cNvSpPr/>
          <p:nvPr/>
        </p:nvSpPr>
        <p:spPr>
          <a:xfrm>
            <a:off x="4437888" y="3785616"/>
            <a:ext cx="3340608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2C3E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Permitem renda e preservacao em dolar com apuracao objetiva para a pessoa fisica.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7888224" y="3694176"/>
            <a:ext cx="0" cy="1298448"/>
          </a:xfrm>
          <a:prstGeom prst="line">
            <a:avLst/>
          </a:prstGeom>
          <a:noFill/>
          <a:ln w="12700">
            <a:solidFill>
              <a:srgbClr val="DDD5C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5" name="Text 22"/>
          <p:cNvSpPr/>
          <p:nvPr/>
        </p:nvSpPr>
        <p:spPr>
          <a:xfrm>
            <a:off x="7997952" y="3785616"/>
            <a:ext cx="3340608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2C3E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Sao alternativas que nao entram no estate tax americano para nao residentes.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768096" y="4992624"/>
            <a:ext cx="10680192" cy="0"/>
          </a:xfrm>
          <a:prstGeom prst="line">
            <a:avLst/>
          </a:prstGeom>
          <a:noFill/>
          <a:ln w="12700">
            <a:solidFill>
              <a:srgbClr val="DDD5C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7" name="Text 24"/>
          <p:cNvSpPr/>
          <p:nvPr/>
        </p:nvSpPr>
        <p:spPr>
          <a:xfrm>
            <a:off x="877824" y="5084064"/>
            <a:ext cx="3340608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2C3E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Acoes, ETFs e REITs dos EUA</a:t>
            </a:r>
            <a:endParaRPr lang="en-US" sz="950" dirty="0"/>
          </a:p>
        </p:txBody>
      </p:sp>
      <p:sp>
        <p:nvSpPr>
          <p:cNvPr id="28" name="Shape 25"/>
          <p:cNvSpPr/>
          <p:nvPr/>
        </p:nvSpPr>
        <p:spPr>
          <a:xfrm>
            <a:off x="4328160" y="4992624"/>
            <a:ext cx="0" cy="1298448"/>
          </a:xfrm>
          <a:prstGeom prst="line">
            <a:avLst/>
          </a:prstGeom>
          <a:noFill/>
          <a:ln w="12700">
            <a:solidFill>
              <a:srgbClr val="DDD5C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9" name="Text 26"/>
          <p:cNvSpPr/>
          <p:nvPr/>
        </p:nvSpPr>
        <p:spPr>
          <a:xfrm>
            <a:off x="4437888" y="5084064"/>
            <a:ext cx="3340608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2C3E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Dividendos sofrem retencao de 30% na fonte e o ganho de capital entra na regra anual de 15%.</a:t>
            </a:r>
            <a:endParaRPr lang="en-US" sz="950" dirty="0"/>
          </a:p>
        </p:txBody>
      </p:sp>
      <p:sp>
        <p:nvSpPr>
          <p:cNvPr id="30" name="Shape 27"/>
          <p:cNvSpPr/>
          <p:nvPr/>
        </p:nvSpPr>
        <p:spPr>
          <a:xfrm>
            <a:off x="7888224" y="4992624"/>
            <a:ext cx="0" cy="1298448"/>
          </a:xfrm>
          <a:prstGeom prst="line">
            <a:avLst/>
          </a:prstGeom>
          <a:noFill/>
          <a:ln w="12700">
            <a:solidFill>
              <a:srgbClr val="DDD5C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1" name="Text 28"/>
          <p:cNvSpPr/>
          <p:nvPr/>
        </p:nvSpPr>
        <p:spPr>
          <a:xfrm>
            <a:off x="7997952" y="5084064"/>
            <a:ext cx="3340608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2C3E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Entram na base do estate tax acima de US$ 60 mil.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1B2A3D"/>
          </a:solidFill>
          <a:ln w="12700">
            <a:solidFill>
              <a:srgbClr val="1B2A3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0" y="310896"/>
            <a:ext cx="12191695" cy="45720"/>
          </a:xfrm>
          <a:prstGeom prst="rect">
            <a:avLst/>
          </a:prstGeom>
          <a:solidFill>
            <a:srgbClr val="C4963C"/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Shape 2"/>
          <p:cNvSpPr/>
          <p:nvPr/>
        </p:nvSpPr>
        <p:spPr>
          <a:xfrm>
            <a:off x="9802368" y="493776"/>
            <a:ext cx="2212848" cy="658368"/>
          </a:xfrm>
          <a:prstGeom prst="roundRect">
            <a:avLst>
              <a:gd name="adj" fmla="val 11111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25400" dist="12700" dir="2700000" algn="bl" rotWithShape="0">
              <a:srgbClr val="1B2A3D">
                <a:alpha val="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pic>
        <p:nvPicPr>
          <p:cNvPr id="5" name="Image 0" descr="C:\Users\Arthur Lauriano\OneDrive - Alta Vista\Documentos\Playground\ApresentacaoOffshore\assets\logos\logo-altavista.sv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566308" y="612648"/>
            <a:ext cx="648393" cy="365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68096" y="713232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C4963C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TOD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155680" y="6400800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B7B8D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19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768096" y="6400800"/>
            <a:ext cx="3291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B8D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Diversificacao Internacional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768096" y="987552"/>
            <a:ext cx="5623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2300" dirty="0">
                <a:solidFill>
                  <a:srgbClr val="1B2A3D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TOD: a providência básica da conta internacional</a:t>
            </a:r>
            <a:endParaRPr lang="en-US" sz="2300" dirty="0"/>
          </a:p>
        </p:txBody>
      </p:sp>
      <p:sp>
        <p:nvSpPr>
          <p:cNvPr id="10" name="Shape 7"/>
          <p:cNvSpPr/>
          <p:nvPr/>
        </p:nvSpPr>
        <p:spPr>
          <a:xfrm>
            <a:off x="768096" y="2084832"/>
            <a:ext cx="3425952" cy="3730752"/>
          </a:xfrm>
          <a:prstGeom prst="roundRect">
            <a:avLst>
              <a:gd name="adj" fmla="val 2135"/>
            </a:avLst>
          </a:prstGeom>
          <a:solidFill>
            <a:srgbClr val="FFFFFF"/>
          </a:solidFill>
          <a:ln w="12700">
            <a:solidFill>
              <a:srgbClr val="DDD5C8"/>
            </a:solidFill>
            <a:prstDash val="solid"/>
          </a:ln>
          <a:effectLst>
            <a:outerShdw blurRad="25400" dist="12700" dir="2700000" algn="bl" rotWithShape="0">
              <a:srgbClr val="1B2A3D">
                <a:alpha val="5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1" name="Text 8"/>
          <p:cNvSpPr/>
          <p:nvPr/>
        </p:nvSpPr>
        <p:spPr>
          <a:xfrm>
            <a:off x="914400" y="2212848"/>
            <a:ext cx="21945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4963C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914400" y="2468880"/>
            <a:ext cx="31333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1B2A3D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Designacao em vida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914400" y="3090672"/>
            <a:ext cx="3133344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20" dirty="0">
                <a:solidFill>
                  <a:srgbClr val="2C3E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O cliente registra antecipadamente quem recebera os ativos mantidos naquela conta internacional.</a:t>
            </a:r>
            <a:endParaRPr lang="en-US" sz="1120" dirty="0"/>
          </a:p>
        </p:txBody>
      </p:sp>
      <p:sp>
        <p:nvSpPr>
          <p:cNvPr id="14" name="Shape 11"/>
          <p:cNvSpPr/>
          <p:nvPr/>
        </p:nvSpPr>
        <p:spPr>
          <a:xfrm>
            <a:off x="4395216" y="2084832"/>
            <a:ext cx="3425952" cy="3730752"/>
          </a:xfrm>
          <a:prstGeom prst="roundRect">
            <a:avLst>
              <a:gd name="adj" fmla="val 2135"/>
            </a:avLst>
          </a:prstGeom>
          <a:solidFill>
            <a:srgbClr val="FFFFFF"/>
          </a:solidFill>
          <a:ln w="12700">
            <a:solidFill>
              <a:srgbClr val="DDD5C8"/>
            </a:solidFill>
            <a:prstDash val="solid"/>
          </a:ln>
          <a:effectLst>
            <a:outerShdw blurRad="25400" dist="12700" dir="2700000" algn="bl" rotWithShape="0">
              <a:srgbClr val="1B2A3D">
                <a:alpha val="5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5" name="Text 12"/>
          <p:cNvSpPr/>
          <p:nvPr/>
        </p:nvSpPr>
        <p:spPr>
          <a:xfrm>
            <a:off x="4541520" y="2212848"/>
            <a:ext cx="21945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4963C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541520" y="2468880"/>
            <a:ext cx="31333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1B2A3D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Transferencia mais direta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4541520" y="3090672"/>
            <a:ext cx="3133344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20" dirty="0">
                <a:solidFill>
                  <a:srgbClr val="2C3E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 corretora usa essa designacao para encaminhar a transferencia sem exigir o mesmo rito de inventario americano.</a:t>
            </a:r>
            <a:endParaRPr lang="en-US" sz="1120" dirty="0"/>
          </a:p>
        </p:txBody>
      </p:sp>
      <p:sp>
        <p:nvSpPr>
          <p:cNvPr id="18" name="Shape 15"/>
          <p:cNvSpPr/>
          <p:nvPr/>
        </p:nvSpPr>
        <p:spPr>
          <a:xfrm>
            <a:off x="8022336" y="2084832"/>
            <a:ext cx="3425952" cy="3730752"/>
          </a:xfrm>
          <a:prstGeom prst="roundRect">
            <a:avLst>
              <a:gd name="adj" fmla="val 2135"/>
            </a:avLst>
          </a:prstGeom>
          <a:solidFill>
            <a:srgbClr val="FFFFFF"/>
          </a:solidFill>
          <a:ln w="12700">
            <a:solidFill>
              <a:srgbClr val="DDD5C8"/>
            </a:solidFill>
            <a:prstDash val="solid"/>
          </a:ln>
          <a:effectLst>
            <a:outerShdw blurRad="25400" dist="12700" dir="2700000" algn="bl" rotWithShape="0">
              <a:srgbClr val="1B2A3D">
                <a:alpha val="5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9" name="Text 16"/>
          <p:cNvSpPr/>
          <p:nvPr/>
        </p:nvSpPr>
        <p:spPr>
          <a:xfrm>
            <a:off x="8168640" y="2212848"/>
            <a:ext cx="21945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4963C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168640" y="2468880"/>
            <a:ext cx="31333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1B2A3D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Menos custo e demora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8168640" y="3090672"/>
            <a:ext cx="3133344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20" dirty="0">
                <a:solidFill>
                  <a:srgbClr val="2C3E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TOD ajuda a evitar probate e agiliza o processo, mas nao elimina estate tax se a carteira seguir exposta a ativos de raiz americana.</a:t>
            </a:r>
            <a:endParaRPr lang="en-US" sz="112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1B2A3D"/>
          </a:solidFill>
          <a:ln w="12700">
            <a:solidFill>
              <a:srgbClr val="1B2A3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0" y="310896"/>
            <a:ext cx="12191695" cy="45720"/>
          </a:xfrm>
          <a:prstGeom prst="rect">
            <a:avLst/>
          </a:prstGeom>
          <a:solidFill>
            <a:srgbClr val="C4963C"/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Shape 2"/>
          <p:cNvSpPr/>
          <p:nvPr/>
        </p:nvSpPr>
        <p:spPr>
          <a:xfrm>
            <a:off x="9802368" y="493776"/>
            <a:ext cx="2212848" cy="658368"/>
          </a:xfrm>
          <a:prstGeom prst="roundRect">
            <a:avLst>
              <a:gd name="adj" fmla="val 11111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25400" dist="12700" dir="2700000" algn="bl" rotWithShape="0">
              <a:srgbClr val="1B2A3D">
                <a:alpha val="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pic>
        <p:nvPicPr>
          <p:cNvPr id="5" name="Image 0" descr="C:\Users\Arthur Lauriano\OneDrive - Alta Vista\Documentos\Playground\ApresentacaoOffshore\assets\logos\logo-altavista.sv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566308" y="612648"/>
            <a:ext cx="648393" cy="365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68096" y="713232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C4963C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ACESSO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155680" y="6400800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B7B8D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20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768096" y="6400800"/>
            <a:ext cx="3291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B8D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Diversificacao Internacional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768096" y="987552"/>
            <a:ext cx="5623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2300" dirty="0">
                <a:solidFill>
                  <a:srgbClr val="1B2A3D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Hoje existem caminhos diferentes para perfis diferentes</a:t>
            </a:r>
            <a:endParaRPr lang="en-US" sz="2300" dirty="0"/>
          </a:p>
        </p:txBody>
      </p:sp>
      <p:sp>
        <p:nvSpPr>
          <p:cNvPr id="10" name="Shape 7"/>
          <p:cNvSpPr/>
          <p:nvPr/>
        </p:nvSpPr>
        <p:spPr>
          <a:xfrm>
            <a:off x="1883664" y="1938528"/>
            <a:ext cx="8412480" cy="4370832"/>
          </a:xfrm>
          <a:prstGeom prst="roundRect">
            <a:avLst>
              <a:gd name="adj" fmla="val 1674"/>
            </a:avLst>
          </a:prstGeom>
          <a:solidFill>
            <a:srgbClr val="FFFFFF"/>
          </a:solidFill>
          <a:ln w="12700">
            <a:solidFill>
              <a:srgbClr val="DDD5C8"/>
            </a:solidFill>
            <a:prstDash val="solid"/>
          </a:ln>
          <a:effectLst>
            <a:outerShdw blurRad="25400" dist="12700" dir="2700000" algn="bl" rotWithShape="0">
              <a:srgbClr val="1B2A3D">
                <a:alpha val="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pic>
        <p:nvPicPr>
          <p:cNvPr id="11" name="Image 1" descr="C:\Users\Arthur Lauriano\OneDrive - Alta Vista\Documentos\Playground\ApresentacaoOffshore\assets\seguimento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28224" y="2029968"/>
            <a:ext cx="7923360" cy="4187952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1B2A3D"/>
          </a:solidFill>
          <a:ln w="12700">
            <a:solidFill>
              <a:srgbClr val="1B2A3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0" y="310896"/>
            <a:ext cx="12191695" cy="45720"/>
          </a:xfrm>
          <a:prstGeom prst="rect">
            <a:avLst/>
          </a:prstGeom>
          <a:solidFill>
            <a:srgbClr val="C4963C"/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Shape 2"/>
          <p:cNvSpPr/>
          <p:nvPr/>
        </p:nvSpPr>
        <p:spPr>
          <a:xfrm>
            <a:off x="9802368" y="493776"/>
            <a:ext cx="2212848" cy="658368"/>
          </a:xfrm>
          <a:prstGeom prst="roundRect">
            <a:avLst>
              <a:gd name="adj" fmla="val 11111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25400" dist="12700" dir="2700000" algn="bl" rotWithShape="0">
              <a:srgbClr val="1B2A3D">
                <a:alpha val="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pic>
        <p:nvPicPr>
          <p:cNvPr id="5" name="Image 0" descr="C:\Users\Arthur Lauriano\OneDrive - Alta Vista\Documentos\Playground\ApresentacaoOffshore\assets\logos\logo-altavista.sv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566308" y="612648"/>
            <a:ext cx="648393" cy="365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68096" y="713232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C4963C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COMO COMECAR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155680" y="6400800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B7B8D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21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768096" y="6400800"/>
            <a:ext cx="3291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B8D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Diversificacao Internacional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768096" y="987552"/>
            <a:ext cx="5623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2300" dirty="0">
                <a:solidFill>
                  <a:srgbClr val="1B2A3D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Primeiros Passos: Como Começar Sua Diversificação Internacional</a:t>
            </a:r>
            <a:endParaRPr lang="en-US" sz="2300" dirty="0"/>
          </a:p>
        </p:txBody>
      </p:sp>
      <p:sp>
        <p:nvSpPr>
          <p:cNvPr id="10" name="Shape 7"/>
          <p:cNvSpPr/>
          <p:nvPr/>
        </p:nvSpPr>
        <p:spPr>
          <a:xfrm>
            <a:off x="768096" y="2084832"/>
            <a:ext cx="2519172" cy="3730752"/>
          </a:xfrm>
          <a:prstGeom prst="roundRect">
            <a:avLst>
              <a:gd name="adj" fmla="val 2904"/>
            </a:avLst>
          </a:prstGeom>
          <a:solidFill>
            <a:srgbClr val="FFFFFF"/>
          </a:solidFill>
          <a:ln w="12700">
            <a:solidFill>
              <a:srgbClr val="DDD5C8"/>
            </a:solidFill>
            <a:prstDash val="solid"/>
          </a:ln>
          <a:effectLst>
            <a:outerShdw blurRad="25400" dist="12700" dir="2700000" algn="bl" rotWithShape="0">
              <a:srgbClr val="1B2A3D">
                <a:alpha val="5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1" name="Text 8"/>
          <p:cNvSpPr/>
          <p:nvPr/>
        </p:nvSpPr>
        <p:spPr>
          <a:xfrm>
            <a:off x="914400" y="2212848"/>
            <a:ext cx="21945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4963C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914400" y="2468880"/>
            <a:ext cx="222656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1B2A3D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Definir o objetivo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914400" y="3090672"/>
            <a:ext cx="2226564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20" dirty="0">
                <a:solidFill>
                  <a:srgbClr val="2C3E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Decidir se a parcela internacional busca ampliar oportunidades, proteger em moeda forte, gerar renda ou organizar sucessao.</a:t>
            </a:r>
            <a:endParaRPr lang="en-US" sz="1120" dirty="0"/>
          </a:p>
        </p:txBody>
      </p:sp>
      <p:sp>
        <p:nvSpPr>
          <p:cNvPr id="14" name="Shape 11"/>
          <p:cNvSpPr/>
          <p:nvPr/>
        </p:nvSpPr>
        <p:spPr>
          <a:xfrm>
            <a:off x="3488436" y="2084832"/>
            <a:ext cx="2519172" cy="3730752"/>
          </a:xfrm>
          <a:prstGeom prst="roundRect">
            <a:avLst>
              <a:gd name="adj" fmla="val 2904"/>
            </a:avLst>
          </a:prstGeom>
          <a:solidFill>
            <a:srgbClr val="FFFFFF"/>
          </a:solidFill>
          <a:ln w="12700">
            <a:solidFill>
              <a:srgbClr val="DDD5C8"/>
            </a:solidFill>
            <a:prstDash val="solid"/>
          </a:ln>
          <a:effectLst>
            <a:outerShdw blurRad="25400" dist="12700" dir="2700000" algn="bl" rotWithShape="0">
              <a:srgbClr val="1B2A3D">
                <a:alpha val="5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5" name="Text 12"/>
          <p:cNvSpPr/>
          <p:nvPr/>
        </p:nvSpPr>
        <p:spPr>
          <a:xfrm>
            <a:off x="3634740" y="2212848"/>
            <a:ext cx="21945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4963C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634740" y="2468880"/>
            <a:ext cx="222656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1B2A3D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Escolher o caminho simples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3634740" y="3090672"/>
            <a:ext cx="2226564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20" dirty="0">
                <a:solidFill>
                  <a:srgbClr val="2C3E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Na maioria dos casos, conta internacional com mutual funds globais e renda fixa em dolar ja resolve grande parte da necessidade.</a:t>
            </a:r>
            <a:endParaRPr lang="en-US" sz="1120" dirty="0"/>
          </a:p>
        </p:txBody>
      </p:sp>
      <p:sp>
        <p:nvSpPr>
          <p:cNvPr id="18" name="Shape 15"/>
          <p:cNvSpPr/>
          <p:nvPr/>
        </p:nvSpPr>
        <p:spPr>
          <a:xfrm>
            <a:off x="6208776" y="2084832"/>
            <a:ext cx="2519172" cy="3730752"/>
          </a:xfrm>
          <a:prstGeom prst="roundRect">
            <a:avLst>
              <a:gd name="adj" fmla="val 2904"/>
            </a:avLst>
          </a:prstGeom>
          <a:solidFill>
            <a:srgbClr val="FFFFFF"/>
          </a:solidFill>
          <a:ln w="12700">
            <a:solidFill>
              <a:srgbClr val="DDD5C8"/>
            </a:solidFill>
            <a:prstDash val="solid"/>
          </a:ln>
          <a:effectLst>
            <a:outerShdw blurRad="25400" dist="12700" dir="2700000" algn="bl" rotWithShape="0">
              <a:srgbClr val="1B2A3D">
                <a:alpha val="5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9" name="Text 16"/>
          <p:cNvSpPr/>
          <p:nvPr/>
        </p:nvSpPr>
        <p:spPr>
          <a:xfrm>
            <a:off x="6355080" y="2212848"/>
            <a:ext cx="21945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4963C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6355080" y="2468880"/>
            <a:ext cx="222656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1B2A3D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Organizar imposto e sucessao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6355080" y="3090672"/>
            <a:ext cx="2226564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20" dirty="0">
                <a:solidFill>
                  <a:srgbClr val="2C3E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Usar relatorios, preencher TOD e so adicionar complexidade quando o patrimonio realmente pedir.</a:t>
            </a:r>
            <a:endParaRPr lang="en-US" sz="1120" dirty="0"/>
          </a:p>
        </p:txBody>
      </p:sp>
      <p:sp>
        <p:nvSpPr>
          <p:cNvPr id="22" name="Shape 19"/>
          <p:cNvSpPr/>
          <p:nvPr/>
        </p:nvSpPr>
        <p:spPr>
          <a:xfrm>
            <a:off x="8929116" y="2084832"/>
            <a:ext cx="2519172" cy="3730752"/>
          </a:xfrm>
          <a:prstGeom prst="roundRect">
            <a:avLst>
              <a:gd name="adj" fmla="val 2904"/>
            </a:avLst>
          </a:prstGeom>
          <a:solidFill>
            <a:srgbClr val="FFFFFF"/>
          </a:solidFill>
          <a:ln w="12700">
            <a:solidFill>
              <a:srgbClr val="DDD5C8"/>
            </a:solidFill>
            <a:prstDash val="solid"/>
          </a:ln>
          <a:effectLst>
            <a:outerShdw blurRad="25400" dist="12700" dir="2700000" algn="bl" rotWithShape="0">
              <a:srgbClr val="1B2A3D">
                <a:alpha val="5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23" name="Text 20"/>
          <p:cNvSpPr/>
          <p:nvPr/>
        </p:nvSpPr>
        <p:spPr>
          <a:xfrm>
            <a:off x="9075420" y="2212848"/>
            <a:ext cx="21945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4963C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9075420" y="2468880"/>
            <a:ext cx="222656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1B2A3D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Escalar aos poucos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9075420" y="3090672"/>
            <a:ext cx="2226564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20" dirty="0">
                <a:solidFill>
                  <a:srgbClr val="2C3E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 alocacao internacional pode crescer gradualmente, com disciplina e revisao, ate ganhar peso natural no patrimonio.</a:t>
            </a:r>
            <a:endParaRPr lang="en-US" sz="11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DM Serif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ource Sans 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1838</Words>
  <Application>Microsoft Office PowerPoint</Application>
  <PresentationFormat>Widescreen</PresentationFormat>
  <Paragraphs>238</Paragraphs>
  <Slides>21</Slides>
  <Notes>21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21</vt:i4>
      </vt:variant>
    </vt:vector>
  </HeadingPairs>
  <TitlesOfParts>
    <vt:vector size="25" baseType="lpstr">
      <vt:lpstr>Arial</vt:lpstr>
      <vt:lpstr>DM Serif Display</vt:lpstr>
      <vt:lpstr>Source Sans 3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Alta Vista Investimentos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Por que Diversificar Além do Brasil?</dc:title>
  <dc:subject>Por que Diversificar Além do Brasil?</dc:subject>
  <dc:creator>Codex</dc:creator>
  <cp:lastModifiedBy>Artur Lauriano de Oliveira</cp:lastModifiedBy>
  <cp:revision>1</cp:revision>
  <dcterms:created xsi:type="dcterms:W3CDTF">2026-03-30T16:57:38Z</dcterms:created>
  <dcterms:modified xsi:type="dcterms:W3CDTF">2026-03-30T16:59:27Z</dcterms:modified>
</cp:coreProperties>
</file>