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594360"/>
            <a:ext cx="4023360" cy="4023360"/>
          </a:xfrm>
          <a:prstGeom prst="ellipse">
            <a:avLst/>
          </a:prstGeom>
          <a:solidFill>
            <a:srgbClr val="C4963C">
              <a:alpha val="22000"/>
            </a:srgbClr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926080"/>
            <a:ext cx="3291840" cy="3291840"/>
          </a:xfrm>
          <a:prstGeom prst="ellipse">
            <a:avLst/>
          </a:prstGeom>
          <a:solidFill>
            <a:srgbClr val="2980B9">
              <a:alpha val="18000"/>
            </a:srgbClr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32688"/>
            <a:ext cx="3977640" cy="4645152"/>
          </a:xfrm>
          <a:prstGeom prst="roundRect">
            <a:avLst>
              <a:gd name="adj" fmla="val 2069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C4963C">
                <a:alpha val="82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658368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5559" y="768096"/>
            <a:ext cx="453875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1463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9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VISTA INVESTIMENTOS | GUIA DO 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" y="17830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9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Diversificar Alem do Brasil?</a:t>
            </a:r>
            <a:endParaRPr lang="en-US" sz="2995" dirty="0"/>
          </a:p>
        </p:txBody>
      </p:sp>
      <p:sp>
        <p:nvSpPr>
          <p:cNvPr id="9" name="Text 6"/>
          <p:cNvSpPr/>
          <p:nvPr/>
        </p:nvSpPr>
        <p:spPr>
          <a:xfrm>
            <a:off x="786384" y="292608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5" dirty="0">
                <a:solidFill>
                  <a:srgbClr val="F4F1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apresentacao estruturada a partir do HTML original para explicar o custo do vies local, o papel do dolar e como o acesso internacional ficou mais simples.</a:t>
            </a:r>
            <a:endParaRPr lang="en-US" sz="1495" dirty="0"/>
          </a:p>
        </p:txBody>
      </p:sp>
      <p:sp>
        <p:nvSpPr>
          <p:cNvPr id="10" name="Shape 7"/>
          <p:cNvSpPr/>
          <p:nvPr/>
        </p:nvSpPr>
        <p:spPr>
          <a:xfrm>
            <a:off x="768096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real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70048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61488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Protecao em moeda forte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mais simples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72400" y="1225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deck cobre</a:t>
            </a:r>
            <a:endParaRPr lang="en-US" sz="1795" dirty="0"/>
          </a:p>
        </p:txBody>
      </p:sp>
      <p:sp>
        <p:nvSpPr>
          <p:cNvPr id="17" name="Shape 14"/>
          <p:cNvSpPr/>
          <p:nvPr/>
        </p:nvSpPr>
        <p:spPr>
          <a:xfrm>
            <a:off x="7772400" y="1856232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0416" y="1755648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concentrar 100% no Brasil reduz o universo investivel.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7772400" y="2361895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0416" y="2261311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risco Brasil, cambio e setores afetam a carteira.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7772400" y="286755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00416" y="2766974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mudou em acesso, tributacao e sucessao.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7772400" y="3373222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0416" y="3272638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iniciar a alocacao internacional com menos complexidade.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786384" y="6355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Baseado no conteudo do HTML publicado no projeto.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TESE CENTRAL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53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discussao nao e sobre moda, e sobre fronteira de carteira</a:t>
            </a:r>
            <a:endParaRPr lang="en-US" sz="2353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HTML parte de uma ideia simples: investir so no Brasil restringe oportunidades, concentra riscos e deixa a carteira dependente da mesma moeda, dos mesmos setores e do mesmo ciclo domestico.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do vies local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2031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Concentrar 100% do patrimonio no Brasil comprime o universo investivel.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91530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814724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investidor assume risco Brasil sem perceber.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32688" y="4426661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326077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carteira fica dependente de poucos setores e da mesma moeda.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43708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AF5FD"/>
          </a:solidFill>
          <a:ln w="15875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919679"/>
            <a:ext cx="71323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com exterior</a:t>
            </a:r>
            <a:endParaRPr lang="en-US" sz="1745" dirty="0"/>
          </a:p>
        </p:txBody>
      </p:sp>
      <p:sp>
        <p:nvSpPr>
          <p:cNvPr id="23" name="Shape 20"/>
          <p:cNvSpPr/>
          <p:nvPr/>
        </p:nvSpPr>
        <p:spPr>
          <a:xfrm>
            <a:off x="4590288" y="3203143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a empresas, titulos e moedas que o mercado local nao oferece.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4590288" y="3714496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613912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Protecao parcial em crises domesticas e mais opcao de renda em dolar.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4590288" y="4426661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8304" y="4326077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ferramentas para sucessao e planejamento patrimonial.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80284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EF7F1"/>
          </a:solidFill>
          <a:ln w="15875">
            <a:solidFill>
              <a:srgbClr val="27AE60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2919679"/>
            <a:ext cx="713232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Mensagem do material</a:t>
            </a:r>
            <a:endParaRPr lang="en-US" sz="1745" dirty="0"/>
          </a:p>
        </p:txBody>
      </p:sp>
      <p:sp>
        <p:nvSpPr>
          <p:cNvPr id="32" name="Shape 29"/>
          <p:cNvSpPr/>
          <p:nvPr/>
        </p:nvSpPr>
        <p:spPr>
          <a:xfrm>
            <a:off x="8247888" y="3203143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59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Diversificar fora deixou de ser privilegio de poucos.</a:t>
            </a:r>
            <a:endParaRPr lang="en-US" sz="1340" dirty="0"/>
          </a:p>
        </p:txBody>
      </p:sp>
      <p:sp>
        <p:nvSpPr>
          <p:cNvPr id="34" name="Shape 31"/>
          <p:cNvSpPr/>
          <p:nvPr/>
        </p:nvSpPr>
        <p:spPr>
          <a:xfrm>
            <a:off x="8247888" y="3714496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5904" y="3613912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e sucessao ficaram mais administraveis.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8247888" y="4225849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4125265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alocacao pode comecar simples e evoluir com o patrimonio.</a:t>
            </a:r>
            <a:endParaRPr lang="en-US" sz="13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GLOBAL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97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 e uma fatia pequena do mercado global</a:t>
            </a:r>
            <a:endParaRPr lang="en-US" sz="2397" dirty="0"/>
          </a:p>
        </p:txBody>
      </p:sp>
      <p:sp>
        <p:nvSpPr>
          <p:cNvPr id="10" name="Text 7"/>
          <p:cNvSpPr/>
          <p:nvPr/>
        </p:nvSpPr>
        <p:spPr>
          <a:xfrm>
            <a:off x="731520" y="1527048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100% do patrimonio no mercado domestico significa aceitar uma concentracao estrutural em um recorte muito pequeno do mercado mundial de acoes e de renda fixa.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7824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0,4%</a:t>
            </a:r>
            <a:endParaRPr lang="en-US" sz="2195" dirty="0"/>
          </a:p>
        </p:txBody>
      </p:sp>
      <p:sp>
        <p:nvSpPr>
          <p:cNvPr id="13" name="Text 10"/>
          <p:cNvSpPr/>
          <p:nvPr/>
        </p:nvSpPr>
        <p:spPr>
          <a:xfrm>
            <a:off x="877824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 do Brasil no MSCI ACWI</a:t>
            </a:r>
            <a:endParaRPr lang="en-US" sz="1078" dirty="0"/>
          </a:p>
        </p:txBody>
      </p:sp>
      <p:sp>
        <p:nvSpPr>
          <p:cNvPr id="14" name="Shape 11"/>
          <p:cNvSpPr/>
          <p:nvPr/>
        </p:nvSpPr>
        <p:spPr>
          <a:xfrm>
            <a:off x="3447288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5F0E8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11880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4,1%</a:t>
            </a:r>
            <a:endParaRPr lang="en-US" sz="2195" dirty="0"/>
          </a:p>
        </p:txBody>
      </p:sp>
      <p:sp>
        <p:nvSpPr>
          <p:cNvPr id="16" name="Text 13"/>
          <p:cNvSpPr/>
          <p:nvPr/>
        </p:nvSpPr>
        <p:spPr>
          <a:xfrm>
            <a:off x="3611880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5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 no MSCI Mercados Emergentes</a:t>
            </a:r>
            <a:endParaRPr lang="en-US" sz="1075" dirty="0"/>
          </a:p>
        </p:txBody>
      </p:sp>
      <p:sp>
        <p:nvSpPr>
          <p:cNvPr id="17" name="Shape 14"/>
          <p:cNvSpPr/>
          <p:nvPr/>
        </p:nvSpPr>
        <p:spPr>
          <a:xfrm>
            <a:off x="6181344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45936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2,1%</a:t>
            </a:r>
            <a:endParaRPr lang="en-US" sz="2195" dirty="0"/>
          </a:p>
        </p:txBody>
      </p:sp>
      <p:sp>
        <p:nvSpPr>
          <p:cNvPr id="19" name="Text 16"/>
          <p:cNvSpPr/>
          <p:nvPr/>
        </p:nvSpPr>
        <p:spPr>
          <a:xfrm>
            <a:off x="6345936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Participacao no PIB do G20</a:t>
            </a:r>
            <a:endParaRPr lang="en-US" sz="1078" dirty="0"/>
          </a:p>
        </p:txBody>
      </p:sp>
      <p:sp>
        <p:nvSpPr>
          <p:cNvPr id="20" name="Shape 17"/>
          <p:cNvSpPr/>
          <p:nvPr/>
        </p:nvSpPr>
        <p:spPr>
          <a:xfrm>
            <a:off x="8915400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5F0E8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79992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0,6%</a:t>
            </a:r>
            <a:endParaRPr lang="en-US" sz="2195" dirty="0"/>
          </a:p>
        </p:txBody>
      </p:sp>
      <p:sp>
        <p:nvSpPr>
          <p:cNvPr id="22" name="Text 19"/>
          <p:cNvSpPr/>
          <p:nvPr/>
        </p:nvSpPr>
        <p:spPr>
          <a:xfrm>
            <a:off x="9079992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Peso em bonds corporativos globais</a:t>
            </a:r>
            <a:endParaRPr lang="en-US" sz="1078" dirty="0"/>
          </a:p>
        </p:txBody>
      </p:sp>
      <p:sp>
        <p:nvSpPr>
          <p:cNvPr id="23" name="Shape 20"/>
          <p:cNvSpPr/>
          <p:nvPr/>
        </p:nvSpPr>
        <p:spPr>
          <a:xfrm>
            <a:off x="713232" y="3310128"/>
            <a:ext cx="653796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34072" y="3310128"/>
            <a:ext cx="4023360" cy="2578608"/>
          </a:xfrm>
          <a:prstGeom prst="roundRect">
            <a:avLst>
              <a:gd name="adj" fmla="val 2837"/>
            </a:avLst>
          </a:prstGeom>
          <a:solidFill>
            <a:srgbClr val="F5F0E8"/>
          </a:solidFill>
          <a:ln w="13970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32688" y="3566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Leituras-chave</a:t>
            </a:r>
            <a:endParaRPr lang="en-US" sz="1695" dirty="0"/>
          </a:p>
        </p:txBody>
      </p:sp>
      <p:sp>
        <p:nvSpPr>
          <p:cNvPr id="26" name="Shape 23"/>
          <p:cNvSpPr/>
          <p:nvPr/>
        </p:nvSpPr>
        <p:spPr>
          <a:xfrm>
            <a:off x="932688" y="4069080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968496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Ficar so no Brasil equivale a ignorar 99,6% do mercado global de acoes.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932688" y="4434840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0704" y="4334256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Mesmo na renda fixa, o investidor fica restrito a um universo muito pequeno de emissores, ratings e moedas.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32688" y="496747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0704" y="4866894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conforto domestico mascara uma concentracao severa de risco e de oportunidade perdida.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662672" y="358444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Vies local e estrutural</a:t>
            </a:r>
            <a:endParaRPr lang="en-US" sz="1695" dirty="0"/>
          </a:p>
        </p:txBody>
      </p:sp>
      <p:sp>
        <p:nvSpPr>
          <p:cNvPr id="33" name="Text 30"/>
          <p:cNvSpPr/>
          <p:nvPr/>
        </p:nvSpPr>
        <p:spPr>
          <a:xfrm>
            <a:off x="7662672" y="4005072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7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material mostra que a sensacao de diversificacao local engana. A carteira parece ampla em reais, mas continua estreita quando medida contra o mercado global.</a:t>
            </a:r>
            <a:endParaRPr lang="en-US" sz="12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SETORES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mundo mudou de lideranca setorial, o Ibovespa muito menos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comparacao de 25 anos entre Brasil e Estados Unidos reforca que a concentracao domestica nao e so geografica; ela tambem limita exposicao aos setores que mais criaram valor no ciclo recente.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ECEB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Ibovespa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203143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Petrobras, Vale, bancos e commodities seguem dominando a bolsa local.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915308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814724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lista das maiores empresas mudou pouco ao longo de 25 anos.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32688" y="4426661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326077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 global quase nao aparece na carteira brasileira tradicional.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43708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AF5FD"/>
          </a:solidFill>
          <a:ln w="15875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919679"/>
            <a:ext cx="71323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 500</a:t>
            </a:r>
            <a:endParaRPr lang="en-US" sz="1745" dirty="0"/>
          </a:p>
        </p:txBody>
      </p:sp>
      <p:sp>
        <p:nvSpPr>
          <p:cNvPr id="23" name="Shape 20"/>
          <p:cNvSpPr/>
          <p:nvPr/>
        </p:nvSpPr>
        <p:spPr>
          <a:xfrm>
            <a:off x="4590288" y="3203143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NVIDIA, Microsoft, Apple, Amazon e Alphabet lideram a nova economia.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4590288" y="3714496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613912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Semicondutores, software, cloud e plataformas ganharam peso.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4590288" y="4225849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8304" y="4125265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Grande parte da geracao de retorno global veio de fora do Brasil.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80284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Implicacao para a carteira</a:t>
            </a:r>
            <a:endParaRPr lang="en-US" sz="1745" dirty="0"/>
          </a:p>
        </p:txBody>
      </p:sp>
      <p:sp>
        <p:nvSpPr>
          <p:cNvPr id="32" name="Shape 29"/>
          <p:cNvSpPr/>
          <p:nvPr/>
        </p:nvSpPr>
        <p:spPr>
          <a:xfrm>
            <a:off x="8247888" y="32031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59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Ficar so no Brasil reduz exposicao a IA, biotech, cloud e plataformas digitais.</a:t>
            </a:r>
            <a:endParaRPr lang="en-US" sz="1340" dirty="0"/>
          </a:p>
        </p:txBody>
      </p:sp>
      <p:sp>
        <p:nvSpPr>
          <p:cNvPr id="34" name="Shape 31"/>
          <p:cNvSpPr/>
          <p:nvPr/>
        </p:nvSpPr>
        <p:spPr>
          <a:xfrm>
            <a:off x="8247888" y="391530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5904" y="3814724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America Latina representa so 1% do setor global de tecnologia.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8247888" y="4426661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4326077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diversificacao setorial depende de abrir o leque internacional.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RISCO BRASIL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97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CDI parece estavel, mas nao elimina risco Brasil</a:t>
            </a:r>
            <a:endParaRPr lang="en-US" sz="2397" dirty="0"/>
          </a:p>
        </p:txBody>
      </p:sp>
      <p:sp>
        <p:nvSpPr>
          <p:cNvPr id="10" name="Text 7"/>
          <p:cNvSpPr/>
          <p:nvPr/>
        </p:nvSpPr>
        <p:spPr>
          <a:xfrm>
            <a:off x="731520" y="1527048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HTML chama atencao para um ponto recorrente: medir tudo em reais faz o investidor subestimar o risco soberano, o impacto da moeda e a perda de poder de compra em dolar.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7824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141,5</a:t>
            </a:r>
            <a:endParaRPr lang="en-US" sz="2195" dirty="0"/>
          </a:p>
        </p:txBody>
      </p:sp>
      <p:sp>
        <p:nvSpPr>
          <p:cNvPr id="13" name="Text 10"/>
          <p:cNvSpPr/>
          <p:nvPr/>
        </p:nvSpPr>
        <p:spPr>
          <a:xfrm>
            <a:off x="877824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CDS de 5 anos do Brasil</a:t>
            </a:r>
            <a:endParaRPr lang="en-US" sz="1078" dirty="0"/>
          </a:p>
        </p:txBody>
      </p:sp>
      <p:sp>
        <p:nvSpPr>
          <p:cNvPr id="14" name="Shape 11"/>
          <p:cNvSpPr/>
          <p:nvPr/>
        </p:nvSpPr>
        <p:spPr>
          <a:xfrm>
            <a:off x="3447288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5F0E8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11880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BB / Ba1</a:t>
            </a:r>
            <a:endParaRPr lang="en-US" sz="2195" dirty="0"/>
          </a:p>
        </p:txBody>
      </p:sp>
      <p:sp>
        <p:nvSpPr>
          <p:cNvPr id="16" name="Text 13"/>
          <p:cNvSpPr/>
          <p:nvPr/>
        </p:nvSpPr>
        <p:spPr>
          <a:xfrm>
            <a:off x="3611880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soberano atual</a:t>
            </a:r>
            <a:endParaRPr lang="en-US" sz="1078" dirty="0"/>
          </a:p>
        </p:txBody>
      </p:sp>
      <p:sp>
        <p:nvSpPr>
          <p:cNvPr id="17" name="Shape 14"/>
          <p:cNvSpPr/>
          <p:nvPr/>
        </p:nvSpPr>
        <p:spPr>
          <a:xfrm>
            <a:off x="6181344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45936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4</a:t>
            </a:r>
            <a:endParaRPr lang="en-US" sz="2195" dirty="0"/>
          </a:p>
        </p:txBody>
      </p:sp>
      <p:sp>
        <p:nvSpPr>
          <p:cNvPr id="19" name="Text 16"/>
          <p:cNvSpPr/>
          <p:nvPr/>
        </p:nvSpPr>
        <p:spPr>
          <a:xfrm>
            <a:off x="6345936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 os maiores CDS do grupo comparado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8915400" y="2124151"/>
            <a:ext cx="2569464" cy="1078992"/>
          </a:xfrm>
          <a:prstGeom prst="roundRect">
            <a:avLst>
              <a:gd name="adj" fmla="val 6780"/>
            </a:avLst>
          </a:prstGeom>
          <a:solidFill>
            <a:srgbClr val="F5F0E8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79992" y="2288743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BRL</a:t>
            </a:r>
            <a:endParaRPr lang="en-US" sz="2195" dirty="0"/>
          </a:p>
        </p:txBody>
      </p:sp>
      <p:sp>
        <p:nvSpPr>
          <p:cNvPr id="22" name="Text 19"/>
          <p:cNvSpPr/>
          <p:nvPr/>
        </p:nvSpPr>
        <p:spPr>
          <a:xfrm>
            <a:off x="9079992" y="283738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Moeda fragil em ciclos longos</a:t>
            </a:r>
            <a:endParaRPr lang="en-US" sz="1078" dirty="0"/>
          </a:p>
        </p:txBody>
      </p:sp>
      <p:sp>
        <p:nvSpPr>
          <p:cNvPr id="23" name="Shape 20"/>
          <p:cNvSpPr/>
          <p:nvPr/>
        </p:nvSpPr>
        <p:spPr>
          <a:xfrm>
            <a:off x="713232" y="3310128"/>
            <a:ext cx="653796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34072" y="3310128"/>
            <a:ext cx="4023360" cy="2578608"/>
          </a:xfrm>
          <a:prstGeom prst="roundRect">
            <a:avLst>
              <a:gd name="adj" fmla="val 2837"/>
            </a:avLst>
          </a:prstGeom>
          <a:solidFill>
            <a:srgbClr val="F5F0E8"/>
          </a:solidFill>
          <a:ln w="13970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32688" y="3566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isso significa</a:t>
            </a:r>
            <a:endParaRPr lang="en-US" sz="1695" dirty="0"/>
          </a:p>
        </p:txBody>
      </p:sp>
      <p:sp>
        <p:nvSpPr>
          <p:cNvPr id="26" name="Shape 23"/>
          <p:cNvSpPr/>
          <p:nvPr/>
        </p:nvSpPr>
        <p:spPr>
          <a:xfrm>
            <a:off x="932688" y="4069080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3968496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mercado global precifica o Brasil como um risco de credito elevado entre economias relevantes.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932688" y="46017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0704" y="4501134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ganho nominal do CDI pode esconder perda de poder de compra quando a referencia correta e moeda forte.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32688" y="5134356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0704" y="5033772"/>
            <a:ext cx="5824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Risco fiscal, cambial e setorial continuam concentrados na mesma carteira.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662672" y="358444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6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Estabilidade local nao e neutralidade</a:t>
            </a:r>
            <a:endParaRPr lang="en-US" sz="1686" dirty="0"/>
          </a:p>
        </p:txBody>
      </p:sp>
      <p:sp>
        <p:nvSpPr>
          <p:cNvPr id="33" name="Text 30"/>
          <p:cNvSpPr/>
          <p:nvPr/>
        </p:nvSpPr>
        <p:spPr>
          <a:xfrm>
            <a:off x="7662672" y="4005072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7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estabilidade percebida do CDI nao remove o risco do pais nem a volatilidade cambial acumulada no patrimonio medido em dolar.</a:t>
            </a:r>
            <a:endParaRPr lang="en-US" sz="12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RETORNOS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Retornos globais em perspectiva mostram o custo da concentracao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simulacao do material compara tres trajetorias para US$ 100 mil e evidencia como o patrimonio pode crescer em reais, mas ficar para tras frente a ativos globais mais eficientes.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8081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7824" y="2462479"/>
            <a:ext cx="315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US$ 281 mil</a:t>
            </a:r>
            <a:endParaRPr lang="en-US" sz="2195" dirty="0"/>
          </a:p>
        </p:txBody>
      </p:sp>
      <p:sp>
        <p:nvSpPr>
          <p:cNvPr id="13" name="Text 10"/>
          <p:cNvSpPr/>
          <p:nvPr/>
        </p:nvSpPr>
        <p:spPr>
          <a:xfrm>
            <a:off x="877824" y="3011119"/>
            <a:ext cx="315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CDI convertido em dolar</a:t>
            </a:r>
            <a:endParaRPr lang="en-US" sz="1078" dirty="0"/>
          </a:p>
        </p:txBody>
      </p:sp>
      <p:sp>
        <p:nvSpPr>
          <p:cNvPr id="14" name="Shape 11"/>
          <p:cNvSpPr/>
          <p:nvPr/>
        </p:nvSpPr>
        <p:spPr>
          <a:xfrm>
            <a:off x="4358640" y="2297887"/>
            <a:ext cx="3480816" cy="1078992"/>
          </a:xfrm>
          <a:prstGeom prst="roundRect">
            <a:avLst>
              <a:gd name="adj" fmla="val 6780"/>
            </a:avLst>
          </a:prstGeom>
          <a:solidFill>
            <a:srgbClr val="F5F0E8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23232" y="2462479"/>
            <a:ext cx="315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US$ 471 mil</a:t>
            </a:r>
            <a:endParaRPr lang="en-US" sz="2195" dirty="0"/>
          </a:p>
        </p:txBody>
      </p:sp>
      <p:sp>
        <p:nvSpPr>
          <p:cNvPr id="16" name="Text 13"/>
          <p:cNvSpPr/>
          <p:nvPr/>
        </p:nvSpPr>
        <p:spPr>
          <a:xfrm>
            <a:off x="4523232" y="3011119"/>
            <a:ext cx="315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global 60/40</a:t>
            </a:r>
            <a:endParaRPr lang="en-US" sz="1078" dirty="0"/>
          </a:p>
        </p:txBody>
      </p:sp>
      <p:sp>
        <p:nvSpPr>
          <p:cNvPr id="17" name="Shape 14"/>
          <p:cNvSpPr/>
          <p:nvPr/>
        </p:nvSpPr>
        <p:spPr>
          <a:xfrm>
            <a:off x="8004048" y="2297887"/>
            <a:ext cx="3480816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68640" y="2462479"/>
            <a:ext cx="3151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95" dirty="0">
                <a:solidFill>
                  <a:srgbClr val="C49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US$ 807 mil</a:t>
            </a:r>
            <a:endParaRPr lang="en-US" sz="2195" dirty="0"/>
          </a:p>
        </p:txBody>
      </p:sp>
      <p:sp>
        <p:nvSpPr>
          <p:cNvPr id="19" name="Text 16"/>
          <p:cNvSpPr/>
          <p:nvPr/>
        </p:nvSpPr>
        <p:spPr>
          <a:xfrm>
            <a:off x="8168640" y="3011119"/>
            <a:ext cx="315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78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S&amp;P 500</a:t>
            </a:r>
            <a:endParaRPr lang="en-US" sz="1078" dirty="0"/>
          </a:p>
        </p:txBody>
      </p:sp>
      <p:sp>
        <p:nvSpPr>
          <p:cNvPr id="20" name="Shape 17"/>
          <p:cNvSpPr/>
          <p:nvPr/>
        </p:nvSpPr>
        <p:spPr>
          <a:xfrm>
            <a:off x="713232" y="3310128"/>
            <a:ext cx="6537960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34072" y="3310128"/>
            <a:ext cx="4023360" cy="2578608"/>
          </a:xfrm>
          <a:prstGeom prst="roundRect">
            <a:avLst>
              <a:gd name="adj" fmla="val 2837"/>
            </a:avLst>
          </a:prstGeom>
          <a:solidFill>
            <a:srgbClr val="F5F0E8"/>
          </a:solidFill>
          <a:ln w="13970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32688" y="3566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correta dos numeros</a:t>
            </a:r>
            <a:endParaRPr lang="en-US" sz="1695" dirty="0"/>
          </a:p>
        </p:txBody>
      </p:sp>
      <p:sp>
        <p:nvSpPr>
          <p:cNvPr id="23" name="Shape 20"/>
          <p:cNvSpPr/>
          <p:nvPr/>
        </p:nvSpPr>
        <p:spPr>
          <a:xfrm>
            <a:off x="932688" y="4069080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968496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comparacao relevante e em moeda forte, nao apenas em retorno nominal em reais.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32688" y="46017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4501134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Ativos globais entregaram maior acumulacao com menor dependencia do risco Brasil.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2688" y="5134356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5033772"/>
            <a:ext cx="5824728" cy="441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externa pode melhorar retorno esperado e preservar poder de compra no longo prazo.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662672" y="3584448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9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Nao basta ganhar em reais</a:t>
            </a:r>
            <a:endParaRPr lang="en-US" sz="1695" dirty="0"/>
          </a:p>
        </p:txBody>
      </p:sp>
      <p:sp>
        <p:nvSpPr>
          <p:cNvPr id="30" name="Text 27"/>
          <p:cNvSpPr/>
          <p:nvPr/>
        </p:nvSpPr>
        <p:spPr>
          <a:xfrm>
            <a:off x="7662672" y="4005072"/>
            <a:ext cx="3493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97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ponto do HTML e mostrar que patrimonio mais rico em reais ainda pode estar relativamente mais pobre quando comparado a alternativas internacionais mais eficientes.</a:t>
            </a:r>
            <a:endParaRPr lang="en-US" sz="12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PROTECAO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97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Risco-retorno e dolar cumprem papeis complementares</a:t>
            </a:r>
            <a:endParaRPr lang="en-US" sz="2397" dirty="0"/>
          </a:p>
        </p:txBody>
      </p:sp>
      <p:sp>
        <p:nvSpPr>
          <p:cNvPr id="10" name="Text 7"/>
          <p:cNvSpPr/>
          <p:nvPr/>
        </p:nvSpPr>
        <p:spPr>
          <a:xfrm>
            <a:off x="731520" y="1527048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material combina duas mensagens: ativos brasileiros dolarizados tiveram uma relacao risco-retorno inferior, e uma parcela conservadora em dolar historicamente protegeu a carteira nos piores momentos locais.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ECEB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745943"/>
            <a:ext cx="71323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14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Ineficiencia dos ativos brasileiros</a:t>
            </a:r>
            <a:endParaRPr lang="en-US" sz="1614" dirty="0"/>
          </a:p>
        </p:txBody>
      </p:sp>
      <p:sp>
        <p:nvSpPr>
          <p:cNvPr id="14" name="Shape 11"/>
          <p:cNvSpPr/>
          <p:nvPr/>
        </p:nvSpPr>
        <p:spPr>
          <a:xfrm>
            <a:off x="932688" y="3029407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928823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dolar, os ativos brasileiros ficaram na area fraca do grafico risco-retorno.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74157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640988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 volatilidade nao se traduziu em melhor premio de retorno.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32688" y="4252925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152341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Diversificar e melhorar a fronteira eficiente da carteira.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43708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AF5FD"/>
          </a:solidFill>
          <a:ln w="15875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745943"/>
            <a:ext cx="71323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Dolar como hedge</a:t>
            </a:r>
            <a:endParaRPr lang="en-US" sz="1745" dirty="0"/>
          </a:p>
        </p:txBody>
      </p:sp>
      <p:sp>
        <p:nvSpPr>
          <p:cNvPr id="23" name="Shape 20"/>
          <p:cNvSpPr/>
          <p:nvPr/>
        </p:nvSpPr>
        <p:spPr>
          <a:xfrm>
            <a:off x="4590288" y="3029407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2928823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alocacao conservadora em dolar ajudou a equilibrar a carteira em crises locais.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4590288" y="3741572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640988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Protecao cambial e diversificacao setorial nao sao substitutos; eles se somam.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4590288" y="4453738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8304" y="4353154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moeda forte tende a responder quando os ativos locais sofrem.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80284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2745943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Anos emblematicos</a:t>
            </a:r>
            <a:endParaRPr lang="en-US" sz="1745" dirty="0"/>
          </a:p>
        </p:txBody>
      </p:sp>
      <p:sp>
        <p:nvSpPr>
          <p:cNvPr id="32" name="Shape 29"/>
          <p:cNvSpPr/>
          <p:nvPr/>
        </p:nvSpPr>
        <p:spPr>
          <a:xfrm>
            <a:off x="8247888" y="302940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5904" y="2928823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2015: +55% em reais.</a:t>
            </a:r>
            <a:endParaRPr lang="en-US" sz="1340" dirty="0"/>
          </a:p>
        </p:txBody>
      </p:sp>
      <p:sp>
        <p:nvSpPr>
          <p:cNvPr id="34" name="Shape 31"/>
          <p:cNvSpPr/>
          <p:nvPr/>
        </p:nvSpPr>
        <p:spPr>
          <a:xfrm>
            <a:off x="8247888" y="3376879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5904" y="3276295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2020: +34% em reais.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8247888" y="3724351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3623767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2024: +32% em reais.</a:t>
            </a:r>
            <a:endParaRPr lang="en-US" sz="13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acesso internacional saiu do private e virou infraestrutura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Outra tese central do HTML e que a grande mudanca nao foi filosofica; foi operacional. Abertura de conta, cambio, suporte e relatorios ficaram mais integrados ao investidor brasileiro.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796796" y="2151583"/>
            <a:ext cx="402336" cy="402336"/>
          </a:xfrm>
          <a:prstGeom prst="ellipse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88236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877824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</a:t>
            </a:r>
            <a:endParaRPr lang="en-US" sz="1616" dirty="0"/>
          </a:p>
        </p:txBody>
      </p:sp>
      <p:sp>
        <p:nvSpPr>
          <p:cNvPr id="15" name="Shape 12"/>
          <p:cNvSpPr/>
          <p:nvPr/>
        </p:nvSpPr>
        <p:spPr>
          <a:xfrm>
            <a:off x="896112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3193999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Patrimonio minimo elevado.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96112" y="379709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3696513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Documentacao extensa e pouca ajuda local.</a:t>
            </a:r>
            <a:endParaRPr lang="en-US" sz="1280" dirty="0"/>
          </a:p>
        </p:txBody>
      </p:sp>
      <p:sp>
        <p:nvSpPr>
          <p:cNvPr id="19" name="Shape 16"/>
          <p:cNvSpPr/>
          <p:nvPr/>
        </p:nvSpPr>
        <p:spPr>
          <a:xfrm>
            <a:off x="3447288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30852" y="2151583"/>
            <a:ext cx="402336" cy="402336"/>
          </a:xfrm>
          <a:prstGeom prst="ellipse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22292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3611880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Plataformas</a:t>
            </a:r>
            <a:endParaRPr lang="en-US" sz="1616" dirty="0"/>
          </a:p>
        </p:txBody>
      </p:sp>
      <p:sp>
        <p:nvSpPr>
          <p:cNvPr id="23" name="Shape 20"/>
          <p:cNvSpPr/>
          <p:nvPr/>
        </p:nvSpPr>
        <p:spPr>
          <a:xfrm>
            <a:off x="3630168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58184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Avenue e XP Internacional reduziram a barreira de entrada.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3630168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58184" y="3888334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Abertura e operacao ficaram mais acessiveis.</a:t>
            </a:r>
            <a:endParaRPr lang="en-US" sz="1280" dirty="0"/>
          </a:p>
        </p:txBody>
      </p:sp>
      <p:sp>
        <p:nvSpPr>
          <p:cNvPr id="27" name="Shape 24"/>
          <p:cNvSpPr/>
          <p:nvPr/>
        </p:nvSpPr>
        <p:spPr>
          <a:xfrm>
            <a:off x="6181344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264908" y="2151583"/>
            <a:ext cx="402336" cy="402336"/>
          </a:xfrm>
          <a:prstGeom prst="ellipse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56348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6345936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Infraestrutura</a:t>
            </a:r>
            <a:endParaRPr lang="en-US" sz="1616" dirty="0"/>
          </a:p>
        </p:txBody>
      </p:sp>
      <p:sp>
        <p:nvSpPr>
          <p:cNvPr id="31" name="Shape 28"/>
          <p:cNvSpPr/>
          <p:nvPr/>
        </p:nvSpPr>
        <p:spPr>
          <a:xfrm>
            <a:off x="6364224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Cambio, custodia e relatorios ficaram mais integrados.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6364224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3888334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friccao operacional caiu bastante.</a:t>
            </a:r>
            <a:endParaRPr lang="en-US" sz="1280" dirty="0"/>
          </a:p>
        </p:txBody>
      </p:sp>
      <p:sp>
        <p:nvSpPr>
          <p:cNvPr id="35" name="Shape 32"/>
          <p:cNvSpPr/>
          <p:nvPr/>
        </p:nvSpPr>
        <p:spPr>
          <a:xfrm>
            <a:off x="8915400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5C8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998964" y="2151583"/>
            <a:ext cx="402336" cy="402336"/>
          </a:xfrm>
          <a:prstGeom prst="ellipse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90404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80" dirty="0"/>
          </a:p>
        </p:txBody>
      </p:sp>
      <p:sp>
        <p:nvSpPr>
          <p:cNvPr id="38" name="Text 35"/>
          <p:cNvSpPr/>
          <p:nvPr/>
        </p:nvSpPr>
        <p:spPr>
          <a:xfrm>
            <a:off x="9079992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Hoje</a:t>
            </a:r>
            <a:endParaRPr lang="en-US" sz="1616" dirty="0"/>
          </a:p>
        </p:txBody>
      </p:sp>
      <p:sp>
        <p:nvSpPr>
          <p:cNvPr id="39" name="Shape 36"/>
          <p:cNvSpPr/>
          <p:nvPr/>
        </p:nvSpPr>
        <p:spPr>
          <a:xfrm>
            <a:off x="9098280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26296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 e possivel comecar menor e com mais suporte.</a:t>
            </a:r>
            <a:endParaRPr lang="en-US" sz="1280" dirty="0"/>
          </a:p>
        </p:txBody>
      </p:sp>
      <p:sp>
        <p:nvSpPr>
          <p:cNvPr id="41" name="Shape 38"/>
          <p:cNvSpPr/>
          <p:nvPr/>
        </p:nvSpPr>
        <p:spPr>
          <a:xfrm>
            <a:off x="9098280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26296" y="3888334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decisao passa a ser como estruturar, nao se e viavel acessar.</a:t>
            </a:r>
            <a:endParaRPr lang="en-US" sz="1280" dirty="0"/>
          </a:p>
        </p:txBody>
      </p:sp>
      <p:sp>
        <p:nvSpPr>
          <p:cNvPr id="43" name="Shape 40"/>
          <p:cNvSpPr/>
          <p:nvPr/>
        </p:nvSpPr>
        <p:spPr>
          <a:xfrm>
            <a:off x="713232" y="4773168"/>
            <a:ext cx="10771632" cy="1188720"/>
          </a:xfrm>
          <a:prstGeom prst="roundRect">
            <a:avLst>
              <a:gd name="adj" fmla="val 6154"/>
            </a:avLst>
          </a:prstGeom>
          <a:solidFill>
            <a:srgbClr val="F5F0E8"/>
          </a:solidFill>
          <a:ln w="13970">
            <a:solidFill>
              <a:srgbClr val="C496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32688" y="5010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Mudanca de patamar</a:t>
            </a:r>
            <a:endParaRPr lang="en-US" sz="1575" dirty="0"/>
          </a:p>
        </p:txBody>
      </p:sp>
      <p:sp>
        <p:nvSpPr>
          <p:cNvPr id="45" name="Shape 42"/>
          <p:cNvSpPr/>
          <p:nvPr/>
        </p:nvSpPr>
        <p:spPr>
          <a:xfrm>
            <a:off x="932688" y="545896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60704" y="5358384"/>
            <a:ext cx="993952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Baixar a barreira de acesso mudou a conversa: agora o foco e escolher o veiculo adequado para o objetivo, e nao apenas superar a dificuldade operacional.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TRIBUTACAO E SUCESSAO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97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Tributacao, sucessao e PIC ficaram mais administraveis</a:t>
            </a:r>
            <a:endParaRPr lang="en-US" sz="2397" dirty="0"/>
          </a:p>
        </p:txBody>
      </p:sp>
      <p:sp>
        <p:nvSpPr>
          <p:cNvPr id="10" name="Text 7"/>
          <p:cNvSpPr/>
          <p:nvPr/>
        </p:nvSpPr>
        <p:spPr>
          <a:xfrm>
            <a:off x="731520" y="1527048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HTML nao trata o tema como um detalhe. Ele mostra que imposto, sucessao e tipo de veiculo precisam entrar cedo na conversa, mas hoje podem ser tratados com muito mais clareza do que no passado.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EF7F1"/>
          </a:solidFill>
          <a:ln w="15875">
            <a:solidFill>
              <a:srgbClr val="27AE60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745943"/>
            <a:ext cx="713232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Pessoa fisica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029407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928823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 de capital em reais com aliquota de 15% sobre o resultado liquido.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741572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640988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Prejuizos podem compensar ganhos futuros da mesma natureza.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32688" y="4252925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152341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Organizar vendas e a declaracao anual continua importante.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43708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ECEB"/>
          </a:solidFill>
          <a:ln w="15875">
            <a:solidFill>
              <a:srgbClr val="C0392B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745943"/>
            <a:ext cx="71323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Estate tax e TOD</a:t>
            </a:r>
            <a:endParaRPr lang="en-US" sz="1745" dirty="0"/>
          </a:p>
        </p:txBody>
      </p:sp>
      <p:sp>
        <p:nvSpPr>
          <p:cNvPr id="23" name="Shape 20"/>
          <p:cNvSpPr/>
          <p:nvPr/>
        </p:nvSpPr>
        <p:spPr>
          <a:xfrm>
            <a:off x="4590288" y="3029407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2928823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Ativos de raiz americana acima de US$ 60 mil entram no tema sucessorio.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4590288" y="3741572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640988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TOD agiliza a transferencia operacional da conta.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4590288" y="4252925"/>
            <a:ext cx="73152" cy="731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8304" y="4152341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 nao elimina o estate tax, mas evita probate americano.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8028432" y="2124151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2745943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288743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 Offshore</a:t>
            </a:r>
            <a:endParaRPr lang="en-US" sz="1745" dirty="0"/>
          </a:p>
        </p:txBody>
      </p:sp>
      <p:sp>
        <p:nvSpPr>
          <p:cNvPr id="32" name="Shape 29"/>
          <p:cNvSpPr/>
          <p:nvPr/>
        </p:nvSpPr>
        <p:spPr>
          <a:xfrm>
            <a:off x="8247888" y="302940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5904" y="2928823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Faz sentido quando patrimonio e complexidade patrimonial aumentam.</a:t>
            </a:r>
            <a:endParaRPr lang="en-US" sz="1340" dirty="0"/>
          </a:p>
        </p:txBody>
      </p:sp>
      <p:sp>
        <p:nvSpPr>
          <p:cNvPr id="34" name="Shape 31"/>
          <p:cNvSpPr/>
          <p:nvPr/>
        </p:nvSpPr>
        <p:spPr>
          <a:xfrm>
            <a:off x="8247888" y="3741572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5904" y="3640988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Pode neutralizar o risco sucessorio em estruturas especificas.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8247888" y="4252925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4152341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Nao costuma ser o ponto de partida da maioria dos investidores.</a:t>
            </a:r>
            <a:endParaRPr lang="en-US" sz="13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COMECAR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Diversificacao Internacional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alocacao internacional pode comecar simples e ganhar sofisticacao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B7B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conclusao do material e pragmatica: definir o objetivo, iniciar com uma estrutura eficiente e aumentar a complexidade apenas quando patrimonio, sucessao e governanca justificarem.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AF5FD"/>
          </a:solidFill>
          <a:ln w="15875">
            <a:solidFill>
              <a:srgbClr val="2980B9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 internacional</a:t>
            </a:r>
            <a:endParaRPr lang="en-US" sz="1745" dirty="0"/>
          </a:p>
        </p:txBody>
      </p:sp>
      <p:sp>
        <p:nvSpPr>
          <p:cNvPr id="14" name="Shape 11"/>
          <p:cNvSpPr/>
          <p:nvPr/>
        </p:nvSpPr>
        <p:spPr>
          <a:xfrm>
            <a:off x="932688" y="3203143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 porta de entrada para acoes, ETFs, mutual funds, bonds e treasuries.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932688" y="3915308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814724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Abertura digital e cambio integrado reduzem friccao.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32688" y="4426661"/>
            <a:ext cx="73152" cy="7315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326077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 a maior parte dos casos iniciais.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43708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Atendimento patrimonial</a:t>
            </a:r>
            <a:endParaRPr lang="en-US" sz="1745" dirty="0"/>
          </a:p>
        </p:txBody>
      </p:sp>
      <p:sp>
        <p:nvSpPr>
          <p:cNvPr id="23" name="Shape 20"/>
          <p:cNvSpPr/>
          <p:nvPr/>
        </p:nvSpPr>
        <p:spPr>
          <a:xfrm>
            <a:off x="4590288" y="32031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3102559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Familias com patrimonio maior exigem apoio tributario, sucessorio e de governanca.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4590288" y="391530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814724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conversa pode incluir estrutura offshore quando fizer sentido.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4590288" y="4426661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8304" y="4326077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solucao precisa acompanhar a complexidade do patrimonio.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8028432" y="2297887"/>
            <a:ext cx="3456432" cy="4005072"/>
          </a:xfrm>
          <a:prstGeom prst="roundRect">
            <a:avLst>
              <a:gd name="adj" fmla="val 2116"/>
            </a:avLst>
          </a:prstGeom>
          <a:solidFill>
            <a:srgbClr val="EEF7F1"/>
          </a:solidFill>
          <a:ln w="15875">
            <a:solidFill>
              <a:srgbClr val="27AE60"/>
            </a:solidFill>
            <a:prstDash val="solid"/>
          </a:ln>
          <a:effectLst>
            <a:outerShdw sx="100000" sy="100000" kx="0" ky="0" algn="bl" rotWithShape="0" blurRad="25400" dist="12700" dir="2700000">
              <a:srgbClr val="1B2A3D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0" y="2919679"/>
            <a:ext cx="713232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462479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45" dirty="0">
                <a:solidFill>
                  <a:srgbClr val="1B2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Primeiros passos</a:t>
            </a:r>
            <a:endParaRPr lang="en-US" sz="1745" dirty="0"/>
          </a:p>
        </p:txBody>
      </p:sp>
      <p:sp>
        <p:nvSpPr>
          <p:cNvPr id="32" name="Shape 29"/>
          <p:cNvSpPr/>
          <p:nvPr/>
        </p:nvSpPr>
        <p:spPr>
          <a:xfrm>
            <a:off x="8247888" y="3203143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5904" y="3102559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objetivo: oportunidade, protecao, renda ou sucessao.</a:t>
            </a:r>
            <a:endParaRPr lang="en-US" sz="1340" dirty="0"/>
          </a:p>
        </p:txBody>
      </p:sp>
      <p:sp>
        <p:nvSpPr>
          <p:cNvPr id="34" name="Shape 31"/>
          <p:cNvSpPr/>
          <p:nvPr/>
        </p:nvSpPr>
        <p:spPr>
          <a:xfrm>
            <a:off x="8247888" y="3714496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75904" y="3613912"/>
            <a:ext cx="2889504" cy="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Comecar com veiculos eficientes e TOD preenchido.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8247888" y="4225849"/>
            <a:ext cx="73152" cy="7315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75904" y="4125265"/>
            <a:ext cx="2889504" cy="639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Evoluir para estruturas mais sofisticadas apenas quando houver motivo patrimonial.</a:t>
            </a:r>
            <a:endParaRPr lang="en-US" sz="1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Alta Vista Investimentos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 que Diversificar Alem do Brasil?</dc:title>
  <dc:subject>Por que Diversificar Alem do Brasil?</dc:subject>
  <dc:creator>Codex</dc:creator>
  <cp:lastModifiedBy>Codex</cp:lastModifiedBy>
  <cp:revision>1</cp:revision>
  <dcterms:created xsi:type="dcterms:W3CDTF">2026-03-29T20:58:54Z</dcterms:created>
  <dcterms:modified xsi:type="dcterms:W3CDTF">2026-03-29T20:58:54Z</dcterms:modified>
</cp:coreProperties>
</file>