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sv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sv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38160" y="-594360"/>
            <a:ext cx="4023360" cy="4023360"/>
          </a:xfrm>
          <a:prstGeom prst="ellipse">
            <a:avLst/>
          </a:prstGeom>
          <a:solidFill>
            <a:srgbClr val="C4963C">
              <a:alpha val="22000"/>
            </a:srgbClr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732520" y="2926080"/>
            <a:ext cx="3291840" cy="3291840"/>
          </a:xfrm>
          <a:prstGeom prst="ellipse">
            <a:avLst/>
          </a:prstGeom>
          <a:solidFill>
            <a:srgbClr val="2980B9">
              <a:alpha val="18000"/>
            </a:srgbClr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498080" y="932688"/>
            <a:ext cx="3977640" cy="4645152"/>
          </a:xfrm>
          <a:prstGeom prst="roundRect">
            <a:avLst>
              <a:gd name="adj" fmla="val 2069"/>
            </a:avLst>
          </a:prstGeom>
          <a:solidFill>
            <a:srgbClr val="FFFFFF">
              <a:alpha val="96000"/>
            </a:srgbClr>
          </a:solidFill>
          <a:ln w="15240">
            <a:solidFill>
              <a:srgbClr val="C4963C">
                <a:alpha val="8200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49808" y="658368"/>
            <a:ext cx="1874520" cy="54864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6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455559" y="768096"/>
            <a:ext cx="453875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68096" y="1463040"/>
            <a:ext cx="4937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D4A94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 VISTA INVESTIMENTOS | GUIA DO CLIENTE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768096" y="1783080"/>
            <a:ext cx="6126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995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Por que Diversificar Alem do Brasil?</a:t>
            </a:r>
            <a:endParaRPr lang="en-US" sz="2995" dirty="0"/>
          </a:p>
        </p:txBody>
      </p:sp>
      <p:sp>
        <p:nvSpPr>
          <p:cNvPr id="9" name="Text 6"/>
          <p:cNvSpPr/>
          <p:nvPr/>
        </p:nvSpPr>
        <p:spPr>
          <a:xfrm>
            <a:off x="786384" y="2926080"/>
            <a:ext cx="5577840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495" dirty="0">
                <a:solidFill>
                  <a:srgbClr val="F4F1E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apresentacao estruturada para explicar o custo do vies local, o papel do dolar e como o acesso internacional ficou mais simples.</a:t>
            </a:r>
            <a:endParaRPr lang="en-US" sz="1495" dirty="0"/>
          </a:p>
        </p:txBody>
      </p:sp>
      <p:sp>
        <p:nvSpPr>
          <p:cNvPr id="10" name="Shape 7"/>
          <p:cNvSpPr/>
          <p:nvPr/>
        </p:nvSpPr>
        <p:spPr>
          <a:xfrm>
            <a:off x="768096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59536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real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2670048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2761488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Protecao em moeda forte</a:t>
            </a:r>
            <a:endParaRPr lang="en-US" sz="950" dirty="0"/>
          </a:p>
        </p:txBody>
      </p:sp>
      <p:sp>
        <p:nvSpPr>
          <p:cNvPr id="14" name="Shape 11"/>
          <p:cNvSpPr/>
          <p:nvPr/>
        </p:nvSpPr>
        <p:spPr>
          <a:xfrm>
            <a:off x="4572000" y="4297680"/>
            <a:ext cx="1783080" cy="402336"/>
          </a:xfrm>
          <a:prstGeom prst="roundRect">
            <a:avLst>
              <a:gd name="adj" fmla="val 18182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FFFFFF">
                <a:alpha val="2800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63440" y="4425696"/>
            <a:ext cx="16002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Acesso mais simples</a:t>
            </a:r>
            <a:endParaRPr lang="en-US" sz="950" dirty="0"/>
          </a:p>
        </p:txBody>
      </p:sp>
      <p:sp>
        <p:nvSpPr>
          <p:cNvPr id="16" name="Text 13"/>
          <p:cNvSpPr/>
          <p:nvPr/>
        </p:nvSpPr>
        <p:spPr>
          <a:xfrm>
            <a:off x="7772400" y="1225296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9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o deck cobre</a:t>
            </a:r>
            <a:endParaRPr lang="en-US" sz="1795" dirty="0"/>
          </a:p>
        </p:txBody>
      </p:sp>
      <p:sp>
        <p:nvSpPr>
          <p:cNvPr id="17" name="Shape 14"/>
          <p:cNvSpPr/>
          <p:nvPr/>
        </p:nvSpPr>
        <p:spPr>
          <a:xfrm>
            <a:off x="7772400" y="1856232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900416" y="1755648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 que concentrar 100% no Brasil reduz o universo investivel.</a:t>
            </a:r>
            <a:endParaRPr lang="en-US" sz="1260" dirty="0"/>
          </a:p>
        </p:txBody>
      </p:sp>
      <p:sp>
        <p:nvSpPr>
          <p:cNvPr id="19" name="Shape 16"/>
          <p:cNvSpPr/>
          <p:nvPr/>
        </p:nvSpPr>
        <p:spPr>
          <a:xfrm>
            <a:off x="7772400" y="2361895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900416" y="2261311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risco Brasil, cambio e setores afetam a carteira.</a:t>
            </a:r>
            <a:endParaRPr lang="en-US" sz="1260" dirty="0"/>
          </a:p>
        </p:txBody>
      </p:sp>
      <p:sp>
        <p:nvSpPr>
          <p:cNvPr id="21" name="Shape 18"/>
          <p:cNvSpPr/>
          <p:nvPr/>
        </p:nvSpPr>
        <p:spPr>
          <a:xfrm>
            <a:off x="7772400" y="286755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00416" y="2766974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que mudou em acesso, tributacao e sucessao.</a:t>
            </a:r>
            <a:endParaRPr lang="en-US" sz="1260" dirty="0"/>
          </a:p>
        </p:txBody>
      </p:sp>
      <p:sp>
        <p:nvSpPr>
          <p:cNvPr id="23" name="Shape 20"/>
          <p:cNvSpPr/>
          <p:nvPr/>
        </p:nvSpPr>
        <p:spPr>
          <a:xfrm>
            <a:off x="7772400" y="3373222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900416" y="3272638"/>
            <a:ext cx="3081528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6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iniciar a alocacao internacional com menos complexidade.</a:t>
            </a:r>
            <a:endParaRPr lang="en-US" sz="1260" dirty="0"/>
          </a:p>
        </p:txBody>
      </p:sp>
      <p:sp>
        <p:nvSpPr>
          <p:cNvPr id="25" name="Text 22"/>
          <p:cNvSpPr/>
          <p:nvPr/>
        </p:nvSpPr>
        <p:spPr>
          <a:xfrm>
            <a:off x="786384" y="635508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D2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Alta Vista Investimentos | Material de apoio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TESE CENTRAL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53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discussao nao e sobre moda, e sobre fronteira de carteira</a:t>
            </a:r>
            <a:endParaRPr lang="en-US" sz="2353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tese central e simples: investir so no Brasil restringe oportunidades, concentra riscos e deixa a carteira dependente da mesma moeda, dos mesmos setores e do mesmo ciclo domestico.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Problema do vies local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2031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Concentrar 100% do patrimonio no Brasil comprime o universo investivel.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91530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472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investidor assume risco Brasil sem perceber.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426661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326077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carteira fica dependente de poucos setores e da mesma moeda.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AF5FD"/>
          </a:solidFill>
          <a:ln w="15875">
            <a:solidFill>
              <a:srgbClr val="2980B9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919679"/>
            <a:ext cx="713232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muda com exterior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203143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Acesso a empresas, titulos e moedas que o mercado local nao oferece.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714496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613912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Protecao parcial em crises domesticas e mais opcao de renda em dolar.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4426661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4326077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Mais ferramentas para sucessao e planejamento patrimonial.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EF7F1"/>
          </a:solidFill>
          <a:ln w="15875">
            <a:solidFill>
              <a:srgbClr val="27AE60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919679"/>
            <a:ext cx="713232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Mensagem central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203143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Diversificar fora deixou de ser privilegio de poucos.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714496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e sucessao ficaram mais administraveis.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4225849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125265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alocacao pode comecar simples e evoluir com o patrimonio.</a:t>
            </a:r>
            <a:endParaRPr lang="en-US" sz="134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MERCADO GLOBAL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Brasil e uma fatia pequena do mercado global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Aplicar 100% do patrimonio no mercado domestico significa aceitar uma concentracao estrutural em um recorte muito pequeno do mercado mundial de acoes e de renda fixa.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124151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77824" y="228874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0,4%</a:t>
            </a:r>
            <a:endParaRPr lang="en-US" sz="2195" dirty="0"/>
          </a:p>
        </p:txBody>
      </p:sp>
      <p:sp>
        <p:nvSpPr>
          <p:cNvPr id="13" name="Text 10"/>
          <p:cNvSpPr/>
          <p:nvPr/>
        </p:nvSpPr>
        <p:spPr>
          <a:xfrm>
            <a:off x="877824" y="283738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Peso do Brasil no MSCI ACWI</a:t>
            </a:r>
            <a:endParaRPr lang="en-US" sz="1078" dirty="0"/>
          </a:p>
        </p:txBody>
      </p:sp>
      <p:sp>
        <p:nvSpPr>
          <p:cNvPr id="14" name="Shape 11"/>
          <p:cNvSpPr/>
          <p:nvPr/>
        </p:nvSpPr>
        <p:spPr>
          <a:xfrm>
            <a:off x="3447288" y="2124151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611880" y="228874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4,1%</a:t>
            </a:r>
            <a:endParaRPr lang="en-US" sz="2195" dirty="0"/>
          </a:p>
        </p:txBody>
      </p:sp>
      <p:sp>
        <p:nvSpPr>
          <p:cNvPr id="16" name="Text 13"/>
          <p:cNvSpPr/>
          <p:nvPr/>
        </p:nvSpPr>
        <p:spPr>
          <a:xfrm>
            <a:off x="3611880" y="283738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5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Peso no MSCI Mercados Emergentes</a:t>
            </a:r>
            <a:endParaRPr lang="en-US" sz="1075" dirty="0"/>
          </a:p>
        </p:txBody>
      </p:sp>
      <p:sp>
        <p:nvSpPr>
          <p:cNvPr id="17" name="Shape 14"/>
          <p:cNvSpPr/>
          <p:nvPr/>
        </p:nvSpPr>
        <p:spPr>
          <a:xfrm>
            <a:off x="6181344" y="2124151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45936" y="228874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2,1%</a:t>
            </a:r>
            <a:endParaRPr lang="en-US" sz="2195" dirty="0"/>
          </a:p>
        </p:txBody>
      </p:sp>
      <p:sp>
        <p:nvSpPr>
          <p:cNvPr id="19" name="Text 16"/>
          <p:cNvSpPr/>
          <p:nvPr/>
        </p:nvSpPr>
        <p:spPr>
          <a:xfrm>
            <a:off x="6345936" y="283738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Participacao no PIB do G20</a:t>
            </a:r>
            <a:endParaRPr lang="en-US" sz="1078" dirty="0"/>
          </a:p>
        </p:txBody>
      </p:sp>
      <p:sp>
        <p:nvSpPr>
          <p:cNvPr id="20" name="Shape 17"/>
          <p:cNvSpPr/>
          <p:nvPr/>
        </p:nvSpPr>
        <p:spPr>
          <a:xfrm>
            <a:off x="8915400" y="2124151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79992" y="2288743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0,6%</a:t>
            </a:r>
            <a:endParaRPr lang="en-US" sz="2195" dirty="0"/>
          </a:p>
        </p:txBody>
      </p:sp>
      <p:sp>
        <p:nvSpPr>
          <p:cNvPr id="22" name="Text 19"/>
          <p:cNvSpPr/>
          <p:nvPr/>
        </p:nvSpPr>
        <p:spPr>
          <a:xfrm>
            <a:off x="9079992" y="2837383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Peso em bonds corporativos globais</a:t>
            </a:r>
            <a:endParaRPr lang="en-US" sz="1078" dirty="0"/>
          </a:p>
        </p:txBody>
      </p:sp>
      <p:sp>
        <p:nvSpPr>
          <p:cNvPr id="23" name="Shape 20"/>
          <p:cNvSpPr/>
          <p:nvPr/>
        </p:nvSpPr>
        <p:spPr>
          <a:xfrm>
            <a:off x="713232" y="3310128"/>
            <a:ext cx="6537960" cy="2578608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434072" y="3310128"/>
            <a:ext cx="4023360" cy="2578608"/>
          </a:xfrm>
          <a:prstGeom prst="roundRect">
            <a:avLst>
              <a:gd name="adj" fmla="val 2837"/>
            </a:avLst>
          </a:prstGeom>
          <a:solidFill>
            <a:srgbClr val="F5F0E8"/>
          </a:solidFill>
          <a:ln w="1397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32688" y="356616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Leituras-chave</a:t>
            </a:r>
            <a:endParaRPr lang="en-US" sz="1695" dirty="0"/>
          </a:p>
        </p:txBody>
      </p:sp>
      <p:sp>
        <p:nvSpPr>
          <p:cNvPr id="26" name="Shape 23"/>
          <p:cNvSpPr/>
          <p:nvPr/>
        </p:nvSpPr>
        <p:spPr>
          <a:xfrm>
            <a:off x="932688" y="4069080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3968496"/>
            <a:ext cx="5824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Ficar so no Brasil equivale a ignorar 99,6% do mercado global de acoes.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932688" y="4434840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4334256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Mesmo na renda fixa, o investidor fica restrito a um universo muito pequeno de emissores, ratings e moedas.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932688" y="496747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4866894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conforto domestico mascara uma concentracao severa de risco e de oportunidade perdida.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7662672" y="3584448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Vies local e estrutural</a:t>
            </a:r>
            <a:endParaRPr lang="en-US" sz="1695" dirty="0"/>
          </a:p>
        </p:txBody>
      </p:sp>
      <p:sp>
        <p:nvSpPr>
          <p:cNvPr id="33" name="Text 30"/>
          <p:cNvSpPr/>
          <p:nvPr/>
        </p:nvSpPr>
        <p:spPr>
          <a:xfrm>
            <a:off x="7662672" y="4005072"/>
            <a:ext cx="3493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97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sensacao de diversificacao local engana. A carteira parece ampla em reais, mas continua estreita quando medida contra o mercado global.</a:t>
            </a:r>
            <a:endParaRPr lang="en-US" sz="1297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MERCADO GLOBAL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As imagens reforcam o tamanho da concentracao domestica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graficos deixam claro como o Brasil representa uma parcela pequena do mercado global e como o vies local comprime o universo investivel.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371039"/>
            <a:ext cx="5285232" cy="1676552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1948" y="2480767"/>
            <a:ext cx="2727799" cy="1182776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37915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Participacao do Brasil nos indices MSCI e no PIB do G20.</a:t>
            </a:r>
            <a:endParaRPr lang="en-US" sz="910" dirty="0"/>
          </a:p>
        </p:txBody>
      </p:sp>
      <p:sp>
        <p:nvSpPr>
          <p:cNvPr id="14" name="Shape 10"/>
          <p:cNvSpPr/>
          <p:nvPr/>
        </p:nvSpPr>
        <p:spPr>
          <a:xfrm>
            <a:off x="6199632" y="2371039"/>
            <a:ext cx="5285232" cy="1676552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61169" y="2480767"/>
            <a:ext cx="2562158" cy="1182776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379156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Mercado global de titulos corporativos versus mercado brasileiro.</a:t>
            </a:r>
            <a:endParaRPr lang="en-US" sz="910" dirty="0"/>
          </a:p>
        </p:txBody>
      </p:sp>
      <p:sp>
        <p:nvSpPr>
          <p:cNvPr id="17" name="Shape 12"/>
          <p:cNvSpPr/>
          <p:nvPr/>
        </p:nvSpPr>
        <p:spPr>
          <a:xfrm>
            <a:off x="713232" y="4248760"/>
            <a:ext cx="5285232" cy="1676552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551560" y="4358488"/>
            <a:ext cx="1608576" cy="1182776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8412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Comparacao entre vies local e oportunidades globais.</a:t>
            </a:r>
            <a:endParaRPr lang="en-US" sz="910" dirty="0"/>
          </a:p>
        </p:txBody>
      </p:sp>
      <p:sp>
        <p:nvSpPr>
          <p:cNvPr id="20" name="Shape 14"/>
          <p:cNvSpPr/>
          <p:nvPr/>
        </p:nvSpPr>
        <p:spPr>
          <a:xfrm>
            <a:off x="6199632" y="4248760"/>
            <a:ext cx="5285232" cy="1676552"/>
          </a:xfrm>
          <a:prstGeom prst="roundRect">
            <a:avLst>
              <a:gd name="adj" fmla="val 4363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569076" y="4358488"/>
            <a:ext cx="2546343" cy="118277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3276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Alocacao internacional por pais evidencia o atraso relativo do investidor brasileiro.</a:t>
            </a:r>
            <a:endParaRPr lang="en-US" sz="91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SETORES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mundo mudou de lideranca setorial, o Ibovespa muito menos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comparacao de 25 anos entre Brasil e Estados Unidos reforca que a concentracao domestica nao e so geografica; ela tambem limita exposicao aos setores que mais criaram valor no ciclo recente.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C0392B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Ibovespa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203143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Petrobras, Vale, bancos e commodities seguem dominando a bolsa local.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915308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472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lista das maiores empresas mudou pouco ao longo de 25 anos.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426661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326077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Tecnologia global quase nao aparece na carteira brasileira tradicional.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AF5FD"/>
          </a:solidFill>
          <a:ln w="15875">
            <a:solidFill>
              <a:srgbClr val="2980B9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919679"/>
            <a:ext cx="713232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S&amp;P 500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203143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NVIDIA, Microsoft, Apple, Amazon e Alphabet lideram a nova economia.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714496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Semicondutores, software, cloud e plataformas ganharam peso.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4225849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4125265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Grande parte da geracao de retorno global veio de fora do Brasil.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Implicacao para a carteira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2031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Ficar so no Brasil reduz exposicao a IA, biotech, cloud e plataformas digitais.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91530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81472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America Latina representa so 1% do setor global de tecnologia.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4426661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326077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diversificacao setorial depende de abrir o leque internacional.</a:t>
            </a:r>
            <a:endParaRPr lang="en-US" sz="134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SETORES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comparacao visual entre lideres de mercado deixa o gap mais claro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Quando se observa a mudanca nas maiores empresas do mundo ao longo do tempo, fica evidente como a bolsa brasileira permaneceu concentrada em setores maduros enquanto a lideranca global migrou para tecnologia e inovacao.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371039"/>
            <a:ext cx="10771632" cy="3554273"/>
          </a:xfrm>
          <a:prstGeom prst="roundRect">
            <a:avLst>
              <a:gd name="adj" fmla="val 205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50864" y="2480767"/>
            <a:ext cx="7896367" cy="3060497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5669280"/>
            <a:ext cx="10515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Maiores empresas: Ibovespa versus S&amp;P 500 ao longo do tempo.</a:t>
            </a:r>
            <a:endParaRPr lang="en-US" sz="91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 BRASIL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CDI parece estavel, mas nao elimina risco Brasil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Medir tudo em reais faz o investidor subestimar o risco soberano, o impacto da moeda e a perda de poder de compra em dolar.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1984248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77824" y="214884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141,5</a:t>
            </a:r>
            <a:endParaRPr lang="en-US" sz="2195" dirty="0"/>
          </a:p>
        </p:txBody>
      </p:sp>
      <p:sp>
        <p:nvSpPr>
          <p:cNvPr id="13" name="Text 10"/>
          <p:cNvSpPr/>
          <p:nvPr/>
        </p:nvSpPr>
        <p:spPr>
          <a:xfrm>
            <a:off x="877824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CDS de 5 anos do Brasil</a:t>
            </a:r>
            <a:endParaRPr lang="en-US" sz="1078" dirty="0"/>
          </a:p>
        </p:txBody>
      </p:sp>
      <p:sp>
        <p:nvSpPr>
          <p:cNvPr id="14" name="Shape 11"/>
          <p:cNvSpPr/>
          <p:nvPr/>
        </p:nvSpPr>
        <p:spPr>
          <a:xfrm>
            <a:off x="3447288" y="1984248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3611880" y="214884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BB / Ba1</a:t>
            </a:r>
            <a:endParaRPr lang="en-US" sz="2195" dirty="0"/>
          </a:p>
        </p:txBody>
      </p:sp>
      <p:sp>
        <p:nvSpPr>
          <p:cNvPr id="16" name="Text 13"/>
          <p:cNvSpPr/>
          <p:nvPr/>
        </p:nvSpPr>
        <p:spPr>
          <a:xfrm>
            <a:off x="3611880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Rating soberano atual</a:t>
            </a:r>
            <a:endParaRPr lang="en-US" sz="1078" dirty="0"/>
          </a:p>
        </p:txBody>
      </p:sp>
      <p:sp>
        <p:nvSpPr>
          <p:cNvPr id="17" name="Shape 14"/>
          <p:cNvSpPr/>
          <p:nvPr/>
        </p:nvSpPr>
        <p:spPr>
          <a:xfrm>
            <a:off x="6181344" y="1984248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6345936" y="214884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Top 4</a:t>
            </a:r>
            <a:endParaRPr lang="en-US" sz="2195" dirty="0"/>
          </a:p>
        </p:txBody>
      </p:sp>
      <p:sp>
        <p:nvSpPr>
          <p:cNvPr id="19" name="Text 16"/>
          <p:cNvSpPr/>
          <p:nvPr/>
        </p:nvSpPr>
        <p:spPr>
          <a:xfrm>
            <a:off x="6345936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92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Entre os maiores CDS do grupo comparado</a:t>
            </a:r>
            <a:endParaRPr lang="en-US" sz="920" dirty="0"/>
          </a:p>
        </p:txBody>
      </p:sp>
      <p:sp>
        <p:nvSpPr>
          <p:cNvPr id="20" name="Shape 17"/>
          <p:cNvSpPr/>
          <p:nvPr/>
        </p:nvSpPr>
        <p:spPr>
          <a:xfrm>
            <a:off x="8915400" y="1984248"/>
            <a:ext cx="2569464" cy="1078992"/>
          </a:xfrm>
          <a:prstGeom prst="roundRect">
            <a:avLst>
              <a:gd name="adj" fmla="val 6780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1" name="Text 18"/>
          <p:cNvSpPr/>
          <p:nvPr/>
        </p:nvSpPr>
        <p:spPr>
          <a:xfrm>
            <a:off x="9079992" y="2148840"/>
            <a:ext cx="2240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BRL</a:t>
            </a:r>
            <a:endParaRPr lang="en-US" sz="2195" dirty="0"/>
          </a:p>
        </p:txBody>
      </p:sp>
      <p:sp>
        <p:nvSpPr>
          <p:cNvPr id="22" name="Text 19"/>
          <p:cNvSpPr/>
          <p:nvPr/>
        </p:nvSpPr>
        <p:spPr>
          <a:xfrm>
            <a:off x="9079992" y="2697480"/>
            <a:ext cx="2240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Moeda fragil em ciclos longos</a:t>
            </a:r>
            <a:endParaRPr lang="en-US" sz="1078" dirty="0"/>
          </a:p>
        </p:txBody>
      </p:sp>
      <p:sp>
        <p:nvSpPr>
          <p:cNvPr id="23" name="Shape 20"/>
          <p:cNvSpPr/>
          <p:nvPr/>
        </p:nvSpPr>
        <p:spPr>
          <a:xfrm>
            <a:off x="713232" y="3310128"/>
            <a:ext cx="6537960" cy="2578608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4" name="Shape 21"/>
          <p:cNvSpPr/>
          <p:nvPr/>
        </p:nvSpPr>
        <p:spPr>
          <a:xfrm>
            <a:off x="7434072" y="3310128"/>
            <a:ext cx="4023360" cy="2578608"/>
          </a:xfrm>
          <a:prstGeom prst="roundRect">
            <a:avLst>
              <a:gd name="adj" fmla="val 2837"/>
            </a:avLst>
          </a:prstGeom>
          <a:solidFill>
            <a:srgbClr val="F5F0E8"/>
          </a:solidFill>
          <a:ln w="1397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5" name="Text 22"/>
          <p:cNvSpPr/>
          <p:nvPr/>
        </p:nvSpPr>
        <p:spPr>
          <a:xfrm>
            <a:off x="932688" y="356616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que isso significa</a:t>
            </a:r>
            <a:endParaRPr lang="en-US" sz="1695" dirty="0"/>
          </a:p>
        </p:txBody>
      </p:sp>
      <p:sp>
        <p:nvSpPr>
          <p:cNvPr id="26" name="Shape 23"/>
          <p:cNvSpPr/>
          <p:nvPr/>
        </p:nvSpPr>
        <p:spPr>
          <a:xfrm>
            <a:off x="932688" y="4069080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1060704" y="3968496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mercado global precifica o Brasil como um risco de credito elevado entre economias relevantes.</a:t>
            </a:r>
            <a:endParaRPr lang="en-US" sz="1350" dirty="0"/>
          </a:p>
        </p:txBody>
      </p:sp>
      <p:sp>
        <p:nvSpPr>
          <p:cNvPr id="28" name="Shape 25"/>
          <p:cNvSpPr/>
          <p:nvPr/>
        </p:nvSpPr>
        <p:spPr>
          <a:xfrm>
            <a:off x="932688" y="46017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1060704" y="4501134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ganho nominal do CDI pode esconder perda de poder de compra quando a referencia correta e moeda forte.</a:t>
            </a:r>
            <a:endParaRPr lang="en-US" sz="1350" dirty="0"/>
          </a:p>
        </p:txBody>
      </p:sp>
      <p:sp>
        <p:nvSpPr>
          <p:cNvPr id="30" name="Shape 27"/>
          <p:cNvSpPr/>
          <p:nvPr/>
        </p:nvSpPr>
        <p:spPr>
          <a:xfrm>
            <a:off x="932688" y="5134356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1060704" y="5033772"/>
            <a:ext cx="5824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 fiscal, cambial e setorial continuam concentrados na mesma carteira.</a:t>
            </a:r>
            <a:endParaRPr lang="en-US" sz="1350" dirty="0"/>
          </a:p>
        </p:txBody>
      </p:sp>
      <p:sp>
        <p:nvSpPr>
          <p:cNvPr id="32" name="Text 29"/>
          <p:cNvSpPr/>
          <p:nvPr/>
        </p:nvSpPr>
        <p:spPr>
          <a:xfrm>
            <a:off x="7662672" y="3584448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86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Estabilidade local nao e neutralidade</a:t>
            </a:r>
            <a:endParaRPr lang="en-US" sz="1686" dirty="0"/>
          </a:p>
        </p:txBody>
      </p:sp>
      <p:sp>
        <p:nvSpPr>
          <p:cNvPr id="33" name="Text 30"/>
          <p:cNvSpPr/>
          <p:nvPr/>
        </p:nvSpPr>
        <p:spPr>
          <a:xfrm>
            <a:off x="7662672" y="4005072"/>
            <a:ext cx="3493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97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estabilidade percebida do CDI nao remove o risco do pais nem a volatilidade cambial acumulada no patrimonio medido em dolar.</a:t>
            </a:r>
            <a:endParaRPr lang="en-US" sz="1297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RISCO BRASIL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indicadores visuais ajudam a traduzir o risco soberano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Os comparativos de CDS e de rating mostram por que o risco Brasil nao pode ser tratado como neutro quando a carteira esta quase toda concentrada no mercado domestico.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197303"/>
            <a:ext cx="5285232" cy="3728009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853738"/>
            <a:ext cx="5065776" cy="214081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CDS de 5 anos por pais comparaveis.</a:t>
            </a:r>
            <a:endParaRPr lang="en-US" sz="910" dirty="0"/>
          </a:p>
        </p:txBody>
      </p:sp>
      <p:sp>
        <p:nvSpPr>
          <p:cNvPr id="14" name="Shape 10"/>
          <p:cNvSpPr/>
          <p:nvPr/>
        </p:nvSpPr>
        <p:spPr>
          <a:xfrm>
            <a:off x="6199632" y="2197303"/>
            <a:ext cx="5285232" cy="3728009"/>
          </a:xfrm>
          <a:prstGeom prst="roundRect">
            <a:avLst>
              <a:gd name="adj" fmla="val 1962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415741"/>
            <a:ext cx="5065776" cy="3016814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Paises com rating superior ao do Brasil.</a:t>
            </a:r>
            <a:endParaRPr lang="en-US" sz="91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RETORNOS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Retornos globais em perspectiva mostram o custo da concentracao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simulacao compara tres trajetorias para US$ 100 mil e evidencia como o patrimonio pode crescer em reais, mas ficar para tras frente a ativos globais mais eficientes.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8081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877824" y="2462479"/>
            <a:ext cx="3151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US$ 281 mil</a:t>
            </a:r>
            <a:endParaRPr lang="en-US" sz="2195" dirty="0"/>
          </a:p>
        </p:txBody>
      </p:sp>
      <p:sp>
        <p:nvSpPr>
          <p:cNvPr id="13" name="Text 10"/>
          <p:cNvSpPr/>
          <p:nvPr/>
        </p:nvSpPr>
        <p:spPr>
          <a:xfrm>
            <a:off x="877824" y="3011119"/>
            <a:ext cx="315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CDI convertido em dolar</a:t>
            </a:r>
            <a:endParaRPr lang="en-US" sz="1078" dirty="0"/>
          </a:p>
        </p:txBody>
      </p:sp>
      <p:sp>
        <p:nvSpPr>
          <p:cNvPr id="14" name="Shape 11"/>
          <p:cNvSpPr/>
          <p:nvPr/>
        </p:nvSpPr>
        <p:spPr>
          <a:xfrm>
            <a:off x="4358640" y="2297887"/>
            <a:ext cx="3480816" cy="1078992"/>
          </a:xfrm>
          <a:prstGeom prst="roundRect">
            <a:avLst>
              <a:gd name="adj" fmla="val 6780"/>
            </a:avLst>
          </a:prstGeom>
          <a:solidFill>
            <a:srgbClr val="F5F0E8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4523232" y="2462479"/>
            <a:ext cx="3151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US$ 471 mil</a:t>
            </a:r>
            <a:endParaRPr lang="en-US" sz="2195" dirty="0"/>
          </a:p>
        </p:txBody>
      </p:sp>
      <p:sp>
        <p:nvSpPr>
          <p:cNvPr id="16" name="Text 13"/>
          <p:cNvSpPr/>
          <p:nvPr/>
        </p:nvSpPr>
        <p:spPr>
          <a:xfrm>
            <a:off x="4523232" y="3011119"/>
            <a:ext cx="315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Portfolio global 60/40</a:t>
            </a:r>
            <a:endParaRPr lang="en-US" sz="1078" dirty="0"/>
          </a:p>
        </p:txBody>
      </p:sp>
      <p:sp>
        <p:nvSpPr>
          <p:cNvPr id="17" name="Shape 14"/>
          <p:cNvSpPr/>
          <p:nvPr/>
        </p:nvSpPr>
        <p:spPr>
          <a:xfrm>
            <a:off x="8004048" y="2297887"/>
            <a:ext cx="3480816" cy="1078992"/>
          </a:xfrm>
          <a:prstGeom prst="roundRect">
            <a:avLst>
              <a:gd name="adj" fmla="val 6780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8" name="Text 15"/>
          <p:cNvSpPr/>
          <p:nvPr/>
        </p:nvSpPr>
        <p:spPr>
          <a:xfrm>
            <a:off x="8168640" y="2462479"/>
            <a:ext cx="31516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2195" dirty="0">
                <a:solidFill>
                  <a:srgbClr val="C4963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US$ 807 mil</a:t>
            </a:r>
            <a:endParaRPr lang="en-US" sz="2195" dirty="0"/>
          </a:p>
        </p:txBody>
      </p:sp>
      <p:sp>
        <p:nvSpPr>
          <p:cNvPr id="19" name="Text 16"/>
          <p:cNvSpPr/>
          <p:nvPr/>
        </p:nvSpPr>
        <p:spPr>
          <a:xfrm>
            <a:off x="8168640" y="3011119"/>
            <a:ext cx="31516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078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S&amp;P 500</a:t>
            </a:r>
            <a:endParaRPr lang="en-US" sz="1078" dirty="0"/>
          </a:p>
        </p:txBody>
      </p:sp>
      <p:sp>
        <p:nvSpPr>
          <p:cNvPr id="20" name="Shape 17"/>
          <p:cNvSpPr/>
          <p:nvPr/>
        </p:nvSpPr>
        <p:spPr>
          <a:xfrm>
            <a:off x="713232" y="3310128"/>
            <a:ext cx="6537960" cy="2578608"/>
          </a:xfrm>
          <a:prstGeom prst="roundRect">
            <a:avLst>
              <a:gd name="adj" fmla="val 2837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434072" y="3310128"/>
            <a:ext cx="4023360" cy="2578608"/>
          </a:xfrm>
          <a:prstGeom prst="roundRect">
            <a:avLst>
              <a:gd name="adj" fmla="val 2837"/>
            </a:avLst>
          </a:prstGeom>
          <a:solidFill>
            <a:srgbClr val="F5F0E8"/>
          </a:solidFill>
          <a:ln w="13970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932688" y="3566160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Leitura correta dos numeros</a:t>
            </a:r>
            <a:endParaRPr lang="en-US" sz="1695" dirty="0"/>
          </a:p>
        </p:txBody>
      </p:sp>
      <p:sp>
        <p:nvSpPr>
          <p:cNvPr id="23" name="Shape 20"/>
          <p:cNvSpPr/>
          <p:nvPr/>
        </p:nvSpPr>
        <p:spPr>
          <a:xfrm>
            <a:off x="932688" y="4069080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1060704" y="3968496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comparacao relevante e em moeda forte, nao apenas em retorno nominal em reais.</a:t>
            </a:r>
            <a:endParaRPr lang="en-US" sz="1350" dirty="0"/>
          </a:p>
        </p:txBody>
      </p:sp>
      <p:sp>
        <p:nvSpPr>
          <p:cNvPr id="25" name="Shape 22"/>
          <p:cNvSpPr/>
          <p:nvPr/>
        </p:nvSpPr>
        <p:spPr>
          <a:xfrm>
            <a:off x="932688" y="46017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1060704" y="4501134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Ativos globais entregaram maior acumulacao com menor dependencia do risco Brasil.</a:t>
            </a:r>
            <a:endParaRPr lang="en-US" sz="1350" dirty="0"/>
          </a:p>
        </p:txBody>
      </p:sp>
      <p:sp>
        <p:nvSpPr>
          <p:cNvPr id="27" name="Shape 24"/>
          <p:cNvSpPr/>
          <p:nvPr/>
        </p:nvSpPr>
        <p:spPr>
          <a:xfrm>
            <a:off x="932688" y="5134356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1060704" y="5033772"/>
            <a:ext cx="5824728" cy="4411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externa pode melhorar retorno esperado e preservar poder de compra no longo prazo.</a:t>
            </a:r>
            <a:endParaRPr lang="en-US" sz="1350" dirty="0"/>
          </a:p>
        </p:txBody>
      </p:sp>
      <p:sp>
        <p:nvSpPr>
          <p:cNvPr id="29" name="Text 26"/>
          <p:cNvSpPr/>
          <p:nvPr/>
        </p:nvSpPr>
        <p:spPr>
          <a:xfrm>
            <a:off x="7662672" y="3584448"/>
            <a:ext cx="35478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9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Nao basta ganhar em reais</a:t>
            </a:r>
            <a:endParaRPr lang="en-US" sz="1695" dirty="0"/>
          </a:p>
        </p:txBody>
      </p:sp>
      <p:sp>
        <p:nvSpPr>
          <p:cNvPr id="30" name="Text 27"/>
          <p:cNvSpPr/>
          <p:nvPr/>
        </p:nvSpPr>
        <p:spPr>
          <a:xfrm>
            <a:off x="7662672" y="4005072"/>
            <a:ext cx="3493008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97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Patrimonio mais rico em reais ainda pode estar relativamente mais pobre quando comparado a alternativas internacionais mais eficientes.</a:t>
            </a:r>
            <a:endParaRPr lang="en-US" sz="1297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RETORNOS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Os graficos de retorno deixam a diferenca de acumulacao mais tangivel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imagens comparativas ajudam a enxergar o que acontece quando a mesma base de capital segue trajetorias diferentes em dolar ao longo do tempo.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371039"/>
            <a:ext cx="5285232" cy="3554273"/>
          </a:xfrm>
          <a:prstGeom prst="roundRect">
            <a:avLst>
              <a:gd name="adj" fmla="val 205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3549935"/>
            <a:ext cx="5065776" cy="92216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Comparacao de retornos entre CDI, portfolio 60/40 e S&amp;P 500.</a:t>
            </a:r>
            <a:endParaRPr lang="en-US" sz="910" dirty="0"/>
          </a:p>
        </p:txBody>
      </p:sp>
      <p:sp>
        <p:nvSpPr>
          <p:cNvPr id="14" name="Shape 10"/>
          <p:cNvSpPr/>
          <p:nvPr/>
        </p:nvSpPr>
        <p:spPr>
          <a:xfrm>
            <a:off x="6199632" y="2371039"/>
            <a:ext cx="5285232" cy="3554273"/>
          </a:xfrm>
          <a:prstGeom prst="roundRect">
            <a:avLst>
              <a:gd name="adj" fmla="val 205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3436314"/>
            <a:ext cx="5065776" cy="1149403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Evolucao nominal de US$ 100 mil ao longo de 20 anos.</a:t>
            </a:r>
            <a:endParaRPr lang="en-US" sz="91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Risco-retorno e dolar cumprem papeis complementares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Dois pontos se reforcam: ativos brasileiros dolarizados tiveram uma relacao risco-retorno inferior, e uma parcela conservadora em dolar historicamente protegeu a carteira nos piores momentos locais.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C0392B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745943"/>
            <a:ext cx="71323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61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Ineficiencia dos ativos brasileiros</a:t>
            </a:r>
            <a:endParaRPr lang="en-US" sz="1614" dirty="0"/>
          </a:p>
        </p:txBody>
      </p:sp>
      <p:sp>
        <p:nvSpPr>
          <p:cNvPr id="14" name="Shape 11"/>
          <p:cNvSpPr/>
          <p:nvPr/>
        </p:nvSpPr>
        <p:spPr>
          <a:xfrm>
            <a:off x="932688" y="3029407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928823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Em dolar, os ativos brasileiros ficaram na area fraca do grafico risco-retorno.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741572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640988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Mais volatilidade nao se traduziu em melhor premio de retorno.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252925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152341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Diversificar e melhorar a fronteira eficiente da carteira.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AF5FD"/>
          </a:solidFill>
          <a:ln w="15875">
            <a:solidFill>
              <a:srgbClr val="2980B9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745943"/>
            <a:ext cx="713232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Dolar como hedge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029407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2928823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Uma alocacao conservadora em dolar ajudou a equilibrar a carteira em crises locais.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741572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640988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Protecao cambial e diversificacao setorial nao sao substitutos; eles se somam.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4453738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435315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moeda forte tende a responder quando os ativos locais sofrem.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745943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Anos emblematicos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02940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2928823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2015: +55% em reais.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376879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276295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2020: +34% em reais.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3724351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3623767"/>
            <a:ext cx="28895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2024: +32% em reais.</a:t>
            </a:r>
            <a:endParaRPr lang="en-US" sz="134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Risco-retorno e protecao cambial aparecem com clareza nos graficos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 imagens abaixo reforcam dois argumentos complementares: a baixa eficiencia dos ativos brasileiros em dolar e o papel do dolar como amortecedor em anos de maior estresse local.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371039"/>
            <a:ext cx="5285232" cy="3554273"/>
          </a:xfrm>
          <a:prstGeom prst="roundRect">
            <a:avLst>
              <a:gd name="adj" fmla="val 205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2695944"/>
            <a:ext cx="5065776" cy="263014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8412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Retorno acumulado versus volatilidade anualizada em 20 anos.</a:t>
            </a:r>
            <a:endParaRPr lang="en-US" sz="910" dirty="0"/>
          </a:p>
        </p:txBody>
      </p:sp>
      <p:sp>
        <p:nvSpPr>
          <p:cNvPr id="14" name="Shape 10"/>
          <p:cNvSpPr/>
          <p:nvPr/>
        </p:nvSpPr>
        <p:spPr>
          <a:xfrm>
            <a:off x="6199632" y="2371039"/>
            <a:ext cx="5285232" cy="3554273"/>
          </a:xfrm>
          <a:prstGeom prst="roundRect">
            <a:avLst>
              <a:gd name="adj" fmla="val 2058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09360" y="2938313"/>
            <a:ext cx="5065776" cy="2145405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327648" y="5669280"/>
            <a:ext cx="5029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1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Dolar versus benchmarks brasileiros em retorno anual.</a:t>
            </a:r>
            <a:endParaRPr lang="en-US" sz="91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ACESSO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 acesso internacional saiu do private e virou infraestrutura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grande mudanca nao foi filosofica; foi operacional. Abertura de conta, cambio, suporte e relatorios ficaram mais integrados ao investidor brasileiro.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1796796" y="2151583"/>
            <a:ext cx="402336" cy="402336"/>
          </a:xfrm>
          <a:prstGeom prst="ellipse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888236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80" dirty="0"/>
          </a:p>
        </p:txBody>
      </p:sp>
      <p:sp>
        <p:nvSpPr>
          <p:cNvPr id="14" name="Text 11"/>
          <p:cNvSpPr/>
          <p:nvPr/>
        </p:nvSpPr>
        <p:spPr>
          <a:xfrm>
            <a:off x="877824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Antes</a:t>
            </a:r>
            <a:endParaRPr lang="en-US" sz="1616" dirty="0"/>
          </a:p>
        </p:txBody>
      </p:sp>
      <p:sp>
        <p:nvSpPr>
          <p:cNvPr id="15" name="Shape 12"/>
          <p:cNvSpPr/>
          <p:nvPr/>
        </p:nvSpPr>
        <p:spPr>
          <a:xfrm>
            <a:off x="896112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1024128" y="3193999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Patrimonio minimo elevado.</a:t>
            </a:r>
            <a:endParaRPr lang="en-US" sz="1280" dirty="0"/>
          </a:p>
        </p:txBody>
      </p:sp>
      <p:sp>
        <p:nvSpPr>
          <p:cNvPr id="17" name="Shape 14"/>
          <p:cNvSpPr/>
          <p:nvPr/>
        </p:nvSpPr>
        <p:spPr>
          <a:xfrm>
            <a:off x="896112" y="379709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024128" y="3696513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Documentacao extensa e pouca ajuda local.</a:t>
            </a:r>
            <a:endParaRPr lang="en-US" sz="1280" dirty="0"/>
          </a:p>
        </p:txBody>
      </p:sp>
      <p:sp>
        <p:nvSpPr>
          <p:cNvPr id="19" name="Shape 16"/>
          <p:cNvSpPr/>
          <p:nvPr/>
        </p:nvSpPr>
        <p:spPr>
          <a:xfrm>
            <a:off x="3447288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0" name="Shape 17"/>
          <p:cNvSpPr/>
          <p:nvPr/>
        </p:nvSpPr>
        <p:spPr>
          <a:xfrm>
            <a:off x="4530852" y="2151583"/>
            <a:ext cx="402336" cy="402336"/>
          </a:xfrm>
          <a:prstGeom prst="ellipse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622292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80" dirty="0"/>
          </a:p>
        </p:txBody>
      </p:sp>
      <p:sp>
        <p:nvSpPr>
          <p:cNvPr id="22" name="Text 19"/>
          <p:cNvSpPr/>
          <p:nvPr/>
        </p:nvSpPr>
        <p:spPr>
          <a:xfrm>
            <a:off x="3611880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Plataformas</a:t>
            </a:r>
            <a:endParaRPr lang="en-US" sz="1616" dirty="0"/>
          </a:p>
        </p:txBody>
      </p:sp>
      <p:sp>
        <p:nvSpPr>
          <p:cNvPr id="23" name="Shape 20"/>
          <p:cNvSpPr/>
          <p:nvPr/>
        </p:nvSpPr>
        <p:spPr>
          <a:xfrm>
            <a:off x="3630168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758184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Avenue e XP Internacional reduziram a barreira de entrada.</a:t>
            </a:r>
            <a:endParaRPr lang="en-US" sz="1280" dirty="0"/>
          </a:p>
        </p:txBody>
      </p:sp>
      <p:sp>
        <p:nvSpPr>
          <p:cNvPr id="25" name="Shape 22"/>
          <p:cNvSpPr/>
          <p:nvPr/>
        </p:nvSpPr>
        <p:spPr>
          <a:xfrm>
            <a:off x="3630168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758184" y="3888334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Abertura e operacao ficaram mais acessiveis.</a:t>
            </a:r>
            <a:endParaRPr lang="en-US" sz="1280" dirty="0"/>
          </a:p>
        </p:txBody>
      </p:sp>
      <p:sp>
        <p:nvSpPr>
          <p:cNvPr id="27" name="Shape 24"/>
          <p:cNvSpPr/>
          <p:nvPr/>
        </p:nvSpPr>
        <p:spPr>
          <a:xfrm>
            <a:off x="6181344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28" name="Shape 25"/>
          <p:cNvSpPr/>
          <p:nvPr/>
        </p:nvSpPr>
        <p:spPr>
          <a:xfrm>
            <a:off x="7264908" y="2151583"/>
            <a:ext cx="402336" cy="402336"/>
          </a:xfrm>
          <a:prstGeom prst="ellipse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7356348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80" dirty="0"/>
          </a:p>
        </p:txBody>
      </p:sp>
      <p:sp>
        <p:nvSpPr>
          <p:cNvPr id="30" name="Text 27"/>
          <p:cNvSpPr/>
          <p:nvPr/>
        </p:nvSpPr>
        <p:spPr>
          <a:xfrm>
            <a:off x="6345936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Infraestrutura</a:t>
            </a:r>
            <a:endParaRPr lang="en-US" sz="1616" dirty="0"/>
          </a:p>
        </p:txBody>
      </p:sp>
      <p:sp>
        <p:nvSpPr>
          <p:cNvPr id="31" name="Shape 28"/>
          <p:cNvSpPr/>
          <p:nvPr/>
        </p:nvSpPr>
        <p:spPr>
          <a:xfrm>
            <a:off x="6364224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6492240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Cambio, custodia e relatorios ficaram mais integrados.</a:t>
            </a:r>
            <a:endParaRPr lang="en-US" sz="1280" dirty="0"/>
          </a:p>
        </p:txBody>
      </p:sp>
      <p:sp>
        <p:nvSpPr>
          <p:cNvPr id="33" name="Shape 30"/>
          <p:cNvSpPr/>
          <p:nvPr/>
        </p:nvSpPr>
        <p:spPr>
          <a:xfrm>
            <a:off x="6364224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6492240" y="3888334"/>
            <a:ext cx="207568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friccao operacional caiu bastante.</a:t>
            </a:r>
            <a:endParaRPr lang="en-US" sz="1280" dirty="0"/>
          </a:p>
        </p:txBody>
      </p:sp>
      <p:sp>
        <p:nvSpPr>
          <p:cNvPr id="35" name="Shape 32"/>
          <p:cNvSpPr/>
          <p:nvPr/>
        </p:nvSpPr>
        <p:spPr>
          <a:xfrm>
            <a:off x="8915400" y="2462479"/>
            <a:ext cx="2569464" cy="2084832"/>
          </a:xfrm>
          <a:prstGeom prst="roundRect">
            <a:avLst>
              <a:gd name="adj" fmla="val 3509"/>
            </a:avLst>
          </a:prstGeom>
          <a:solidFill>
            <a:srgbClr val="FFFFFF"/>
          </a:solidFill>
          <a:ln w="12700">
            <a:solidFill>
              <a:srgbClr val="DDD5C8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8000"/>
              </a:srgbClr>
            </a:outerShdw>
          </a:effectLst>
        </p:spPr>
      </p:sp>
      <p:sp>
        <p:nvSpPr>
          <p:cNvPr id="36" name="Shape 33"/>
          <p:cNvSpPr/>
          <p:nvPr/>
        </p:nvSpPr>
        <p:spPr>
          <a:xfrm>
            <a:off x="9998964" y="2151583"/>
            <a:ext cx="402336" cy="402336"/>
          </a:xfrm>
          <a:prstGeom prst="ellipse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10090404" y="2112264"/>
            <a:ext cx="219456" cy="1097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8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80" dirty="0"/>
          </a:p>
        </p:txBody>
      </p:sp>
      <p:sp>
        <p:nvSpPr>
          <p:cNvPr id="38" name="Text 35"/>
          <p:cNvSpPr/>
          <p:nvPr/>
        </p:nvSpPr>
        <p:spPr>
          <a:xfrm>
            <a:off x="9079992" y="2663647"/>
            <a:ext cx="2240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ctr" indent="0" marL="0">
              <a:buNone/>
            </a:pPr>
            <a:r>
              <a:rPr lang="en-US" sz="1616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Hoje</a:t>
            </a:r>
            <a:endParaRPr lang="en-US" sz="1616" dirty="0"/>
          </a:p>
        </p:txBody>
      </p:sp>
      <p:sp>
        <p:nvSpPr>
          <p:cNvPr id="39" name="Shape 36"/>
          <p:cNvSpPr/>
          <p:nvPr/>
        </p:nvSpPr>
        <p:spPr>
          <a:xfrm>
            <a:off x="9098280" y="329458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9226296" y="3193999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Ja e possivel comecar menor e com mais suporte.</a:t>
            </a:r>
            <a:endParaRPr lang="en-US" sz="1280" dirty="0"/>
          </a:p>
        </p:txBody>
      </p:sp>
      <p:sp>
        <p:nvSpPr>
          <p:cNvPr id="41" name="Shape 38"/>
          <p:cNvSpPr/>
          <p:nvPr/>
        </p:nvSpPr>
        <p:spPr>
          <a:xfrm>
            <a:off x="9098280" y="398891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9226296" y="3888334"/>
            <a:ext cx="2075688" cy="612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decisao passa a ser como estruturar, nao se e viavel acessar.</a:t>
            </a:r>
            <a:endParaRPr lang="en-US" sz="1280" dirty="0"/>
          </a:p>
        </p:txBody>
      </p:sp>
      <p:sp>
        <p:nvSpPr>
          <p:cNvPr id="43" name="Shape 40"/>
          <p:cNvSpPr/>
          <p:nvPr/>
        </p:nvSpPr>
        <p:spPr>
          <a:xfrm>
            <a:off x="713232" y="4773168"/>
            <a:ext cx="10771632" cy="1188720"/>
          </a:xfrm>
          <a:prstGeom prst="roundRect">
            <a:avLst>
              <a:gd name="adj" fmla="val 6154"/>
            </a:avLst>
          </a:prstGeom>
          <a:solidFill>
            <a:srgbClr val="F5F0E8"/>
          </a:solidFill>
          <a:ln w="13970">
            <a:solidFill>
              <a:srgbClr val="C4963C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32688" y="5010912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57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Mudanca de patamar</a:t>
            </a:r>
            <a:endParaRPr lang="en-US" sz="1575" dirty="0"/>
          </a:p>
        </p:txBody>
      </p:sp>
      <p:sp>
        <p:nvSpPr>
          <p:cNvPr id="45" name="Shape 42"/>
          <p:cNvSpPr/>
          <p:nvPr/>
        </p:nvSpPr>
        <p:spPr>
          <a:xfrm>
            <a:off x="932688" y="545896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60704" y="5358384"/>
            <a:ext cx="9939528" cy="4202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8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Baixar a barreira de acesso mudou a conversa: agora o foco e escolher o veiculo adequado para o objetivo, e nao apenas superar a dificuldade operacional.</a:t>
            </a:r>
            <a:endParaRPr lang="en-US" sz="128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TRIBUTACAO E SUCESSAO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97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Tributacao, sucessao e PIC ficaram mais administraveis</a:t>
            </a:r>
            <a:endParaRPr lang="en-US" sz="2397" dirty="0"/>
          </a:p>
        </p:txBody>
      </p:sp>
      <p:sp>
        <p:nvSpPr>
          <p:cNvPr id="10" name="Text 7"/>
          <p:cNvSpPr/>
          <p:nvPr/>
        </p:nvSpPr>
        <p:spPr>
          <a:xfrm>
            <a:off x="731520" y="1527048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Imposto, sucessao e tipo de veiculo precisam entrar cedo na conversa, mas hoje podem ser tratados com muito mais clareza do que no passado.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EF7F1"/>
          </a:solidFill>
          <a:ln w="15875">
            <a:solidFill>
              <a:srgbClr val="27AE60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745943"/>
            <a:ext cx="713232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Pessoa fisica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029407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2928823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Ganho de capital em reais com aliquota de 15% sobre o resultado liquido.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741572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640988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Prejuizos podem compensar ganhos futuros da mesma natureza.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252925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152341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Organizar vendas e a declaracao anual continua importante.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ECEB"/>
          </a:solidFill>
          <a:ln w="15875">
            <a:solidFill>
              <a:srgbClr val="C0392B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745943"/>
            <a:ext cx="713232" cy="36576"/>
          </a:xfrm>
          <a:prstGeom prst="rect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Estate tax e TOD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029407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2928823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Ativos de raiz americana acima de US$ 60 mil entram no tema sucessorio.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741572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640988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 TOD agiliza a transferencia operacional da conta.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4252925"/>
            <a:ext cx="73152" cy="73152"/>
          </a:xfrm>
          <a:prstGeom prst="ellipse">
            <a:avLst/>
          </a:prstGeom>
          <a:solidFill>
            <a:srgbClr val="C0392B"/>
          </a:solidFill>
          <a:ln w="12700">
            <a:solidFill>
              <a:srgbClr val="C0392B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4152341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TOD nao elimina o estate tax, mas evita probate americano.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124151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745943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288743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PIC Offshore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029407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2928823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Faz sentido quando patrimonio e complexidade patrimonial aumentam.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741572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640988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Pode neutralizar o risco sucessorio em estruturas especificas.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4252925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152341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Nao costuma ser o ponto de partida da maioria dos investidores.</a:t>
            </a:r>
            <a:endParaRPr lang="en-US" sz="134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8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384048"/>
          </a:xfrm>
          <a:prstGeom prst="rect">
            <a:avLst/>
          </a:prstGeom>
          <a:solidFill>
            <a:srgbClr val="1B2A3D"/>
          </a:solidFill>
          <a:ln w="12700">
            <a:solidFill>
              <a:srgbClr val="1B2A3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84048"/>
            <a:ext cx="12191695" cy="54864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0012680" y="512064"/>
            <a:ext cx="1463040" cy="475488"/>
          </a:xfrm>
          <a:prstGeom prst="roundRect">
            <a:avLst>
              <a:gd name="adj" fmla="val 15385"/>
            </a:avLst>
          </a:prstGeom>
          <a:solidFill>
            <a:srgbClr val="FFFFFF"/>
          </a:solidFill>
          <a:ln w="12700">
            <a:solidFill>
              <a:srgbClr val="FFFFFF">
                <a:alpha val="0"/>
              </a:srgbClr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2000"/>
              </a:srgbClr>
            </a:outerShdw>
          </a:effectLst>
        </p:spPr>
      </p:sp>
      <p:pic>
        <p:nvPicPr>
          <p:cNvPr id="5" name="Image 0" descr="C:\Users\artur\OneDrive - André Albo\Documentos\Playground\ApresentacaoOffshore\assets\logos\logo-altavista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0517263" y="603504"/>
            <a:ext cx="453875" cy="25603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13232" y="61264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4963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COMO COMECAR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713232" y="6446520"/>
            <a:ext cx="42062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Diversificacao Internacional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11018520" y="6419088"/>
            <a:ext cx="5029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13232" y="868680"/>
            <a:ext cx="7863840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2334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 alocacao internacional pode comecar simples e ganhar sofisticacao</a:t>
            </a:r>
            <a:endParaRPr lang="en-US" sz="2334" dirty="0"/>
          </a:p>
        </p:txBody>
      </p:sp>
      <p:sp>
        <p:nvSpPr>
          <p:cNvPr id="10" name="Text 7"/>
          <p:cNvSpPr/>
          <p:nvPr/>
        </p:nvSpPr>
        <p:spPr>
          <a:xfrm>
            <a:off x="731520" y="1700784"/>
            <a:ext cx="9555480" cy="414223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255" dirty="0">
                <a:solidFill>
                  <a:srgbClr val="6B7B8D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conclusao e pragmatica: definir o objetivo, iniciar com uma estrutura eficiente e aumentar a complexidade apenas quando patrimonio, sucessao e governanca justificarem.</a:t>
            </a:r>
            <a:endParaRPr lang="en-US" sz="1255" dirty="0"/>
          </a:p>
        </p:txBody>
      </p:sp>
      <p:sp>
        <p:nvSpPr>
          <p:cNvPr id="11" name="Shape 8"/>
          <p:cNvSpPr/>
          <p:nvPr/>
        </p:nvSpPr>
        <p:spPr>
          <a:xfrm>
            <a:off x="7132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AF5FD"/>
          </a:solidFill>
          <a:ln w="15875">
            <a:solidFill>
              <a:srgbClr val="2980B9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914400" y="2919679"/>
            <a:ext cx="713232" cy="36576"/>
          </a:xfrm>
          <a:prstGeom prst="rect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9144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Conta internacional</a:t>
            </a:r>
            <a:endParaRPr lang="en-US" sz="1745" dirty="0"/>
          </a:p>
        </p:txBody>
      </p:sp>
      <p:sp>
        <p:nvSpPr>
          <p:cNvPr id="14" name="Shape 11"/>
          <p:cNvSpPr/>
          <p:nvPr/>
        </p:nvSpPr>
        <p:spPr>
          <a:xfrm>
            <a:off x="932688" y="3203143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607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Boa porta de entrada para acoes, ETFs, mutual funds, bonds e treasuries.</a:t>
            </a:r>
            <a:endParaRPr lang="en-US" sz="1340" dirty="0"/>
          </a:p>
        </p:txBody>
      </p:sp>
      <p:sp>
        <p:nvSpPr>
          <p:cNvPr id="16" name="Shape 13"/>
          <p:cNvSpPr/>
          <p:nvPr/>
        </p:nvSpPr>
        <p:spPr>
          <a:xfrm>
            <a:off x="932688" y="3915308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60704" y="381472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Abertura digital e cambio integrado reduzem friccao.</a:t>
            </a:r>
            <a:endParaRPr lang="en-US" sz="1340" dirty="0"/>
          </a:p>
        </p:txBody>
      </p:sp>
      <p:sp>
        <p:nvSpPr>
          <p:cNvPr id="18" name="Shape 15"/>
          <p:cNvSpPr/>
          <p:nvPr/>
        </p:nvSpPr>
        <p:spPr>
          <a:xfrm>
            <a:off x="932688" y="4426661"/>
            <a:ext cx="73152" cy="73152"/>
          </a:xfrm>
          <a:prstGeom prst="ellipse">
            <a:avLst/>
          </a:prstGeom>
          <a:solidFill>
            <a:srgbClr val="2980B9"/>
          </a:solidFill>
          <a:ln w="12700">
            <a:solidFill>
              <a:srgbClr val="2980B9">
                <a:alpha val="0"/>
              </a:srgbClr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1060704" y="4326077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Resolve a maior parte dos casos iniciais.</a:t>
            </a:r>
            <a:endParaRPr lang="en-US" sz="1340" dirty="0"/>
          </a:p>
        </p:txBody>
      </p:sp>
      <p:sp>
        <p:nvSpPr>
          <p:cNvPr id="20" name="Shape 17"/>
          <p:cNvSpPr/>
          <p:nvPr/>
        </p:nvSpPr>
        <p:spPr>
          <a:xfrm>
            <a:off x="43708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FDF6E8"/>
          </a:solidFill>
          <a:ln w="15875">
            <a:solidFill>
              <a:srgbClr val="C4963C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4572000" y="2919679"/>
            <a:ext cx="713232" cy="36576"/>
          </a:xfrm>
          <a:prstGeom prst="rect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5720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Atendimento patrimonial</a:t>
            </a:r>
            <a:endParaRPr lang="en-US" sz="1745" dirty="0"/>
          </a:p>
        </p:txBody>
      </p:sp>
      <p:sp>
        <p:nvSpPr>
          <p:cNvPr id="23" name="Shape 20"/>
          <p:cNvSpPr/>
          <p:nvPr/>
        </p:nvSpPr>
        <p:spPr>
          <a:xfrm>
            <a:off x="4590288" y="3203143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718304" y="3102559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Familias com patrimonio maior exigem apoio tributario, sucessorio e de governanca.</a:t>
            </a:r>
            <a:endParaRPr lang="en-US" sz="1340" dirty="0"/>
          </a:p>
        </p:txBody>
      </p:sp>
      <p:sp>
        <p:nvSpPr>
          <p:cNvPr id="25" name="Shape 22"/>
          <p:cNvSpPr/>
          <p:nvPr/>
        </p:nvSpPr>
        <p:spPr>
          <a:xfrm>
            <a:off x="4590288" y="3915308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718304" y="3814724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conversa pode incluir estrutura offshore quando fizer sentido.</a:t>
            </a:r>
            <a:endParaRPr lang="en-US" sz="1340" dirty="0"/>
          </a:p>
        </p:txBody>
      </p:sp>
      <p:sp>
        <p:nvSpPr>
          <p:cNvPr id="27" name="Shape 24"/>
          <p:cNvSpPr/>
          <p:nvPr/>
        </p:nvSpPr>
        <p:spPr>
          <a:xfrm>
            <a:off x="4590288" y="4426661"/>
            <a:ext cx="73152" cy="73152"/>
          </a:xfrm>
          <a:prstGeom prst="ellipse">
            <a:avLst/>
          </a:prstGeom>
          <a:solidFill>
            <a:srgbClr val="C4963C"/>
          </a:solidFill>
          <a:ln w="12700">
            <a:solidFill>
              <a:srgbClr val="C4963C">
                <a:alpha val="0"/>
              </a:srgbClr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4718304" y="4326077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solucao precisa acompanhar a complexidade do patrimonio.</a:t>
            </a:r>
            <a:endParaRPr lang="en-US" sz="1340" dirty="0"/>
          </a:p>
        </p:txBody>
      </p:sp>
      <p:sp>
        <p:nvSpPr>
          <p:cNvPr id="29" name="Shape 26"/>
          <p:cNvSpPr/>
          <p:nvPr/>
        </p:nvSpPr>
        <p:spPr>
          <a:xfrm>
            <a:off x="8028432" y="2297887"/>
            <a:ext cx="3456432" cy="4005072"/>
          </a:xfrm>
          <a:prstGeom prst="roundRect">
            <a:avLst>
              <a:gd name="adj" fmla="val 2116"/>
            </a:avLst>
          </a:prstGeom>
          <a:solidFill>
            <a:srgbClr val="EEF7F1"/>
          </a:solidFill>
          <a:ln w="15875">
            <a:solidFill>
              <a:srgbClr val="27AE60"/>
            </a:solidFill>
            <a:prstDash val="solid"/>
          </a:ln>
          <a:effectLst>
            <a:outerShdw sx="100000" sy="100000" kx="0" ky="0" algn="bl" rotWithShape="0" blurRad="25400" dist="12700" dir="2700000">
              <a:srgbClr val="1B2A3D">
                <a:alpha val="10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229600" y="2919679"/>
            <a:ext cx="713232" cy="36576"/>
          </a:xfrm>
          <a:prstGeom prst="rect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229600" y="2462479"/>
            <a:ext cx="305409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algn="l" indent="0" marL="0">
              <a:buNone/>
            </a:pPr>
            <a:r>
              <a:rPr lang="en-US" sz="1745" dirty="0">
                <a:solidFill>
                  <a:srgbClr val="1B2A3D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Primeiros passos</a:t>
            </a:r>
            <a:endParaRPr lang="en-US" sz="1745" dirty="0"/>
          </a:p>
        </p:txBody>
      </p:sp>
      <p:sp>
        <p:nvSpPr>
          <p:cNvPr id="32" name="Shape 29"/>
          <p:cNvSpPr/>
          <p:nvPr/>
        </p:nvSpPr>
        <p:spPr>
          <a:xfrm>
            <a:off x="8247888" y="3203143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8375904" y="3102559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Definir objetivo: oportunidade, protecao, renda ou sucessao.</a:t>
            </a:r>
            <a:endParaRPr lang="en-US" sz="1340" dirty="0"/>
          </a:p>
        </p:txBody>
      </p:sp>
      <p:sp>
        <p:nvSpPr>
          <p:cNvPr id="34" name="Shape 31"/>
          <p:cNvSpPr/>
          <p:nvPr/>
        </p:nvSpPr>
        <p:spPr>
          <a:xfrm>
            <a:off x="8247888" y="3714496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8375904" y="3613912"/>
            <a:ext cx="2889504" cy="43820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Comecar com veiculos eficientes e TOD preenchido.</a:t>
            </a:r>
            <a:endParaRPr lang="en-US" sz="1340" dirty="0"/>
          </a:p>
        </p:txBody>
      </p:sp>
      <p:sp>
        <p:nvSpPr>
          <p:cNvPr id="36" name="Shape 33"/>
          <p:cNvSpPr/>
          <p:nvPr/>
        </p:nvSpPr>
        <p:spPr>
          <a:xfrm>
            <a:off x="8247888" y="4225849"/>
            <a:ext cx="73152" cy="73152"/>
          </a:xfrm>
          <a:prstGeom prst="ellipse">
            <a:avLst/>
          </a:prstGeom>
          <a:solidFill>
            <a:srgbClr val="27AE60"/>
          </a:solidFill>
          <a:ln w="12700">
            <a:solidFill>
              <a:srgbClr val="27AE60">
                <a:alpha val="0"/>
              </a:srgbClr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8375904" y="4125265"/>
            <a:ext cx="2889504" cy="6390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40" dirty="0">
                <a:solidFill>
                  <a:srgbClr val="2C3E5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Evoluir para estruturas mais sofisticadas apenas quando houver motivo patrimonial.</a:t>
            </a:r>
            <a:endParaRPr lang="en-US" sz="134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Georg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Alta Vista Investimentos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Por que Diversificar Alem do Brasil?</dc:title>
  <dc:subject>Por que Diversificar Alem do Brasil?</dc:subject>
  <dc:creator>Codex</dc:creator>
  <cp:lastModifiedBy>Codex</cp:lastModifiedBy>
  <cp:revision>1</cp:revision>
  <dcterms:created xsi:type="dcterms:W3CDTF">2026-03-29T21:17:56Z</dcterms:created>
  <dcterms:modified xsi:type="dcterms:W3CDTF">2026-03-29T21:17:56Z</dcterms:modified>
</cp:coreProperties>
</file>